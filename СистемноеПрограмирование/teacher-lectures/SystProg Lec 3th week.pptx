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Oswald Bold" charset="1" panose="00000800000000000000"/>
      <p:regular r:id="rId26"/>
    </p:embeddedFont>
    <p:embeddedFont>
      <p:font typeface="Montserrat Classic Bold" charset="1" panose="00000800000000000000"/>
      <p:regular r:id="rId27"/>
    </p:embeddedFont>
    <p:embeddedFont>
      <p:font typeface="DM Sans" charset="1" panose="00000000000000000000"/>
      <p:regular r:id="rId28"/>
    </p:embeddedFont>
    <p:embeddedFont>
      <p:font typeface="Aptos" charset="1" panose="020B0004020202020204"/>
      <p:regular r:id="rId29"/>
    </p:embeddedFont>
    <p:embeddedFont>
      <p:font typeface="Aptos Bold" charset="1" panose="020B0004020202020204"/>
      <p:regular r:id="rId30"/>
    </p:embeddedFont>
    <p:embeddedFont>
      <p:font typeface="Consolas" charset="1" panose="020B0609020204030204"/>
      <p:regular r:id="rId31"/>
    </p:embeddedFont>
    <p:embeddedFont>
      <p:font typeface="Calibri (MS)" charset="1" panose="020F0502020204030204"/>
      <p:regular r:id="rId32"/>
    </p:embeddedFont>
    <p:embeddedFont>
      <p:font typeface="DM Sans Bold" charset="1" panose="00000000000000000000"/>
      <p:regular r:id="rId33"/>
    </p:embeddedFont>
    <p:embeddedFont>
      <p:font typeface="Open Sauce" charset="1" panose="00000500000000000000"/>
      <p:regular r:id="rId34"/>
    </p:embeddedFont>
    <p:embeddedFont>
      <p:font typeface="Open Sans Bold" charset="1" panose="020B0806030504020204"/>
      <p:regular r:id="rId35"/>
    </p:embeddedFont>
    <p:embeddedFont>
      <p:font typeface="Capture Smallz Clean" charset="1" panose="02000500000000000000"/>
      <p:regular r:id="rId36"/>
    </p:embeddedFont>
  </p:embeddedFontLst>
  <p:defaultTextStyle>
    <a:defPPr>
      <a:defRPr lang="e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2.png" Type="http://schemas.openxmlformats.org/officeDocument/2006/relationships/image"/><Relationship Id="rId9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jpe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13" Target="../media/image2.png" Type="http://schemas.openxmlformats.org/officeDocument/2006/relationships/image"/><Relationship Id="rId14" Target="../media/image3.svg" Type="http://schemas.openxmlformats.org/officeDocument/2006/relationships/image"/><Relationship Id="rId2" Target="../media/image1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1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31.pn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3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3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59121">
            <a:off x="15091031" y="5585714"/>
            <a:ext cx="7629294" cy="7828566"/>
          </a:xfrm>
          <a:custGeom>
            <a:avLst/>
            <a:gdLst/>
            <a:ahLst/>
            <a:cxnLst/>
            <a:rect r="r" b="b" t="t" l="l"/>
            <a:pathLst>
              <a:path h="7828566" w="7629294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58071" y="-4629150"/>
            <a:ext cx="9022634" cy="9258300"/>
          </a:xfrm>
          <a:custGeom>
            <a:avLst/>
            <a:gdLst/>
            <a:ahLst/>
            <a:cxnLst/>
            <a:rect r="r" b="b" t="t" l="l"/>
            <a:pathLst>
              <a:path h="9258300" w="9022634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993925" y="2788275"/>
            <a:ext cx="9815307" cy="4208864"/>
            <a:chOff x="0" y="0"/>
            <a:chExt cx="1895495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95495" cy="812800"/>
            </a:xfrm>
            <a:custGeom>
              <a:avLst/>
              <a:gdLst/>
              <a:ahLst/>
              <a:cxnLst/>
              <a:rect r="r" b="b" t="t" l="l"/>
              <a:pathLst>
                <a:path h="812800" w="1895495">
                  <a:moveTo>
                    <a:pt x="0" y="0"/>
                  </a:moveTo>
                  <a:lnTo>
                    <a:pt x="1895495" y="0"/>
                  </a:lnTo>
                  <a:lnTo>
                    <a:pt x="1895495" y="812800"/>
                  </a:lnTo>
                  <a:lnTo>
                    <a:pt x="0" y="812800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895495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955832" y="3158198"/>
            <a:ext cx="12891402" cy="7258672"/>
          </a:xfrm>
          <a:custGeom>
            <a:avLst/>
            <a:gdLst/>
            <a:ahLst/>
            <a:cxnLst/>
            <a:rect r="r" b="b" t="t" l="l"/>
            <a:pathLst>
              <a:path h="7258672" w="12891402">
                <a:moveTo>
                  <a:pt x="0" y="0"/>
                </a:moveTo>
                <a:lnTo>
                  <a:pt x="12891402" y="0"/>
                </a:lnTo>
                <a:lnTo>
                  <a:pt x="12891402" y="7258673"/>
                </a:lnTo>
                <a:lnTo>
                  <a:pt x="0" y="72586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93925" y="2654925"/>
            <a:ext cx="9815307" cy="2768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ctr">
              <a:lnSpc>
                <a:spcPts val="11127"/>
              </a:lnSpc>
            </a:pPr>
            <a:r xmlns:a="http://schemas.openxmlformats.org/drawingml/2006/main">
              <a:rPr lang="en" b="true" sz="8063" spc="79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THREAD SYNCHRONIZATION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7174" y="7168588"/>
            <a:ext cx="12848809" cy="44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ctr">
              <a:lnSpc>
                <a:spcPts val="3661"/>
              </a:lnSpc>
            </a:pPr>
            <a:r xmlns:a="http://schemas.openxmlformats.org/drawingml/2006/main">
              <a:rPr lang="en" b="true" sz="2653" spc="140">
                <a:solidFill>
                  <a:srgbClr val="231F2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BUT </a:t>
            </a:r>
            <a:r xmlns:a="http://schemas.openxmlformats.org/drawingml/2006/main">
              <a:rPr lang="en" b="true" sz="2653" spc="140">
                <a:solidFill>
                  <a:srgbClr val="5E17EB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YUSUPOV</a:t>
            </a:r>
            <a:r xmlns:a="http://schemas.openxmlformats.org/drawingml/2006/main">
              <a:rPr lang="en" b="true" sz="2653" spc="140">
                <a:solidFill>
                  <a:srgbClr val="231F2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 </a:t>
            </a:r>
            <a:r xmlns:a="http://schemas.openxmlformats.org/drawingml/2006/main">
              <a:rPr lang="en" b="true" sz="2653" spc="140">
                <a:solidFill>
                  <a:srgbClr val="5E17EB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ARMAN </a:t>
            </a:r>
            <a:r xmlns:a="http://schemas.openxmlformats.org/drawingml/2006/main">
              <a:rPr lang="en" b="true" sz="2653" spc="140">
                <a:solidFill>
                  <a:srgbClr val="231F2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HAS NOTHING TO DO WITH THESE STREAMS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86703" y="7829348"/>
            <a:ext cx="9429751" cy="180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ctr">
              <a:lnSpc>
                <a:spcPts val="7279"/>
              </a:lnSpc>
            </a:pPr>
            <a:r xmlns:a="http://schemas.openxmlformats.org/drawingml/2006/main">
              <a:rPr lang="en" sz="5199" b="true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Lecturer: PhD, Associate Professor</a:t>
            </a:r>
          </a:p>
          <a:p>
            <a:pPr xmlns:a="http://schemas.openxmlformats.org/drawingml/2006/main" algn="ctr">
              <a:lnSpc>
                <a:spcPts val="7279"/>
              </a:lnSpc>
            </a:pPr>
            <a:r xmlns:a="http://schemas.openxmlformats.org/drawingml/2006/main">
              <a:rPr lang="en" sz="5199" b="true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Makpal Zhartybayeva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659121">
            <a:off x="-4012602" y="5585714"/>
            <a:ext cx="7629294" cy="7828566"/>
          </a:xfrm>
          <a:custGeom>
            <a:avLst/>
            <a:gdLst/>
            <a:ahLst/>
            <a:cxnLst/>
            <a:rect r="r" b="b" t="t" l="l"/>
            <a:pathLst>
              <a:path h="7828566" w="7629294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309474" y="2883010"/>
            <a:ext cx="1400485" cy="7221965"/>
            <a:chOff x="0" y="0"/>
            <a:chExt cx="368852" cy="19020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8852" cy="1902081"/>
            </a:xfrm>
            <a:custGeom>
              <a:avLst/>
              <a:gdLst/>
              <a:ahLst/>
              <a:cxnLst/>
              <a:rect r="r" b="b" t="t" l="l"/>
              <a:pathLst>
                <a:path h="1902081" w="368852">
                  <a:moveTo>
                    <a:pt x="0" y="0"/>
                  </a:moveTo>
                  <a:lnTo>
                    <a:pt x="368852" y="0"/>
                  </a:lnTo>
                  <a:lnTo>
                    <a:pt x="368852" y="1902081"/>
                  </a:lnTo>
                  <a:lnTo>
                    <a:pt x="0" y="1902081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368852" cy="19211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980992" y="1036994"/>
            <a:ext cx="7416941" cy="1683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ctr">
              <a:lnSpc>
                <a:spcPts val="13774"/>
              </a:lnSpc>
            </a:pPr>
            <a:r xmlns:a="http://schemas.openxmlformats.org/drawingml/2006/main">
              <a:rPr lang="en" b="true" sz="9981" spc="97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CONTENT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2016048">
            <a:off x="12243487" y="-1005305"/>
            <a:ext cx="10749463" cy="2687366"/>
          </a:xfrm>
          <a:custGeom>
            <a:avLst/>
            <a:gdLst/>
            <a:ahLst/>
            <a:cxnLst/>
            <a:rect r="r" b="b" t="t" l="l"/>
            <a:pathLst>
              <a:path h="2687366" w="10749463">
                <a:moveTo>
                  <a:pt x="0" y="0"/>
                </a:moveTo>
                <a:lnTo>
                  <a:pt x="10749463" y="0"/>
                </a:lnTo>
                <a:lnTo>
                  <a:pt x="10749463" y="2687365"/>
                </a:lnTo>
                <a:lnTo>
                  <a:pt x="0" y="2687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521506" y="3206498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ctr">
              <a:lnSpc>
                <a:spcPts val="5126"/>
              </a:lnSpc>
            </a:pPr>
            <a:r xmlns:a="http://schemas.openxmlformats.org/drawingml/2006/main">
              <a:rPr lang="en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31307" y="4143768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ctr">
              <a:lnSpc>
                <a:spcPts val="5126"/>
              </a:lnSpc>
            </a:pPr>
            <a:r xmlns:a="http://schemas.openxmlformats.org/drawingml/2006/main">
              <a:rPr lang="en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31307" y="5077218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ctr">
              <a:lnSpc>
                <a:spcPts val="5126"/>
              </a:lnSpc>
            </a:pPr>
            <a:r xmlns:a="http://schemas.openxmlformats.org/drawingml/2006/main">
              <a:rPr lang="en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21506" y="7495273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ctr">
              <a:lnSpc>
                <a:spcPts val="5126"/>
              </a:lnSpc>
            </a:pPr>
            <a:r xmlns:a="http://schemas.openxmlformats.org/drawingml/2006/main">
              <a:rPr lang="en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531307" y="8428723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ctr">
              <a:lnSpc>
                <a:spcPts val="5126"/>
              </a:lnSpc>
            </a:pPr>
            <a:r xmlns:a="http://schemas.openxmlformats.org/drawingml/2006/main">
              <a:rPr lang="en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80992" y="3361167"/>
            <a:ext cx="5790503" cy="41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l">
              <a:lnSpc>
                <a:spcPts val="3483"/>
              </a:lnSpc>
            </a:pPr>
            <a:r xmlns:a="http://schemas.openxmlformats.org/drawingml/2006/main">
              <a:rPr lang="en" sz="2524" spc="247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SYNCHRONIZATION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80992" y="4323894"/>
            <a:ext cx="11586277" cy="420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l" marL="0" indent="0" lvl="0">
              <a:lnSpc>
                <a:spcPts val="3498"/>
              </a:lnSpc>
              <a:spcBef>
                <a:spcPct val="0"/>
              </a:spcBef>
            </a:pPr>
            <a:r xmlns:a="http://schemas.openxmlformats.org/drawingml/2006/main">
              <a:rPr lang="en" sz="2534" spc="248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HARDWARE-SOFTWARE IMPLEMENTATION OF SYNCHRONIZATION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80992" y="5048643"/>
            <a:ext cx="13364499" cy="217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l">
              <a:lnSpc>
                <a:spcPts val="3483"/>
              </a:lnSpc>
            </a:pPr>
            <a:r xmlns:a="http://schemas.openxmlformats.org/drawingml/2006/main">
              <a:rPr lang="en" sz="2524" spc="247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BASIC PRIMITIVES:</a:t>
            </a:r>
          </a:p>
          <a:p>
            <a:pPr xmlns:a="http://schemas.openxmlformats.org/drawingml/2006/main" algn="l">
              <a:lnSpc>
                <a:spcPts val="3483"/>
              </a:lnSpc>
            </a:pPr>
            <a:r xmlns:a="http://schemas.openxmlformats.org/drawingml/2006/main">
              <a:rPr lang="en" sz="2524" spc="247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MUTEXES,</a:t>
            </a:r>
          </a:p>
          <a:p>
            <a:pPr xmlns:a="http://schemas.openxmlformats.org/drawingml/2006/main" algn="l">
              <a:lnSpc>
                <a:spcPts val="3483"/>
              </a:lnSpc>
            </a:pPr>
            <a:r xmlns:a="http://schemas.openxmlformats.org/drawingml/2006/main">
              <a:rPr lang="en" sz="2524" spc="247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CRITICAL SECTIONS,</a:t>
            </a:r>
          </a:p>
          <a:p>
            <a:pPr xmlns:a="http://schemas.openxmlformats.org/drawingml/2006/main" algn="l">
              <a:lnSpc>
                <a:spcPts val="3483"/>
              </a:lnSpc>
            </a:pPr>
            <a:r xmlns:a="http://schemas.openxmlformats.org/drawingml/2006/main">
              <a:rPr lang="en" sz="2524" spc="247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EVENTS,</a:t>
            </a:r>
          </a:p>
          <a:p>
            <a:pPr xmlns:a="http://schemas.openxmlformats.org/drawingml/2006/main" algn="l">
              <a:lnSpc>
                <a:spcPts val="3483"/>
              </a:lnSpc>
            </a:pPr>
            <a:r xmlns:a="http://schemas.openxmlformats.org/drawingml/2006/main">
              <a:rPr lang="en" sz="2524" spc="247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SEMAPHORES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71192" y="7581847"/>
            <a:ext cx="12735518" cy="41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l" marL="0" indent="0" lvl="0">
              <a:lnSpc>
                <a:spcPts val="3483"/>
              </a:lnSpc>
              <a:spcBef>
                <a:spcPct val="0"/>
              </a:spcBef>
            </a:pPr>
            <a:r xmlns:a="http://schemas.openxmlformats.org/drawingml/2006/main">
              <a:rPr lang="en" sz="2524" spc="247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MUTUALLY EXCLUSIVE ACCESS TO VARIABLES: ATOMIC OPERATIONS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73827" y="8628748"/>
            <a:ext cx="5790503" cy="41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l" marL="0" indent="0" lvl="0">
              <a:lnSpc>
                <a:spcPts val="3483"/>
              </a:lnSpc>
              <a:spcBef>
                <a:spcPct val="0"/>
              </a:spcBef>
            </a:pPr>
            <a:r xmlns:a="http://schemas.openxmlformats.org/drawingml/2006/main">
              <a:rPr lang="en" sz="2524" spc="247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DEADLOCKS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62994" y="337474"/>
            <a:ext cx="4296549" cy="9570246"/>
            <a:chOff x="0" y="0"/>
            <a:chExt cx="1131601" cy="252055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31601" cy="2520559"/>
            </a:xfrm>
            <a:custGeom>
              <a:avLst/>
              <a:gdLst/>
              <a:ahLst/>
              <a:cxnLst/>
              <a:rect r="r" b="b" t="t" l="l"/>
              <a:pathLst>
                <a:path h="2520559" w="1131601">
                  <a:moveTo>
                    <a:pt x="0" y="0"/>
                  </a:moveTo>
                  <a:lnTo>
                    <a:pt x="1131601" y="0"/>
                  </a:lnTo>
                  <a:lnTo>
                    <a:pt x="1131601" y="2520559"/>
                  </a:lnTo>
                  <a:lnTo>
                    <a:pt x="0" y="2520559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131601" cy="2539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142191" y="4828880"/>
            <a:ext cx="9752965" cy="1032847"/>
          </a:xfrm>
          <a:custGeom>
            <a:avLst/>
            <a:gdLst/>
            <a:ahLst/>
            <a:cxnLst/>
            <a:rect r="r" b="b" t="t" l="l"/>
            <a:pathLst>
              <a:path h="1032847" w="9752965">
                <a:moveTo>
                  <a:pt x="0" y="0"/>
                </a:moveTo>
                <a:lnTo>
                  <a:pt x="9752965" y="0"/>
                </a:lnTo>
                <a:lnTo>
                  <a:pt x="9752965" y="1032847"/>
                </a:lnTo>
                <a:lnTo>
                  <a:pt x="0" y="10328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495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64163" y="3396305"/>
            <a:ext cx="13207262" cy="3181330"/>
            <a:chOff x="0" y="0"/>
            <a:chExt cx="5060273" cy="12189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60273" cy="1218905"/>
            </a:xfrm>
            <a:custGeom>
              <a:avLst/>
              <a:gdLst/>
              <a:ahLst/>
              <a:cxnLst/>
              <a:rect r="r" b="b" t="t" l="l"/>
              <a:pathLst>
                <a:path h="1218905" w="5060273">
                  <a:moveTo>
                    <a:pt x="0" y="0"/>
                  </a:moveTo>
                  <a:lnTo>
                    <a:pt x="5060273" y="0"/>
                  </a:lnTo>
                  <a:lnTo>
                    <a:pt x="5060273" y="1218905"/>
                  </a:lnTo>
                  <a:lnTo>
                    <a:pt x="0" y="1218905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060273" cy="12379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50376" y="3655159"/>
            <a:ext cx="1156649" cy="1173721"/>
          </a:xfrm>
          <a:custGeom>
            <a:avLst/>
            <a:gdLst/>
            <a:ahLst/>
            <a:cxnLst/>
            <a:rect r="r" b="b" t="t" l="l"/>
            <a:pathLst>
              <a:path h="1173721" w="1156649">
                <a:moveTo>
                  <a:pt x="0" y="0"/>
                </a:moveTo>
                <a:lnTo>
                  <a:pt x="1156648" y="0"/>
                </a:lnTo>
                <a:lnTo>
                  <a:pt x="1156648" y="1173721"/>
                </a:lnTo>
                <a:lnTo>
                  <a:pt x="0" y="11737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142191" y="7210022"/>
            <a:ext cx="9752965" cy="1032847"/>
          </a:xfrm>
          <a:custGeom>
            <a:avLst/>
            <a:gdLst/>
            <a:ahLst/>
            <a:cxnLst/>
            <a:rect r="r" b="b" t="t" l="l"/>
            <a:pathLst>
              <a:path h="1032847" w="9752965">
                <a:moveTo>
                  <a:pt x="0" y="0"/>
                </a:moveTo>
                <a:lnTo>
                  <a:pt x="9752965" y="0"/>
                </a:lnTo>
                <a:lnTo>
                  <a:pt x="9752965" y="1032847"/>
                </a:lnTo>
                <a:lnTo>
                  <a:pt x="0" y="10328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6495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264163" y="7195227"/>
            <a:ext cx="12385040" cy="1948998"/>
            <a:chOff x="0" y="0"/>
            <a:chExt cx="4745245" cy="7467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45245" cy="746746"/>
            </a:xfrm>
            <a:custGeom>
              <a:avLst/>
              <a:gdLst/>
              <a:ahLst/>
              <a:cxnLst/>
              <a:rect r="r" b="b" t="t" l="l"/>
              <a:pathLst>
                <a:path h="746746" w="4745245">
                  <a:moveTo>
                    <a:pt x="0" y="0"/>
                  </a:moveTo>
                  <a:lnTo>
                    <a:pt x="4745245" y="0"/>
                  </a:lnTo>
                  <a:lnTo>
                    <a:pt x="4745245" y="746746"/>
                  </a:lnTo>
                  <a:lnTo>
                    <a:pt x="0" y="746746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4745245" cy="765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587205" y="7580355"/>
            <a:ext cx="1159455" cy="1178744"/>
          </a:xfrm>
          <a:custGeom>
            <a:avLst/>
            <a:gdLst/>
            <a:ahLst/>
            <a:cxnLst/>
            <a:rect r="r" b="b" t="t" l="l"/>
            <a:pathLst>
              <a:path h="1178744" w="1159455">
                <a:moveTo>
                  <a:pt x="0" y="0"/>
                </a:moveTo>
                <a:lnTo>
                  <a:pt x="1159455" y="0"/>
                </a:lnTo>
                <a:lnTo>
                  <a:pt x="1159455" y="1178743"/>
                </a:lnTo>
                <a:lnTo>
                  <a:pt x="0" y="11787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3162659" y="8169727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7" y="0"/>
                </a:lnTo>
                <a:lnTo>
                  <a:pt x="7616557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535607" y="-783736"/>
            <a:ext cx="5734748" cy="12433746"/>
          </a:xfrm>
          <a:custGeom>
            <a:avLst/>
            <a:gdLst/>
            <a:ahLst/>
            <a:cxnLst/>
            <a:rect r="r" b="b" t="t" l="l"/>
            <a:pathLst>
              <a:path h="12433746" w="5734748">
                <a:moveTo>
                  <a:pt x="0" y="0"/>
                </a:moveTo>
                <a:lnTo>
                  <a:pt x="5734748" y="0"/>
                </a:lnTo>
                <a:lnTo>
                  <a:pt x="5734748" y="12433746"/>
                </a:lnTo>
                <a:lnTo>
                  <a:pt x="0" y="124337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89416" y="776513"/>
            <a:ext cx="12069966" cy="1686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l">
              <a:lnSpc>
                <a:spcPts val="13774"/>
              </a:lnSpc>
            </a:pPr>
            <a:r xmlns:a="http://schemas.openxmlformats.org/drawingml/2006/main">
              <a:rPr lang="en" b="true" sz="9981" spc="97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SYNCHRONIZATION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21106" y="3495413"/>
            <a:ext cx="10514500" cy="2696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l">
              <a:lnSpc>
                <a:spcPts val="3050"/>
              </a:lnSpc>
            </a:pPr>
            <a:r xmlns:a="http://schemas.openxmlformats.org/drawingml/2006/main">
              <a:rPr lang="en" sz="2210" spc="216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Synchronization is a mechanism that ensures the coordinated execution of actions and prevents conflicts when accessing shared resources (such as memory, files, or I/O devices) in multithreaded or multitasking systems. It addresses two primary objectives:</a:t>
            </a:r>
          </a:p>
          <a:p>
            <a:pPr xmlns:a="http://schemas.openxmlformats.org/drawingml/2006/main" algn="l">
              <a:lnSpc>
                <a:spcPts val="3050"/>
              </a:lnSpc>
            </a:pPr>
            <a:r xmlns:a="http://schemas.openxmlformats.org/drawingml/2006/main">
              <a:rPr lang="en" sz="2210" spc="216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Preventing data races:</a:t>
            </a:r>
          </a:p>
          <a:p>
            <a:pPr xmlns:a="http://schemas.openxmlformats.org/drawingml/2006/main" algn="l" marL="0" indent="0" lvl="0">
              <a:lnSpc>
                <a:spcPts val="3050"/>
              </a:lnSpc>
              <a:spcBef>
                <a:spcPct val="0"/>
              </a:spcBef>
            </a:pPr>
            <a:r xmlns:a="http://schemas.openxmlformats.org/drawingml/2006/main">
              <a:rPr lang="en" sz="2210" spc="216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Ordering execution: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60872" y="576520"/>
            <a:ext cx="16060264" cy="1012915"/>
            <a:chOff x="0" y="0"/>
            <a:chExt cx="21413686" cy="13505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413690" cy="1350546"/>
            </a:xfrm>
            <a:custGeom>
              <a:avLst/>
              <a:gdLst/>
              <a:ahLst/>
              <a:cxnLst/>
              <a:rect r="r" b="b" t="t" l="l"/>
              <a:pathLst>
                <a:path h="1350546" w="21413690">
                  <a:moveTo>
                    <a:pt x="0" y="0"/>
                  </a:moveTo>
                  <a:lnTo>
                    <a:pt x="21413690" y="0"/>
                  </a:lnTo>
                  <a:lnTo>
                    <a:pt x="21413690" y="1350546"/>
                  </a:lnTo>
                  <a:lnTo>
                    <a:pt x="0" y="13505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291" r="0" b="-249602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21413686" cy="13410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5043"/>
                </a:lnSpc>
              </a:pPr>
              <a:r xmlns:a="http://schemas.openxmlformats.org/drawingml/2006/main">
                <a:rPr lang="en" sz="4203" b="true">
                  <a:solidFill>
                    <a:srgbClr val="000000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Why is synchronization needed in the first place?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60872" y="1482490"/>
            <a:ext cx="960872" cy="61770"/>
            <a:chOff x="0" y="0"/>
            <a:chExt cx="1281163" cy="82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1176" cy="82423"/>
            </a:xfrm>
            <a:custGeom>
              <a:avLst/>
              <a:gdLst/>
              <a:ahLst/>
              <a:cxnLst/>
              <a:rect r="r" b="b" t="t" l="l"/>
              <a:pathLst>
                <a:path h="82423" w="1281176">
                  <a:moveTo>
                    <a:pt x="0" y="0"/>
                  </a:moveTo>
                  <a:lnTo>
                    <a:pt x="1281176" y="0"/>
                  </a:lnTo>
                  <a:lnTo>
                    <a:pt x="1281176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34D3E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0872" y="1592304"/>
            <a:ext cx="16334804" cy="617706"/>
            <a:chOff x="0" y="0"/>
            <a:chExt cx="21779738" cy="8236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79736" cy="823603"/>
            </a:xfrm>
            <a:custGeom>
              <a:avLst/>
              <a:gdLst/>
              <a:ahLst/>
              <a:cxnLst/>
              <a:rect r="r" b="b" t="t" l="l"/>
              <a:pathLst>
                <a:path h="823603" w="21779736">
                  <a:moveTo>
                    <a:pt x="0" y="0"/>
                  </a:moveTo>
                  <a:lnTo>
                    <a:pt x="21779736" y="0"/>
                  </a:lnTo>
                  <a:lnTo>
                    <a:pt x="2177973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5270" r="0" b="-46527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77973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2161"/>
                </a:lnSpc>
              </a:pPr>
              <a:r xmlns:a="http://schemas.openxmlformats.org/drawingml/2006/main">
                <a:rPr lang="en" sz="1801">
                  <a:solidFill>
                    <a:srgbClr val="FF3131"/>
                  </a:solidFill>
                  <a:latin typeface="Aptos"/>
                  <a:ea typeface="Aptos"/>
                  <a:cs typeface="Aptos"/>
                  <a:sym typeface="Aptos"/>
                </a:rPr>
                <a:t>The problem appears where there is a shared resource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9500" y="2402176"/>
            <a:ext cx="7686961" cy="6520196"/>
            <a:chOff x="0" y="0"/>
            <a:chExt cx="10249281" cy="869359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49281" cy="8693531"/>
            </a:xfrm>
            <a:custGeom>
              <a:avLst/>
              <a:gdLst/>
              <a:ahLst/>
              <a:cxnLst/>
              <a:rect r="r" b="b" t="t" l="l"/>
              <a:pathLst>
                <a:path h="8693531" w="10249281">
                  <a:moveTo>
                    <a:pt x="0" y="1448943"/>
                  </a:moveTo>
                  <a:cubicBezTo>
                    <a:pt x="0" y="648716"/>
                    <a:pt x="648716" y="0"/>
                    <a:pt x="1448943" y="0"/>
                  </a:cubicBezTo>
                  <a:lnTo>
                    <a:pt x="8800338" y="0"/>
                  </a:lnTo>
                  <a:cubicBezTo>
                    <a:pt x="9600565" y="0"/>
                    <a:pt x="10249281" y="648716"/>
                    <a:pt x="10249281" y="1448943"/>
                  </a:cubicBezTo>
                  <a:lnTo>
                    <a:pt x="10249281" y="7244588"/>
                  </a:lnTo>
                  <a:cubicBezTo>
                    <a:pt x="10249281" y="8044815"/>
                    <a:pt x="9600565" y="8693531"/>
                    <a:pt x="8800338" y="8693531"/>
                  </a:cubicBezTo>
                  <a:lnTo>
                    <a:pt x="1448943" y="8693531"/>
                  </a:lnTo>
                  <a:cubicBezTo>
                    <a:pt x="648716" y="8693531"/>
                    <a:pt x="0" y="8044815"/>
                    <a:pt x="0" y="7244588"/>
                  </a:cubicBezTo>
                  <a:close/>
                </a:path>
              </a:pathLst>
            </a:custGeom>
            <a:solidFill>
              <a:srgbClr val="18203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41304" y="2813980"/>
            <a:ext cx="6863363" cy="686333"/>
            <a:chOff x="0" y="0"/>
            <a:chExt cx="9151150" cy="9151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51149" cy="915115"/>
            </a:xfrm>
            <a:custGeom>
              <a:avLst/>
              <a:gdLst/>
              <a:ahLst/>
              <a:cxnLst/>
              <a:rect r="r" b="b" t="t" l="l"/>
              <a:pathLst>
                <a:path h="915115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51150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4323"/>
                </a:lnSpc>
              </a:pPr>
              <a:r xmlns:a="http://schemas.openxmlformats.org/drawingml/2006/main">
                <a:rPr lang="en" sz="36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Two streams. One counter.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9864" y="3763413"/>
            <a:ext cx="6817604" cy="2150516"/>
            <a:chOff x="0" y="0"/>
            <a:chExt cx="9090139" cy="286735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090152" cy="2867406"/>
            </a:xfrm>
            <a:custGeom>
              <a:avLst/>
              <a:gdLst/>
              <a:ahLst/>
              <a:cxnLst/>
              <a:rect r="r" b="b" t="t" l="l"/>
              <a:pathLst>
                <a:path h="2867406" w="9090152">
                  <a:moveTo>
                    <a:pt x="0" y="477901"/>
                  </a:moveTo>
                  <a:cubicBezTo>
                    <a:pt x="0" y="213995"/>
                    <a:pt x="213995" y="0"/>
                    <a:pt x="477901" y="0"/>
                  </a:cubicBezTo>
                  <a:lnTo>
                    <a:pt x="8612251" y="0"/>
                  </a:lnTo>
                  <a:cubicBezTo>
                    <a:pt x="8876157" y="0"/>
                    <a:pt x="9090152" y="213995"/>
                    <a:pt x="9090152" y="477901"/>
                  </a:cubicBezTo>
                  <a:lnTo>
                    <a:pt x="9090152" y="2389505"/>
                  </a:lnTo>
                  <a:cubicBezTo>
                    <a:pt x="9090152" y="2653411"/>
                    <a:pt x="8876157" y="2867406"/>
                    <a:pt x="8612251" y="2867406"/>
                  </a:cubicBezTo>
                  <a:lnTo>
                    <a:pt x="477901" y="2867406"/>
                  </a:lnTo>
                  <a:cubicBezTo>
                    <a:pt x="213995" y="2867406"/>
                    <a:pt x="0" y="2653411"/>
                    <a:pt x="0" y="2389505"/>
                  </a:cubicBezTo>
                  <a:close/>
                </a:path>
              </a:pathLst>
            </a:custGeom>
            <a:solidFill>
              <a:srgbClr val="101725"/>
            </a:solidFill>
            <a:ln w="22878" cap="sq">
              <a:solidFill>
                <a:srgbClr val="34D3E1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834734" y="3937664"/>
            <a:ext cx="6007875" cy="1754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l">
              <a:lnSpc>
                <a:spcPts val="2521"/>
              </a:lnSpc>
            </a:pPr>
            <a:r xmlns:a="http://schemas.openxmlformats.org/drawingml/2006/main">
              <a:rPr lang="en" sz="2101">
                <a:solidFill>
                  <a:srgbClr val="FFFBFB"/>
                </a:solidFill>
                <a:latin typeface="Consolas"/>
                <a:ea typeface="Consolas"/>
                <a:cs typeface="Consolas"/>
                <a:sym typeface="Consolas"/>
              </a:rPr>
              <a:t>counter = 100</a:t>
            </a:r>
          </a:p>
          <a:p>
            <a:pPr xmlns:a="http://schemas.openxmlformats.org/drawingml/2006/main" algn="l">
              <a:lnSpc>
                <a:spcPts val="3242"/>
              </a:lnSpc>
            </a:pPr>
            <a:r xmlns:a="http://schemas.openxmlformats.org/drawingml/2006/main">
              <a:rPr lang="en" sz="2702">
                <a:solidFill>
                  <a:srgbClr val="FFFBFB"/>
                </a:solidFill>
                <a:latin typeface="Calibri (MS)"/>
                <a:ea typeface="Calibri (MS)"/>
                <a:cs typeface="Calibri (MS)"/>
                <a:sym typeface="Calibri (MS)"/>
              </a:rPr>
              <a:t>Thread A: counter++</a:t>
            </a:r>
          </a:p>
          <a:p>
            <a:pPr xmlns:a="http://schemas.openxmlformats.org/drawingml/2006/main" algn="l">
              <a:lnSpc>
                <a:spcPts val="3242"/>
              </a:lnSpc>
            </a:pPr>
            <a:r xmlns:a="http://schemas.openxmlformats.org/drawingml/2006/main">
              <a:rPr lang="en" sz="2702">
                <a:solidFill>
                  <a:srgbClr val="FFFBFB"/>
                </a:solidFill>
                <a:latin typeface="Calibri (MS)"/>
                <a:ea typeface="Calibri (MS)"/>
                <a:cs typeface="Calibri (MS)"/>
                <a:sym typeface="Calibri (MS)"/>
              </a:rPr>
              <a:t>Thread B: counter++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41304" y="6382931"/>
            <a:ext cx="6794725" cy="960872"/>
            <a:chOff x="0" y="0"/>
            <a:chExt cx="9059634" cy="128116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059638" cy="1281161"/>
            </a:xfrm>
            <a:custGeom>
              <a:avLst/>
              <a:gdLst/>
              <a:ahLst/>
              <a:cxnLst/>
              <a:rect r="r" b="b" t="t" l="l"/>
              <a:pathLst>
                <a:path h="1281161" w="9059638">
                  <a:moveTo>
                    <a:pt x="0" y="0"/>
                  </a:moveTo>
                  <a:lnTo>
                    <a:pt x="9059638" y="0"/>
                  </a:lnTo>
                  <a:lnTo>
                    <a:pt x="9059638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786" r="0" b="-8778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9059634" cy="1281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3242"/>
                </a:lnSpc>
              </a:pPr>
              <a:r xmlns:a="http://schemas.openxmlformats.org/drawingml/2006/main">
                <a:rPr lang="en" sz="2702" b="true">
                  <a:solidFill>
                    <a:srgbClr val="4ADE8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Expected: 102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41304" y="7206529"/>
            <a:ext cx="6794725" cy="960872"/>
            <a:chOff x="0" y="0"/>
            <a:chExt cx="9059634" cy="128116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059638" cy="1281161"/>
            </a:xfrm>
            <a:custGeom>
              <a:avLst/>
              <a:gdLst/>
              <a:ahLst/>
              <a:cxnLst/>
              <a:rect r="r" b="b" t="t" l="l"/>
              <a:pathLst>
                <a:path h="1281161" w="9059638">
                  <a:moveTo>
                    <a:pt x="0" y="0"/>
                  </a:moveTo>
                  <a:lnTo>
                    <a:pt x="9059638" y="0"/>
                  </a:lnTo>
                  <a:lnTo>
                    <a:pt x="9059638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786" r="0" b="-8778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9059634" cy="1281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3242"/>
                </a:lnSpc>
              </a:pPr>
              <a:r xmlns:a="http://schemas.openxmlformats.org/drawingml/2006/main">
                <a:rPr lang="en" sz="2702" b="true">
                  <a:solidFill>
                    <a:srgbClr val="F8717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We can get: 101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265539" y="2402176"/>
            <a:ext cx="7961500" cy="6520196"/>
            <a:chOff x="0" y="0"/>
            <a:chExt cx="10615333" cy="869359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15295" cy="8693531"/>
            </a:xfrm>
            <a:custGeom>
              <a:avLst/>
              <a:gdLst/>
              <a:ahLst/>
              <a:cxnLst/>
              <a:rect r="r" b="b" t="t" l="l"/>
              <a:pathLst>
                <a:path h="8693531" w="10615295">
                  <a:moveTo>
                    <a:pt x="0" y="1448943"/>
                  </a:moveTo>
                  <a:cubicBezTo>
                    <a:pt x="0" y="648716"/>
                    <a:pt x="648716" y="0"/>
                    <a:pt x="1448943" y="0"/>
                  </a:cubicBezTo>
                  <a:lnTo>
                    <a:pt x="9166352" y="0"/>
                  </a:lnTo>
                  <a:cubicBezTo>
                    <a:pt x="9966579" y="0"/>
                    <a:pt x="10615295" y="648716"/>
                    <a:pt x="10615295" y="1448943"/>
                  </a:cubicBezTo>
                  <a:lnTo>
                    <a:pt x="10615295" y="7244588"/>
                  </a:lnTo>
                  <a:cubicBezTo>
                    <a:pt x="10615295" y="8044815"/>
                    <a:pt x="9966579" y="8693531"/>
                    <a:pt x="9166352" y="8693531"/>
                  </a:cubicBezTo>
                  <a:lnTo>
                    <a:pt x="1448943" y="8693531"/>
                  </a:lnTo>
                  <a:cubicBezTo>
                    <a:pt x="648716" y="8693531"/>
                    <a:pt x="0" y="8044815"/>
                    <a:pt x="0" y="7244588"/>
                  </a:cubicBezTo>
                  <a:close/>
                </a:path>
              </a:pathLst>
            </a:custGeom>
            <a:solidFill>
              <a:srgbClr val="18203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77343" y="2813980"/>
            <a:ext cx="7137892" cy="617706"/>
            <a:chOff x="0" y="0"/>
            <a:chExt cx="9517190" cy="8236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517195" cy="823603"/>
            </a:xfrm>
            <a:custGeom>
              <a:avLst/>
              <a:gdLst/>
              <a:ahLst/>
              <a:cxnLst/>
              <a:rect r="r" b="b" t="t" l="l"/>
              <a:pathLst>
                <a:path h="823603" w="9517195">
                  <a:moveTo>
                    <a:pt x="0" y="0"/>
                  </a:moveTo>
                  <a:lnTo>
                    <a:pt x="9517195" y="0"/>
                  </a:lnTo>
                  <a:lnTo>
                    <a:pt x="9517195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160" r="0" b="-17516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9517190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4323"/>
                </a:lnSpc>
              </a:pPr>
              <a:r xmlns:a="http://schemas.openxmlformats.org/drawingml/2006/main">
                <a:rPr lang="en" sz="36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Why?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734531" y="3763413"/>
            <a:ext cx="6817604" cy="681761"/>
            <a:chOff x="0" y="0"/>
            <a:chExt cx="9090139" cy="90901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090152" cy="909066"/>
            </a:xfrm>
            <a:custGeom>
              <a:avLst/>
              <a:gdLst/>
              <a:ahLst/>
              <a:cxnLst/>
              <a:rect r="r" b="b" t="t" l="l"/>
              <a:pathLst>
                <a:path h="909066" w="9090152">
                  <a:moveTo>
                    <a:pt x="0" y="151511"/>
                  </a:moveTo>
                  <a:cubicBezTo>
                    <a:pt x="0" y="67818"/>
                    <a:pt x="67818" y="0"/>
                    <a:pt x="151511" y="0"/>
                  </a:cubicBezTo>
                  <a:lnTo>
                    <a:pt x="8938641" y="0"/>
                  </a:lnTo>
                  <a:cubicBezTo>
                    <a:pt x="9022335" y="0"/>
                    <a:pt x="9090152" y="67818"/>
                    <a:pt x="9090152" y="151511"/>
                  </a:cubicBezTo>
                  <a:lnTo>
                    <a:pt x="9090152" y="757555"/>
                  </a:lnTo>
                  <a:cubicBezTo>
                    <a:pt x="9090152" y="841248"/>
                    <a:pt x="9022335" y="909066"/>
                    <a:pt x="8938641" y="909066"/>
                  </a:cubicBezTo>
                  <a:lnTo>
                    <a:pt x="151511" y="909066"/>
                  </a:lnTo>
                  <a:cubicBezTo>
                    <a:pt x="67818" y="909066"/>
                    <a:pt x="0" y="841121"/>
                    <a:pt x="0" y="757555"/>
                  </a:cubicBezTo>
                  <a:close/>
                </a:path>
              </a:pathLst>
            </a:custGeom>
            <a:solidFill>
              <a:srgbClr val="1F2A3E"/>
            </a:solidFill>
            <a:ln w="22878" cap="sq">
              <a:solidFill>
                <a:srgbClr val="60A5FA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089147" y="3774853"/>
            <a:ext cx="6177029" cy="658882"/>
            <a:chOff x="0" y="0"/>
            <a:chExt cx="8236039" cy="87851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36034" cy="878510"/>
            </a:xfrm>
            <a:custGeom>
              <a:avLst/>
              <a:gdLst/>
              <a:ahLst/>
              <a:cxnLst/>
              <a:rect r="r" b="b" t="t" l="l"/>
              <a:pathLst>
                <a:path h="878510" w="8236034">
                  <a:moveTo>
                    <a:pt x="0" y="0"/>
                  </a:moveTo>
                  <a:lnTo>
                    <a:pt x="8236034" y="0"/>
                  </a:lnTo>
                  <a:lnTo>
                    <a:pt x="8236034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672" r="0" b="-13267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8236039" cy="888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2521"/>
                </a:lnSpc>
              </a:pPr>
              <a:r xmlns:a="http://schemas.openxmlformats.org/drawingml/2006/main">
                <a:rPr lang="en" sz="21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 READ counter = 100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734531" y="4751737"/>
            <a:ext cx="6817604" cy="681761"/>
            <a:chOff x="0" y="0"/>
            <a:chExt cx="9090139" cy="90901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090152" cy="909066"/>
            </a:xfrm>
            <a:custGeom>
              <a:avLst/>
              <a:gdLst/>
              <a:ahLst/>
              <a:cxnLst/>
              <a:rect r="r" b="b" t="t" l="l"/>
              <a:pathLst>
                <a:path h="909066" w="9090152">
                  <a:moveTo>
                    <a:pt x="0" y="151511"/>
                  </a:moveTo>
                  <a:cubicBezTo>
                    <a:pt x="0" y="67818"/>
                    <a:pt x="67818" y="0"/>
                    <a:pt x="151511" y="0"/>
                  </a:cubicBezTo>
                  <a:lnTo>
                    <a:pt x="8938641" y="0"/>
                  </a:lnTo>
                  <a:cubicBezTo>
                    <a:pt x="9022335" y="0"/>
                    <a:pt x="9090152" y="67818"/>
                    <a:pt x="9090152" y="151511"/>
                  </a:cubicBezTo>
                  <a:lnTo>
                    <a:pt x="9090152" y="757555"/>
                  </a:lnTo>
                  <a:cubicBezTo>
                    <a:pt x="9090152" y="841248"/>
                    <a:pt x="9022335" y="909066"/>
                    <a:pt x="8938641" y="909066"/>
                  </a:cubicBezTo>
                  <a:lnTo>
                    <a:pt x="151511" y="909066"/>
                  </a:lnTo>
                  <a:cubicBezTo>
                    <a:pt x="67818" y="909066"/>
                    <a:pt x="0" y="841121"/>
                    <a:pt x="0" y="757555"/>
                  </a:cubicBezTo>
                  <a:close/>
                </a:path>
              </a:pathLst>
            </a:custGeom>
            <a:solidFill>
              <a:srgbClr val="1F2A3E"/>
            </a:solidFill>
            <a:ln w="22878" cap="sq">
              <a:solidFill>
                <a:srgbClr val="A78BFA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0089147" y="4763176"/>
            <a:ext cx="6177029" cy="658882"/>
            <a:chOff x="0" y="0"/>
            <a:chExt cx="8236039" cy="87851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236034" cy="878510"/>
            </a:xfrm>
            <a:custGeom>
              <a:avLst/>
              <a:gdLst/>
              <a:ahLst/>
              <a:cxnLst/>
              <a:rect r="r" b="b" t="t" l="l"/>
              <a:pathLst>
                <a:path h="878510" w="8236034">
                  <a:moveTo>
                    <a:pt x="0" y="0"/>
                  </a:moveTo>
                  <a:lnTo>
                    <a:pt x="8236034" y="0"/>
                  </a:lnTo>
                  <a:lnTo>
                    <a:pt x="8236034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672" r="0" b="-13267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8236039" cy="888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2521"/>
                </a:lnSpc>
              </a:pPr>
              <a:r xmlns:a="http://schemas.openxmlformats.org/drawingml/2006/main">
                <a:rPr lang="en" sz="21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 READ counter = 100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734531" y="5740060"/>
            <a:ext cx="6817604" cy="681761"/>
            <a:chOff x="0" y="0"/>
            <a:chExt cx="9090139" cy="90901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090152" cy="909066"/>
            </a:xfrm>
            <a:custGeom>
              <a:avLst/>
              <a:gdLst/>
              <a:ahLst/>
              <a:cxnLst/>
              <a:rect r="r" b="b" t="t" l="l"/>
              <a:pathLst>
                <a:path h="909066" w="9090152">
                  <a:moveTo>
                    <a:pt x="0" y="151511"/>
                  </a:moveTo>
                  <a:cubicBezTo>
                    <a:pt x="0" y="67818"/>
                    <a:pt x="67818" y="0"/>
                    <a:pt x="151511" y="0"/>
                  </a:cubicBezTo>
                  <a:lnTo>
                    <a:pt x="8938641" y="0"/>
                  </a:lnTo>
                  <a:cubicBezTo>
                    <a:pt x="9022335" y="0"/>
                    <a:pt x="9090152" y="67818"/>
                    <a:pt x="9090152" y="151511"/>
                  </a:cubicBezTo>
                  <a:lnTo>
                    <a:pt x="9090152" y="757555"/>
                  </a:lnTo>
                  <a:cubicBezTo>
                    <a:pt x="9090152" y="841248"/>
                    <a:pt x="9022335" y="909066"/>
                    <a:pt x="8938641" y="909066"/>
                  </a:cubicBezTo>
                  <a:lnTo>
                    <a:pt x="151511" y="909066"/>
                  </a:lnTo>
                  <a:cubicBezTo>
                    <a:pt x="67818" y="909066"/>
                    <a:pt x="0" y="841121"/>
                    <a:pt x="0" y="757555"/>
                  </a:cubicBezTo>
                  <a:close/>
                </a:path>
              </a:pathLst>
            </a:custGeom>
            <a:solidFill>
              <a:srgbClr val="1F2A3E"/>
            </a:solidFill>
            <a:ln w="22878" cap="sq">
              <a:solidFill>
                <a:srgbClr val="60A5FA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089147" y="5751500"/>
            <a:ext cx="6177029" cy="658882"/>
            <a:chOff x="0" y="0"/>
            <a:chExt cx="8236039" cy="87851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236034" cy="878510"/>
            </a:xfrm>
            <a:custGeom>
              <a:avLst/>
              <a:gdLst/>
              <a:ahLst/>
              <a:cxnLst/>
              <a:rect r="r" b="b" t="t" l="l"/>
              <a:pathLst>
                <a:path h="878510" w="8236034">
                  <a:moveTo>
                    <a:pt x="0" y="0"/>
                  </a:moveTo>
                  <a:lnTo>
                    <a:pt x="8236034" y="0"/>
                  </a:lnTo>
                  <a:lnTo>
                    <a:pt x="8236034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672" r="0" b="-13267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8236039" cy="888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2521"/>
                </a:lnSpc>
              </a:pPr>
              <a:r xmlns:a="http://schemas.openxmlformats.org/drawingml/2006/main">
                <a:rPr lang="en" sz="21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 WRITE 101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734531" y="6728384"/>
            <a:ext cx="6817604" cy="681761"/>
            <a:chOff x="0" y="0"/>
            <a:chExt cx="9090139" cy="90901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090152" cy="909066"/>
            </a:xfrm>
            <a:custGeom>
              <a:avLst/>
              <a:gdLst/>
              <a:ahLst/>
              <a:cxnLst/>
              <a:rect r="r" b="b" t="t" l="l"/>
              <a:pathLst>
                <a:path h="909066" w="9090152">
                  <a:moveTo>
                    <a:pt x="0" y="151511"/>
                  </a:moveTo>
                  <a:cubicBezTo>
                    <a:pt x="0" y="67818"/>
                    <a:pt x="67818" y="0"/>
                    <a:pt x="151511" y="0"/>
                  </a:cubicBezTo>
                  <a:lnTo>
                    <a:pt x="8938641" y="0"/>
                  </a:lnTo>
                  <a:cubicBezTo>
                    <a:pt x="9022335" y="0"/>
                    <a:pt x="9090152" y="67818"/>
                    <a:pt x="9090152" y="151511"/>
                  </a:cubicBezTo>
                  <a:lnTo>
                    <a:pt x="9090152" y="757555"/>
                  </a:lnTo>
                  <a:cubicBezTo>
                    <a:pt x="9090152" y="841248"/>
                    <a:pt x="9022335" y="909066"/>
                    <a:pt x="8938641" y="909066"/>
                  </a:cubicBezTo>
                  <a:lnTo>
                    <a:pt x="151511" y="909066"/>
                  </a:lnTo>
                  <a:cubicBezTo>
                    <a:pt x="67818" y="909066"/>
                    <a:pt x="0" y="841121"/>
                    <a:pt x="0" y="757555"/>
                  </a:cubicBezTo>
                  <a:close/>
                </a:path>
              </a:pathLst>
            </a:custGeom>
            <a:solidFill>
              <a:srgbClr val="1F2A3E"/>
            </a:solidFill>
            <a:ln w="22878" cap="sq">
              <a:solidFill>
                <a:srgbClr val="A78BFA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0089147" y="6739823"/>
            <a:ext cx="6177029" cy="658882"/>
            <a:chOff x="0" y="0"/>
            <a:chExt cx="8236039" cy="87851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236034" cy="878510"/>
            </a:xfrm>
            <a:custGeom>
              <a:avLst/>
              <a:gdLst/>
              <a:ahLst/>
              <a:cxnLst/>
              <a:rect r="r" b="b" t="t" l="l"/>
              <a:pathLst>
                <a:path h="878510" w="8236034">
                  <a:moveTo>
                    <a:pt x="0" y="0"/>
                  </a:moveTo>
                  <a:lnTo>
                    <a:pt x="8236034" y="0"/>
                  </a:lnTo>
                  <a:lnTo>
                    <a:pt x="8236034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672" r="0" b="-13267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8236039" cy="888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2521"/>
                </a:lnSpc>
              </a:pPr>
              <a:r xmlns:a="http://schemas.openxmlformats.org/drawingml/2006/main">
                <a:rPr lang="en" sz="21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 WRITE 101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77343" y="8030137"/>
            <a:ext cx="7000627" cy="617706"/>
            <a:chOff x="0" y="0"/>
            <a:chExt cx="9334170" cy="82360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334172" cy="823603"/>
            </a:xfrm>
            <a:custGeom>
              <a:avLst/>
              <a:gdLst/>
              <a:ahLst/>
              <a:cxnLst/>
              <a:rect r="r" b="b" t="t" l="l"/>
              <a:pathLst>
                <a:path h="823603" w="9334172">
                  <a:moveTo>
                    <a:pt x="0" y="0"/>
                  </a:moveTo>
                  <a:lnTo>
                    <a:pt x="9334172" y="0"/>
                  </a:lnTo>
                  <a:lnTo>
                    <a:pt x="9334172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9334170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2521"/>
                </a:lnSpc>
              </a:pPr>
              <a:r xmlns:a="http://schemas.openxmlformats.org/drawingml/2006/main">
                <a:rPr lang="en" sz="2101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Race condition: the result depends on interleaving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60872" y="576520"/>
            <a:ext cx="16060264" cy="1012915"/>
            <a:chOff x="0" y="0"/>
            <a:chExt cx="21413686" cy="13505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413690" cy="1350546"/>
            </a:xfrm>
            <a:custGeom>
              <a:avLst/>
              <a:gdLst/>
              <a:ahLst/>
              <a:cxnLst/>
              <a:rect r="r" b="b" t="t" l="l"/>
              <a:pathLst>
                <a:path h="1350546" w="21413690">
                  <a:moveTo>
                    <a:pt x="0" y="0"/>
                  </a:moveTo>
                  <a:lnTo>
                    <a:pt x="21413690" y="0"/>
                  </a:lnTo>
                  <a:lnTo>
                    <a:pt x="21413690" y="1350546"/>
                  </a:lnTo>
                  <a:lnTo>
                    <a:pt x="0" y="13505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291" r="0" b="-249602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9525"/>
              <a:ext cx="21413686" cy="13410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5043"/>
                </a:lnSpc>
              </a:pPr>
              <a:r xmlns:a="http://schemas.openxmlformats.org/drawingml/2006/main">
                <a:rPr lang="en" sz="4203" b="true">
                  <a:solidFill>
                    <a:srgbClr val="5E17EB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not to "accelerate," but to streamline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60872" y="1482490"/>
            <a:ext cx="960872" cy="61770"/>
            <a:chOff x="0" y="0"/>
            <a:chExt cx="1281163" cy="82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1176" cy="82423"/>
            </a:xfrm>
            <a:custGeom>
              <a:avLst/>
              <a:gdLst/>
              <a:ahLst/>
              <a:cxnLst/>
              <a:rect r="r" b="b" t="t" l="l"/>
              <a:pathLst>
                <a:path h="82423" w="1281176">
                  <a:moveTo>
                    <a:pt x="0" y="0"/>
                  </a:moveTo>
                  <a:lnTo>
                    <a:pt x="1281176" y="0"/>
                  </a:lnTo>
                  <a:lnTo>
                    <a:pt x="1281176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34D3E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66774" y="2264912"/>
            <a:ext cx="16060264" cy="754970"/>
            <a:chOff x="0" y="0"/>
            <a:chExt cx="21413686" cy="10066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413690" cy="1006625"/>
            </a:xfrm>
            <a:custGeom>
              <a:avLst/>
              <a:gdLst/>
              <a:ahLst/>
              <a:cxnLst/>
              <a:rect r="r" b="b" t="t" l="l"/>
              <a:pathLst>
                <a:path h="1006625" w="21413690">
                  <a:moveTo>
                    <a:pt x="0" y="0"/>
                  </a:moveTo>
                  <a:lnTo>
                    <a:pt x="21413690" y="0"/>
                  </a:lnTo>
                  <a:lnTo>
                    <a:pt x="21413690" y="1006625"/>
                  </a:lnTo>
                  <a:lnTo>
                    <a:pt x="0" y="10066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4500" r="0" b="-3645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413686" cy="10066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4323"/>
                </a:lnSpc>
              </a:pPr>
              <a:r xmlns:a="http://schemas.openxmlformats.org/drawingml/2006/main">
                <a:rPr lang="en" sz="3602" b="true">
                  <a:solidFill>
                    <a:srgbClr val="231F2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Synchronization defines the rules for access and waiting.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55335" y="3488874"/>
            <a:ext cx="5093006" cy="1875987"/>
            <a:chOff x="0" y="0"/>
            <a:chExt cx="6790675" cy="25013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90701" cy="2501392"/>
            </a:xfrm>
            <a:custGeom>
              <a:avLst/>
              <a:gdLst/>
              <a:ahLst/>
              <a:cxnLst/>
              <a:rect r="r" b="b" t="t" l="l"/>
              <a:pathLst>
                <a:path h="2501392" w="6790701">
                  <a:moveTo>
                    <a:pt x="0" y="416941"/>
                  </a:moveTo>
                  <a:cubicBezTo>
                    <a:pt x="0" y="186690"/>
                    <a:pt x="122236" y="0"/>
                    <a:pt x="272995" y="0"/>
                  </a:cubicBezTo>
                  <a:lnTo>
                    <a:pt x="6517698" y="0"/>
                  </a:lnTo>
                  <a:cubicBezTo>
                    <a:pt x="6668456" y="0"/>
                    <a:pt x="6790701" y="186690"/>
                    <a:pt x="6790701" y="416941"/>
                  </a:cubicBezTo>
                  <a:lnTo>
                    <a:pt x="6790701" y="2084451"/>
                  </a:lnTo>
                  <a:cubicBezTo>
                    <a:pt x="6790701" y="2314702"/>
                    <a:pt x="6668456" y="2501392"/>
                    <a:pt x="6517698" y="2501392"/>
                  </a:cubicBezTo>
                  <a:lnTo>
                    <a:pt x="272995" y="2501392"/>
                  </a:lnTo>
                  <a:cubicBezTo>
                    <a:pt x="122236" y="2501265"/>
                    <a:pt x="0" y="2314702"/>
                    <a:pt x="0" y="2084451"/>
                  </a:cubicBezTo>
                  <a:close/>
                </a:path>
              </a:pathLst>
            </a:custGeom>
            <a:solidFill>
              <a:srgbClr val="182030"/>
            </a:solidFill>
            <a:ln w="22878" cap="sq">
              <a:solidFill>
                <a:srgbClr val="34D3E1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509941" y="3774853"/>
            <a:ext cx="7069264" cy="534217"/>
            <a:chOff x="0" y="0"/>
            <a:chExt cx="9425686" cy="7122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25684" cy="712295"/>
            </a:xfrm>
            <a:custGeom>
              <a:avLst/>
              <a:gdLst/>
              <a:ahLst/>
              <a:cxnLst/>
              <a:rect r="r" b="b" t="t" l="l"/>
              <a:pathLst>
                <a:path h="712295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712295"/>
                  </a:lnTo>
                  <a:lnTo>
                    <a:pt x="0" y="7122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876" r="0" b="-20280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425686" cy="712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3422"/>
                </a:lnSpc>
              </a:pPr>
              <a:r xmlns:a="http://schemas.openxmlformats.org/drawingml/2006/main">
                <a:rPr lang="en" sz="2852" b="true">
                  <a:solidFill>
                    <a:srgbClr val="34D3E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Mutual exclusion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09941" y="4365098"/>
            <a:ext cx="7069264" cy="658882"/>
            <a:chOff x="0" y="0"/>
            <a:chExt cx="9425686" cy="8785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25684" cy="878510"/>
            </a:xfrm>
            <a:custGeom>
              <a:avLst/>
              <a:gdLst/>
              <a:ahLst/>
              <a:cxnLst/>
              <a:rect r="r" b="b" t="t" l="l"/>
              <a:pathLst>
                <a:path h="878510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058" r="0" b="-15905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9425686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2702"/>
                </a:lnSpc>
              </a:pPr>
              <a:r xmlns:a="http://schemas.openxmlformats.org/drawingml/2006/main">
                <a:rPr lang="en" sz="22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Who is allowed to enter now?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591079" y="3482011"/>
            <a:ext cx="6219171" cy="1875987"/>
            <a:chOff x="0" y="0"/>
            <a:chExt cx="8292229" cy="25013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292254" cy="2501392"/>
            </a:xfrm>
            <a:custGeom>
              <a:avLst/>
              <a:gdLst/>
              <a:ahLst/>
              <a:cxnLst/>
              <a:rect r="r" b="b" t="t" l="l"/>
              <a:pathLst>
                <a:path h="2501392" w="8292254">
                  <a:moveTo>
                    <a:pt x="0" y="416941"/>
                  </a:moveTo>
                  <a:cubicBezTo>
                    <a:pt x="0" y="186690"/>
                    <a:pt x="149265" y="0"/>
                    <a:pt x="333359" y="0"/>
                  </a:cubicBezTo>
                  <a:lnTo>
                    <a:pt x="7958889" y="0"/>
                  </a:lnTo>
                  <a:cubicBezTo>
                    <a:pt x="8142984" y="0"/>
                    <a:pt x="8292254" y="186690"/>
                    <a:pt x="8292254" y="416941"/>
                  </a:cubicBezTo>
                  <a:lnTo>
                    <a:pt x="8292254" y="2084451"/>
                  </a:lnTo>
                  <a:cubicBezTo>
                    <a:pt x="8292254" y="2314702"/>
                    <a:pt x="8142984" y="2501392"/>
                    <a:pt x="7958889" y="2501392"/>
                  </a:cubicBezTo>
                  <a:lnTo>
                    <a:pt x="333359" y="2501392"/>
                  </a:lnTo>
                  <a:cubicBezTo>
                    <a:pt x="149265" y="2501265"/>
                    <a:pt x="0" y="2314702"/>
                    <a:pt x="0" y="2084451"/>
                  </a:cubicBezTo>
                  <a:close/>
                </a:path>
              </a:pathLst>
            </a:custGeom>
            <a:solidFill>
              <a:srgbClr val="182030"/>
            </a:solidFill>
            <a:ln w="22878" cap="sq">
              <a:solidFill>
                <a:srgbClr val="4ADE8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7280736" y="3767990"/>
            <a:ext cx="7069264" cy="534217"/>
            <a:chOff x="0" y="0"/>
            <a:chExt cx="9425686" cy="7122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425684" cy="712295"/>
            </a:xfrm>
            <a:custGeom>
              <a:avLst/>
              <a:gdLst/>
              <a:ahLst/>
              <a:cxnLst/>
              <a:rect r="r" b="b" t="t" l="l"/>
              <a:pathLst>
                <a:path h="712295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712295"/>
                  </a:lnTo>
                  <a:lnTo>
                    <a:pt x="0" y="7122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876" r="0" b="-20280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9425686" cy="712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3422"/>
                </a:lnSpc>
              </a:pPr>
              <a:r xmlns:a="http://schemas.openxmlformats.org/drawingml/2006/main">
                <a:rPr lang="en" sz="2852" b="true">
                  <a:solidFill>
                    <a:srgbClr val="4ADE8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Signaling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280736" y="4358235"/>
            <a:ext cx="7069264" cy="658882"/>
            <a:chOff x="0" y="0"/>
            <a:chExt cx="9425686" cy="87851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425684" cy="878510"/>
            </a:xfrm>
            <a:custGeom>
              <a:avLst/>
              <a:gdLst/>
              <a:ahLst/>
              <a:cxnLst/>
              <a:rect r="r" b="b" t="t" l="l"/>
              <a:pathLst>
                <a:path h="878510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058" r="0" b="-15905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9425686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2702"/>
                </a:lnSpc>
              </a:pPr>
              <a:r xmlns:a="http://schemas.openxmlformats.org/drawingml/2006/main">
                <a:rPr lang="en" sz="22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When can we continue?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55335" y="5822423"/>
            <a:ext cx="5093006" cy="1875987"/>
            <a:chOff x="0" y="0"/>
            <a:chExt cx="6790675" cy="25013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90701" cy="2501392"/>
            </a:xfrm>
            <a:custGeom>
              <a:avLst/>
              <a:gdLst/>
              <a:ahLst/>
              <a:cxnLst/>
              <a:rect r="r" b="b" t="t" l="l"/>
              <a:pathLst>
                <a:path h="2501392" w="6790701">
                  <a:moveTo>
                    <a:pt x="0" y="416941"/>
                  </a:moveTo>
                  <a:cubicBezTo>
                    <a:pt x="0" y="186690"/>
                    <a:pt x="122236" y="0"/>
                    <a:pt x="272995" y="0"/>
                  </a:cubicBezTo>
                  <a:lnTo>
                    <a:pt x="6517698" y="0"/>
                  </a:lnTo>
                  <a:cubicBezTo>
                    <a:pt x="6668456" y="0"/>
                    <a:pt x="6790701" y="186690"/>
                    <a:pt x="6790701" y="416941"/>
                  </a:cubicBezTo>
                  <a:lnTo>
                    <a:pt x="6790701" y="2084451"/>
                  </a:lnTo>
                  <a:cubicBezTo>
                    <a:pt x="6790701" y="2314702"/>
                    <a:pt x="6668456" y="2501392"/>
                    <a:pt x="6517698" y="2501392"/>
                  </a:cubicBezTo>
                  <a:lnTo>
                    <a:pt x="272995" y="2501392"/>
                  </a:lnTo>
                  <a:cubicBezTo>
                    <a:pt x="122236" y="2501265"/>
                    <a:pt x="0" y="2314702"/>
                    <a:pt x="0" y="2084451"/>
                  </a:cubicBezTo>
                  <a:close/>
                </a:path>
              </a:pathLst>
            </a:custGeom>
            <a:solidFill>
              <a:srgbClr val="182030"/>
            </a:solidFill>
            <a:ln w="22878" cap="sq">
              <a:solidFill>
                <a:srgbClr val="FACC1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509941" y="6108392"/>
            <a:ext cx="7069264" cy="534217"/>
            <a:chOff x="0" y="0"/>
            <a:chExt cx="9425686" cy="7122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425684" cy="712295"/>
            </a:xfrm>
            <a:custGeom>
              <a:avLst/>
              <a:gdLst/>
              <a:ahLst/>
              <a:cxnLst/>
              <a:rect r="r" b="b" t="t" l="l"/>
              <a:pathLst>
                <a:path h="712295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712295"/>
                  </a:lnTo>
                  <a:lnTo>
                    <a:pt x="0" y="7122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876" r="0" b="-20280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9425686" cy="7122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3422"/>
                </a:lnSpc>
              </a:pPr>
              <a:r xmlns:a="http://schemas.openxmlformats.org/drawingml/2006/main">
                <a:rPr lang="en" sz="2852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Quantity limit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509941" y="6698637"/>
            <a:ext cx="7069264" cy="658882"/>
            <a:chOff x="0" y="0"/>
            <a:chExt cx="9425686" cy="87851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425684" cy="878510"/>
            </a:xfrm>
            <a:custGeom>
              <a:avLst/>
              <a:gdLst/>
              <a:ahLst/>
              <a:cxnLst/>
              <a:rect r="r" b="b" t="t" l="l"/>
              <a:pathLst>
                <a:path h="878510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058" r="0" b="-15905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9425686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2702"/>
                </a:lnSpc>
              </a:pPr>
              <a:r xmlns:a="http://schemas.openxmlformats.org/drawingml/2006/main">
                <a:rPr lang="en" sz="22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How many participants are allowed?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591079" y="5815560"/>
            <a:ext cx="6219171" cy="1875987"/>
            <a:chOff x="0" y="0"/>
            <a:chExt cx="8292229" cy="25013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292254" cy="2501392"/>
            </a:xfrm>
            <a:custGeom>
              <a:avLst/>
              <a:gdLst/>
              <a:ahLst/>
              <a:cxnLst/>
              <a:rect r="r" b="b" t="t" l="l"/>
              <a:pathLst>
                <a:path h="2501392" w="8292254">
                  <a:moveTo>
                    <a:pt x="0" y="416941"/>
                  </a:moveTo>
                  <a:cubicBezTo>
                    <a:pt x="0" y="186690"/>
                    <a:pt x="149265" y="0"/>
                    <a:pt x="333359" y="0"/>
                  </a:cubicBezTo>
                  <a:lnTo>
                    <a:pt x="7958889" y="0"/>
                  </a:lnTo>
                  <a:cubicBezTo>
                    <a:pt x="8142984" y="0"/>
                    <a:pt x="8292254" y="186690"/>
                    <a:pt x="8292254" y="416941"/>
                  </a:cubicBezTo>
                  <a:lnTo>
                    <a:pt x="8292254" y="2084451"/>
                  </a:lnTo>
                  <a:cubicBezTo>
                    <a:pt x="8292254" y="2314702"/>
                    <a:pt x="8142984" y="2501392"/>
                    <a:pt x="7958889" y="2501392"/>
                  </a:cubicBezTo>
                  <a:lnTo>
                    <a:pt x="333359" y="2501392"/>
                  </a:lnTo>
                  <a:cubicBezTo>
                    <a:pt x="149265" y="2501265"/>
                    <a:pt x="0" y="2314702"/>
                    <a:pt x="0" y="2084451"/>
                  </a:cubicBezTo>
                  <a:close/>
                </a:path>
              </a:pathLst>
            </a:custGeom>
            <a:solidFill>
              <a:srgbClr val="182030"/>
            </a:solidFill>
            <a:ln w="22878" cap="sq">
              <a:solidFill>
                <a:srgbClr val="A78BFA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7280736" y="6101529"/>
            <a:ext cx="7069264" cy="480431"/>
            <a:chOff x="0" y="0"/>
            <a:chExt cx="9425686" cy="64057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425684" cy="640580"/>
            </a:xfrm>
            <a:custGeom>
              <a:avLst/>
              <a:gdLst/>
              <a:ahLst/>
              <a:cxnLst/>
              <a:rect r="r" b="b" t="t" l="l"/>
              <a:pathLst>
                <a:path h="640580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9425686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3422"/>
                </a:lnSpc>
              </a:pPr>
              <a:r xmlns:a="http://schemas.openxmlformats.org/drawingml/2006/main">
                <a:rPr lang="en" sz="2852" b="true">
                  <a:solidFill>
                    <a:srgbClr val="A78B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Atomicity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280736" y="6691774"/>
            <a:ext cx="7069264" cy="658882"/>
            <a:chOff x="0" y="0"/>
            <a:chExt cx="9425686" cy="87851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425684" cy="878510"/>
            </a:xfrm>
            <a:custGeom>
              <a:avLst/>
              <a:gdLst/>
              <a:ahLst/>
              <a:cxnLst/>
              <a:rect r="r" b="b" t="t" l="l"/>
              <a:pathLst>
                <a:path h="878510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058" r="0" b="-15905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9425686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2702"/>
                </a:lnSpc>
              </a:pPr>
              <a:r xmlns:a="http://schemas.openxmlformats.org/drawingml/2006/main">
                <a:rPr lang="en" sz="2251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Is it possible to make the operation indivisible?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60872" y="9773431"/>
            <a:ext cx="10981382" cy="301990"/>
            <a:chOff x="0" y="0"/>
            <a:chExt cx="14641843" cy="40265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641840" cy="402651"/>
            </a:xfrm>
            <a:custGeom>
              <a:avLst/>
              <a:gdLst/>
              <a:ahLst/>
              <a:cxnLst/>
              <a:rect r="r" b="b" t="t" l="l"/>
              <a:pathLst>
                <a:path h="402651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8546" r="0" b="-65854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4641843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1441"/>
                </a:lnSpc>
              </a:pPr>
              <a:r xmlns:a="http://schemas.openxmlformats.org/drawingml/2006/main">
                <a:rPr lang="en" sz="1200">
                  <a:solidFill>
                    <a:srgbClr val="5F6E84"/>
                  </a:solidFill>
                  <a:latin typeface="Aptos"/>
                  <a:ea typeface="Aptos"/>
                  <a:cs typeface="Aptos"/>
                  <a:sym typeface="Aptos"/>
                </a:rPr>
                <a:t>System programming • Windows synchronization</a:t>
              </a: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12810250" y="1828760"/>
            <a:ext cx="6198928" cy="9863312"/>
          </a:xfrm>
          <a:custGeom>
            <a:avLst/>
            <a:gdLst/>
            <a:ahLst/>
            <a:cxnLst/>
            <a:rect r="r" b="b" t="t" l="l"/>
            <a:pathLst>
              <a:path h="9863312" w="6198928">
                <a:moveTo>
                  <a:pt x="0" y="0"/>
                </a:moveTo>
                <a:lnTo>
                  <a:pt x="6198928" y="0"/>
                </a:lnTo>
                <a:lnTo>
                  <a:pt x="6198928" y="9863312"/>
                </a:lnTo>
                <a:lnTo>
                  <a:pt x="0" y="986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2867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63659" y="7320802"/>
            <a:ext cx="960682" cy="1052540"/>
          </a:xfrm>
          <a:custGeom>
            <a:avLst/>
            <a:gdLst/>
            <a:ahLst/>
            <a:cxnLst/>
            <a:rect r="r" b="b" t="t" l="l"/>
            <a:pathLst>
              <a:path h="1052540" w="960682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75724" y="8291209"/>
            <a:ext cx="1104804" cy="1121111"/>
          </a:xfrm>
          <a:custGeom>
            <a:avLst/>
            <a:gdLst/>
            <a:ahLst/>
            <a:cxnLst/>
            <a:rect r="r" b="b" t="t" l="l"/>
            <a:pathLst>
              <a:path h="1121111" w="1104804">
                <a:moveTo>
                  <a:pt x="0" y="0"/>
                </a:moveTo>
                <a:lnTo>
                  <a:pt x="1104804" y="0"/>
                </a:lnTo>
                <a:lnTo>
                  <a:pt x="1104804" y="1121112"/>
                </a:lnTo>
                <a:lnTo>
                  <a:pt x="0" y="11211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809862" y="3194791"/>
            <a:ext cx="5380061" cy="647719"/>
            <a:chOff x="0" y="0"/>
            <a:chExt cx="1416971" cy="17059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16971" cy="170593"/>
            </a:xfrm>
            <a:custGeom>
              <a:avLst/>
              <a:gdLst/>
              <a:ahLst/>
              <a:cxnLst/>
              <a:rect r="r" b="b" t="t" l="l"/>
              <a:pathLst>
                <a:path h="170593" w="1416971">
                  <a:moveTo>
                    <a:pt x="0" y="0"/>
                  </a:moveTo>
                  <a:lnTo>
                    <a:pt x="1416971" y="0"/>
                  </a:lnTo>
                  <a:lnTo>
                    <a:pt x="1416971" y="170593"/>
                  </a:lnTo>
                  <a:lnTo>
                    <a:pt x="0" y="17059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416971" cy="227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xmlns:a="http://schemas.openxmlformats.org/drawingml/2006/main" algn="ctr" marL="0" indent="0" lvl="0">
                <a:lnSpc>
                  <a:spcPts val="4114"/>
                </a:lnSpc>
                <a:spcBef>
                  <a:spcPct val="0"/>
                </a:spcBef>
              </a:pPr>
              <a:r xmlns:a="http://schemas.openxmlformats.org/drawingml/2006/main">
                <a:rPr lang="en" b="true" sz="2981" spc="29">
                  <a:solidFill>
                    <a:srgbClr val="FF313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SEMAPHORE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81753" y="-114300"/>
            <a:ext cx="14776458" cy="2378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ctr">
              <a:lnSpc>
                <a:spcPts val="9587"/>
              </a:lnSpc>
            </a:pPr>
            <a:r xmlns:a="http://schemas.openxmlformats.org/drawingml/2006/main">
              <a:rPr lang="en" b="true" sz="6947" spc="36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SOFTWARE IMPLEMENTATION OF SYNCHRONIZATION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24326" y="4152454"/>
            <a:ext cx="5070751" cy="11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ctr" marL="0" indent="0" lvl="0">
              <a:lnSpc>
                <a:spcPts val="2346"/>
              </a:lnSpc>
              <a:spcBef>
                <a:spcPct val="0"/>
              </a:spcBef>
            </a:pPr>
            <a:r xmlns:a="http://schemas.openxmlformats.org/drawingml/2006/main">
              <a:rPr lang="en" sz="1700" spc="166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FIFOs are designed to lock a resource so that only one thread can use it. FIFOs are in a signaled state when free.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907926" y="3194791"/>
            <a:ext cx="5308645" cy="647719"/>
            <a:chOff x="0" y="0"/>
            <a:chExt cx="1398162" cy="1705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98162" cy="170593"/>
            </a:xfrm>
            <a:custGeom>
              <a:avLst/>
              <a:gdLst/>
              <a:ahLst/>
              <a:cxnLst/>
              <a:rect r="r" b="b" t="t" l="l"/>
              <a:pathLst>
                <a:path h="170593" w="1398162">
                  <a:moveTo>
                    <a:pt x="0" y="0"/>
                  </a:moveTo>
                  <a:lnTo>
                    <a:pt x="1398162" y="0"/>
                  </a:lnTo>
                  <a:lnTo>
                    <a:pt x="1398162" y="170593"/>
                  </a:lnTo>
                  <a:lnTo>
                    <a:pt x="0" y="17059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398162" cy="227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xmlns:a="http://schemas.openxmlformats.org/drawingml/2006/main" algn="ctr" marL="0" indent="0" lvl="0">
                <a:lnSpc>
                  <a:spcPts val="4114"/>
                </a:lnSpc>
                <a:spcBef>
                  <a:spcPct val="0"/>
                </a:spcBef>
              </a:pPr>
              <a:r xmlns:a="http://schemas.openxmlformats.org/drawingml/2006/main">
                <a:rPr lang="en" b="true" sz="2981" spc="29">
                  <a:solidFill>
                    <a:srgbClr val="FF313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MUTEX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83326" y="4152454"/>
            <a:ext cx="6254887" cy="875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ctr" marL="0" indent="0" lvl="0">
              <a:lnSpc>
                <a:spcPts val="2346"/>
              </a:lnSpc>
              <a:spcBef>
                <a:spcPct val="0"/>
              </a:spcBef>
            </a:pPr>
            <a:r xmlns:a="http://schemas.openxmlformats.org/drawingml/2006/main">
              <a:rPr lang="en" sz="1700" spc="166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are used to restrict thread access to specific sections of code, ensuring their atomic execution.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53259" y="3194791"/>
            <a:ext cx="5585617" cy="647719"/>
            <a:chOff x="0" y="0"/>
            <a:chExt cx="1471109" cy="1705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71109" cy="170593"/>
            </a:xfrm>
            <a:custGeom>
              <a:avLst/>
              <a:gdLst/>
              <a:ahLst/>
              <a:cxnLst/>
              <a:rect r="r" b="b" t="t" l="l"/>
              <a:pathLst>
                <a:path h="170593" w="1471109">
                  <a:moveTo>
                    <a:pt x="0" y="0"/>
                  </a:moveTo>
                  <a:lnTo>
                    <a:pt x="1471109" y="0"/>
                  </a:lnTo>
                  <a:lnTo>
                    <a:pt x="1471109" y="170593"/>
                  </a:lnTo>
                  <a:lnTo>
                    <a:pt x="0" y="17059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471109" cy="227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xmlns:a="http://schemas.openxmlformats.org/drawingml/2006/main" algn="ctr" marL="0" indent="0" lvl="0">
                <a:lnSpc>
                  <a:spcPts val="4114"/>
                </a:lnSpc>
                <a:spcBef>
                  <a:spcPct val="0"/>
                </a:spcBef>
              </a:pPr>
              <a:r xmlns:a="http://schemas.openxmlformats.org/drawingml/2006/main">
                <a:rPr lang="en" b="true" sz="2981" spc="29">
                  <a:solidFill>
                    <a:srgbClr val="FF313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CRITICAL SECTIONS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591634" y="4004436"/>
            <a:ext cx="5696366" cy="146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ctr" marL="0" indent="0" lvl="0">
              <a:lnSpc>
                <a:spcPts val="2346"/>
              </a:lnSpc>
              <a:spcBef>
                <a:spcPct val="0"/>
              </a:spcBef>
            </a:pPr>
            <a:r xmlns:a="http://schemas.openxmlformats.org/drawingml/2006/main">
              <a:rPr lang="en" sz="1700" spc="166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provide access control to a limited number of resources, allowing multiple threads to simultaneously use a resource within certain limits.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4479722" y="-4833750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4176364">
            <a:off x="-4105129" y="653023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718594" y="2267734"/>
            <a:ext cx="15302777" cy="73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ctr">
              <a:lnSpc>
                <a:spcPts val="6020"/>
              </a:lnSpc>
            </a:pPr>
            <a:r xmlns:a="http://schemas.openxmlformats.org/drawingml/2006/main">
              <a:rPr lang="en" b="true" sz="4300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IMPLEMENTED WITH THE HELP OF PRIMITIVES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92067" y="5787277"/>
            <a:ext cx="5646809" cy="671138"/>
            <a:chOff x="0" y="0"/>
            <a:chExt cx="1487225" cy="17676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87225" cy="176761"/>
            </a:xfrm>
            <a:custGeom>
              <a:avLst/>
              <a:gdLst/>
              <a:ahLst/>
              <a:cxnLst/>
              <a:rect r="r" b="b" t="t" l="l"/>
              <a:pathLst>
                <a:path h="176761" w="1487225">
                  <a:moveTo>
                    <a:pt x="0" y="0"/>
                  </a:moveTo>
                  <a:lnTo>
                    <a:pt x="1487225" y="0"/>
                  </a:lnTo>
                  <a:lnTo>
                    <a:pt x="1487225" y="176761"/>
                  </a:lnTo>
                  <a:lnTo>
                    <a:pt x="0" y="176761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487225" cy="233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xmlns:a="http://schemas.openxmlformats.org/drawingml/2006/main" algn="ctr" marL="0" indent="0" lvl="0">
                <a:lnSpc>
                  <a:spcPts val="4114"/>
                </a:lnSpc>
                <a:spcBef>
                  <a:spcPct val="0"/>
                </a:spcBef>
              </a:pPr>
              <a:r xmlns:a="http://schemas.openxmlformats.org/drawingml/2006/main">
                <a:rPr lang="en" b="true" sz="2981" spc="29">
                  <a:solidFill>
                    <a:srgbClr val="FF313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CONDITION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836509" y="5787277"/>
            <a:ext cx="5380061" cy="671138"/>
            <a:chOff x="0" y="0"/>
            <a:chExt cx="1416971" cy="17676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16971" cy="176761"/>
            </a:xfrm>
            <a:custGeom>
              <a:avLst/>
              <a:gdLst/>
              <a:ahLst/>
              <a:cxnLst/>
              <a:rect r="r" b="b" t="t" l="l"/>
              <a:pathLst>
                <a:path h="176761" w="1416971">
                  <a:moveTo>
                    <a:pt x="0" y="0"/>
                  </a:moveTo>
                  <a:lnTo>
                    <a:pt x="1416971" y="0"/>
                  </a:lnTo>
                  <a:lnTo>
                    <a:pt x="1416971" y="176761"/>
                  </a:lnTo>
                  <a:lnTo>
                    <a:pt x="0" y="176761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1416971" cy="233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xmlns:a="http://schemas.openxmlformats.org/drawingml/2006/main" algn="ctr" marL="0" indent="0" lvl="0">
                <a:lnSpc>
                  <a:spcPts val="4114"/>
                </a:lnSpc>
                <a:spcBef>
                  <a:spcPct val="0"/>
                </a:spcBef>
              </a:pPr>
              <a:r xmlns:a="http://schemas.openxmlformats.org/drawingml/2006/main">
                <a:rPr lang="en" b="true" sz="2981" spc="2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BARRIER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809862" y="5787277"/>
            <a:ext cx="5380061" cy="671138"/>
            <a:chOff x="0" y="0"/>
            <a:chExt cx="1416971" cy="17676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16971" cy="176761"/>
            </a:xfrm>
            <a:custGeom>
              <a:avLst/>
              <a:gdLst/>
              <a:ahLst/>
              <a:cxnLst/>
              <a:rect r="r" b="b" t="t" l="l"/>
              <a:pathLst>
                <a:path h="176761" w="1416971">
                  <a:moveTo>
                    <a:pt x="0" y="0"/>
                  </a:moveTo>
                  <a:lnTo>
                    <a:pt x="1416971" y="0"/>
                  </a:lnTo>
                  <a:lnTo>
                    <a:pt x="1416971" y="176761"/>
                  </a:lnTo>
                  <a:lnTo>
                    <a:pt x="0" y="176761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416971" cy="233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xmlns:a="http://schemas.openxmlformats.org/drawingml/2006/main" algn="ctr" marL="0" indent="0" lvl="0">
                <a:lnSpc>
                  <a:spcPts val="4114"/>
                </a:lnSpc>
                <a:spcBef>
                  <a:spcPct val="0"/>
                </a:spcBef>
              </a:pPr>
              <a:r xmlns:a="http://schemas.openxmlformats.org/drawingml/2006/main">
                <a:rPr lang="en" b="true" sz="2981" spc="29">
                  <a:solidFill>
                    <a:srgbClr val="FF313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ATOMIC OPERATIONS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92067" y="8259021"/>
            <a:ext cx="5646809" cy="671138"/>
            <a:chOff x="0" y="0"/>
            <a:chExt cx="1487225" cy="17676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87225" cy="176761"/>
            </a:xfrm>
            <a:custGeom>
              <a:avLst/>
              <a:gdLst/>
              <a:ahLst/>
              <a:cxnLst/>
              <a:rect r="r" b="b" t="t" l="l"/>
              <a:pathLst>
                <a:path h="176761" w="1487225">
                  <a:moveTo>
                    <a:pt x="0" y="0"/>
                  </a:moveTo>
                  <a:lnTo>
                    <a:pt x="1487225" y="0"/>
                  </a:lnTo>
                  <a:lnTo>
                    <a:pt x="1487225" y="176761"/>
                  </a:lnTo>
                  <a:lnTo>
                    <a:pt x="0" y="176761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487225" cy="233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xmlns:a="http://schemas.openxmlformats.org/drawingml/2006/main" algn="ctr" marL="0" indent="0" lvl="0">
                <a:lnSpc>
                  <a:spcPts val="4114"/>
                </a:lnSpc>
                <a:spcBef>
                  <a:spcPct val="0"/>
                </a:spcBef>
              </a:pPr>
              <a:r xmlns:a="http://schemas.openxmlformats.org/drawingml/2006/main">
                <a:rPr lang="en" b="true" sz="2981" spc="2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FUTURE/PROMISE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733104" y="8201893"/>
            <a:ext cx="5483467" cy="671138"/>
            <a:chOff x="0" y="0"/>
            <a:chExt cx="1444205" cy="17676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44205" cy="176761"/>
            </a:xfrm>
            <a:custGeom>
              <a:avLst/>
              <a:gdLst/>
              <a:ahLst/>
              <a:cxnLst/>
              <a:rect r="r" b="b" t="t" l="l"/>
              <a:pathLst>
                <a:path h="176761" w="1444205">
                  <a:moveTo>
                    <a:pt x="0" y="0"/>
                  </a:moveTo>
                  <a:lnTo>
                    <a:pt x="1444205" y="0"/>
                  </a:lnTo>
                  <a:lnTo>
                    <a:pt x="1444205" y="176761"/>
                  </a:lnTo>
                  <a:lnTo>
                    <a:pt x="0" y="176761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444205" cy="233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xmlns:a="http://schemas.openxmlformats.org/drawingml/2006/main" algn="ctr" marL="0" indent="0" lvl="0">
                <a:lnSpc>
                  <a:spcPts val="4114"/>
                </a:lnSpc>
                <a:spcBef>
                  <a:spcPct val="0"/>
                </a:spcBef>
              </a:pPr>
              <a:r xmlns:a="http://schemas.openxmlformats.org/drawingml/2006/main">
                <a:rPr lang="en" b="true" sz="2981" spc="2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READ/WRITE LOCK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809862" y="8201893"/>
            <a:ext cx="5380061" cy="671138"/>
            <a:chOff x="0" y="0"/>
            <a:chExt cx="1416971" cy="17676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16971" cy="176761"/>
            </a:xfrm>
            <a:custGeom>
              <a:avLst/>
              <a:gdLst/>
              <a:ahLst/>
              <a:cxnLst/>
              <a:rect r="r" b="b" t="t" l="l"/>
              <a:pathLst>
                <a:path h="176761" w="1416971">
                  <a:moveTo>
                    <a:pt x="0" y="0"/>
                  </a:moveTo>
                  <a:lnTo>
                    <a:pt x="1416971" y="0"/>
                  </a:lnTo>
                  <a:lnTo>
                    <a:pt x="1416971" y="176761"/>
                  </a:lnTo>
                  <a:lnTo>
                    <a:pt x="0" y="176761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1416971" cy="233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xmlns:a="http://schemas.openxmlformats.org/drawingml/2006/main" algn="ctr" marL="0" indent="0" lvl="0">
                <a:lnSpc>
                  <a:spcPts val="4114"/>
                </a:lnSpc>
                <a:spcBef>
                  <a:spcPct val="0"/>
                </a:spcBef>
              </a:pPr>
              <a:r xmlns:a="http://schemas.openxmlformats.org/drawingml/2006/main">
                <a:rPr lang="en" b="true" sz="2981" spc="29">
                  <a:solidFill>
                    <a:srgbClr val="FF313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EVENTS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2372449" y="9018508"/>
            <a:ext cx="6254887" cy="11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ctr" marL="0" indent="0" lvl="0">
              <a:lnSpc>
                <a:spcPts val="2346"/>
              </a:lnSpc>
              <a:spcBef>
                <a:spcPct val="0"/>
              </a:spcBef>
            </a:pPr>
            <a:r xmlns:a="http://schemas.openxmlformats.org/drawingml/2006/main">
              <a:rPr lang="en" sz="1700" spc="166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allow threads (and sometimes processes) to wait for a specific event to occur or for a state change to occur before continuing execution.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048092" y="6638758"/>
            <a:ext cx="6643781" cy="11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ctr" marL="0" indent="0" lvl="0">
              <a:lnSpc>
                <a:spcPts val="2346"/>
              </a:lnSpc>
              <a:spcBef>
                <a:spcPct val="0"/>
              </a:spcBef>
            </a:pPr>
            <a:r xmlns:a="http://schemas.openxmlformats.org/drawingml/2006/main">
              <a:rPr lang="en" sz="1700" spc="166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It is a synchronization primitive that allows a group of threads to wait for each other until all threads have reached a certain point of execution.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048092" y="9018508"/>
            <a:ext cx="6643781" cy="57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ctr" marL="0" indent="0" lvl="0">
              <a:lnSpc>
                <a:spcPts val="2346"/>
              </a:lnSpc>
              <a:spcBef>
                <a:spcPct val="0"/>
              </a:spcBef>
            </a:pPr>
            <a:r xmlns:a="http://schemas.openxmlformats.org/drawingml/2006/main">
              <a:rPr lang="en" sz="1700" spc="166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This is a type of lock that separates access to a resource into read and write operations.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-110702" y="9092084"/>
            <a:ext cx="6249577" cy="11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ctr" marL="0" indent="0" lvl="0">
              <a:lnSpc>
                <a:spcPts val="2346"/>
              </a:lnSpc>
              <a:spcBef>
                <a:spcPct val="0"/>
              </a:spcBef>
            </a:pPr>
            <a:r xmlns:a="http://schemas.openxmlformats.org/drawingml/2006/main">
              <a:rPr lang="en" sz="1700" spc="166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It is a synchronization mechanism that allows one thread to pass the result of a computation to another thread, which will wait for that result.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160233" y="6620340"/>
            <a:ext cx="5029691" cy="875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ctr" marL="0" indent="0" lvl="0">
              <a:lnSpc>
                <a:spcPts val="2346"/>
              </a:lnSpc>
              <a:spcBef>
                <a:spcPct val="0"/>
              </a:spcBef>
            </a:pPr>
            <a:r xmlns:a="http://schemas.openxmlformats.org/drawingml/2006/main">
              <a:rPr lang="en" sz="1700" spc="166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These are low-level operations that are performed atomically, that is, indivisibly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83326" y="6620340"/>
            <a:ext cx="5621546" cy="875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ctr" marL="0" indent="0" lvl="0">
              <a:lnSpc>
                <a:spcPts val="2346"/>
              </a:lnSpc>
              <a:spcBef>
                <a:spcPct val="0"/>
              </a:spcBef>
            </a:pPr>
            <a:r xmlns:a="http://schemas.openxmlformats.org/drawingml/2006/main">
              <a:rPr lang="en" sz="1700" spc="166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It is a synchronization primitive that allows threads to wait until a certain condition is met.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91563" y="7558927"/>
            <a:ext cx="7673056" cy="7673056"/>
          </a:xfrm>
          <a:custGeom>
            <a:avLst/>
            <a:gdLst/>
            <a:ahLst/>
            <a:cxnLst/>
            <a:rect r="r" b="b" t="t" l="l"/>
            <a:pathLst>
              <a:path h="7673056" w="7673056">
                <a:moveTo>
                  <a:pt x="0" y="0"/>
                </a:moveTo>
                <a:lnTo>
                  <a:pt x="7673056" y="0"/>
                </a:lnTo>
                <a:lnTo>
                  <a:pt x="7673056" y="7673056"/>
                </a:lnTo>
                <a:lnTo>
                  <a:pt x="0" y="76730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24816" y="6816975"/>
            <a:ext cx="2238367" cy="2238367"/>
          </a:xfrm>
          <a:custGeom>
            <a:avLst/>
            <a:gdLst/>
            <a:ahLst/>
            <a:cxnLst/>
            <a:rect r="r" b="b" t="t" l="l"/>
            <a:pathLst>
              <a:path h="2238367" w="2238367">
                <a:moveTo>
                  <a:pt x="0" y="0"/>
                </a:moveTo>
                <a:lnTo>
                  <a:pt x="2238368" y="0"/>
                </a:lnTo>
                <a:lnTo>
                  <a:pt x="2238368" y="2238368"/>
                </a:lnTo>
                <a:lnTo>
                  <a:pt x="0" y="22383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63659" y="7320802"/>
            <a:ext cx="960682" cy="1052540"/>
          </a:xfrm>
          <a:custGeom>
            <a:avLst/>
            <a:gdLst/>
            <a:ahLst/>
            <a:cxnLst/>
            <a:rect r="r" b="b" t="t" l="l"/>
            <a:pathLst>
              <a:path h="1052540" w="960682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343322" y="7732581"/>
            <a:ext cx="2238367" cy="2238367"/>
          </a:xfrm>
          <a:custGeom>
            <a:avLst/>
            <a:gdLst/>
            <a:ahLst/>
            <a:cxnLst/>
            <a:rect r="r" b="b" t="t" l="l"/>
            <a:pathLst>
              <a:path h="2238367" w="2238367">
                <a:moveTo>
                  <a:pt x="0" y="0"/>
                </a:moveTo>
                <a:lnTo>
                  <a:pt x="2238367" y="0"/>
                </a:lnTo>
                <a:lnTo>
                  <a:pt x="2238367" y="2238368"/>
                </a:lnTo>
                <a:lnTo>
                  <a:pt x="0" y="22383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510099" y="7377531"/>
            <a:ext cx="2238367" cy="2238367"/>
          </a:xfrm>
          <a:custGeom>
            <a:avLst/>
            <a:gdLst/>
            <a:ahLst/>
            <a:cxnLst/>
            <a:rect r="r" b="b" t="t" l="l"/>
            <a:pathLst>
              <a:path h="2238367" w="2238367">
                <a:moveTo>
                  <a:pt x="0" y="0"/>
                </a:moveTo>
                <a:lnTo>
                  <a:pt x="2238367" y="0"/>
                </a:lnTo>
                <a:lnTo>
                  <a:pt x="2238367" y="2238368"/>
                </a:lnTo>
                <a:lnTo>
                  <a:pt x="0" y="22383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994936" y="7891202"/>
            <a:ext cx="1268693" cy="1211025"/>
          </a:xfrm>
          <a:custGeom>
            <a:avLst/>
            <a:gdLst/>
            <a:ahLst/>
            <a:cxnLst/>
            <a:rect r="r" b="b" t="t" l="l"/>
            <a:pathLst>
              <a:path h="1211025" w="1268693">
                <a:moveTo>
                  <a:pt x="0" y="0"/>
                </a:moveTo>
                <a:lnTo>
                  <a:pt x="1268693" y="0"/>
                </a:lnTo>
                <a:lnTo>
                  <a:pt x="1268693" y="1211025"/>
                </a:lnTo>
                <a:lnTo>
                  <a:pt x="0" y="12110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875724" y="8291209"/>
            <a:ext cx="1104804" cy="1121111"/>
          </a:xfrm>
          <a:custGeom>
            <a:avLst/>
            <a:gdLst/>
            <a:ahLst/>
            <a:cxnLst/>
            <a:rect r="r" b="b" t="t" l="l"/>
            <a:pathLst>
              <a:path h="1121111" w="1104804">
                <a:moveTo>
                  <a:pt x="0" y="0"/>
                </a:moveTo>
                <a:lnTo>
                  <a:pt x="1104804" y="0"/>
                </a:lnTo>
                <a:lnTo>
                  <a:pt x="1104804" y="1121112"/>
                </a:lnTo>
                <a:lnTo>
                  <a:pt x="0" y="112111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981753" y="-114300"/>
            <a:ext cx="14776458" cy="2378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ctr">
              <a:lnSpc>
                <a:spcPts val="9587"/>
              </a:lnSpc>
            </a:pPr>
            <a:r xmlns:a="http://schemas.openxmlformats.org/drawingml/2006/main">
              <a:rPr lang="en" b="true" sz="6947" spc="36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HARDWARE IMPLEMENTATION OF SYNCHRONIZATION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76352" y="4453568"/>
            <a:ext cx="4903547" cy="647719"/>
            <a:chOff x="0" y="0"/>
            <a:chExt cx="1291469" cy="17059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91469" cy="170593"/>
            </a:xfrm>
            <a:custGeom>
              <a:avLst/>
              <a:gdLst/>
              <a:ahLst/>
              <a:cxnLst/>
              <a:rect r="r" b="b" t="t" l="l"/>
              <a:pathLst>
                <a:path h="170593" w="1291469">
                  <a:moveTo>
                    <a:pt x="0" y="0"/>
                  </a:moveTo>
                  <a:lnTo>
                    <a:pt x="1291469" y="0"/>
                  </a:lnTo>
                  <a:lnTo>
                    <a:pt x="1291469" y="170593"/>
                  </a:lnTo>
                  <a:lnTo>
                    <a:pt x="0" y="17059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291469" cy="2277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xmlns:a="http://schemas.openxmlformats.org/drawingml/2006/main" algn="ctr" marL="0" indent="0" lvl="0">
                <a:lnSpc>
                  <a:spcPts val="4114"/>
                </a:lnSpc>
                <a:spcBef>
                  <a:spcPct val="0"/>
                </a:spcBef>
              </a:pPr>
              <a:r xmlns:a="http://schemas.openxmlformats.org/drawingml/2006/main">
                <a:rPr lang="en" b="true" sz="2981" spc="2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xchg (exchange)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53259" y="4201879"/>
            <a:ext cx="6084955" cy="1151098"/>
            <a:chOff x="0" y="0"/>
            <a:chExt cx="1602622" cy="30317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02622" cy="303170"/>
            </a:xfrm>
            <a:custGeom>
              <a:avLst/>
              <a:gdLst/>
              <a:ahLst/>
              <a:cxnLst/>
              <a:rect r="r" b="b" t="t" l="l"/>
              <a:pathLst>
                <a:path h="303170" w="1602622">
                  <a:moveTo>
                    <a:pt x="0" y="0"/>
                  </a:moveTo>
                  <a:lnTo>
                    <a:pt x="1602622" y="0"/>
                  </a:lnTo>
                  <a:lnTo>
                    <a:pt x="1602622" y="303170"/>
                  </a:lnTo>
                  <a:lnTo>
                    <a:pt x="0" y="30317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602622" cy="3603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xmlns:a="http://schemas.openxmlformats.org/drawingml/2006/main" algn="ctr">
                <a:lnSpc>
                  <a:spcPts val="4114"/>
                </a:lnSpc>
              </a:pPr>
              <a:r xmlns:a="http://schemas.openxmlformats.org/drawingml/2006/main">
                <a:rPr lang="en" b="true" sz="2981" spc="2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tas</a:t>
              </a:r>
            </a:p>
            <a:p>
              <a:pPr xmlns:a="http://schemas.openxmlformats.org/drawingml/2006/main" algn="ctr" marL="0" indent="0" lvl="0">
                <a:lnSpc>
                  <a:spcPts val="4114"/>
                </a:lnSpc>
                <a:spcBef>
                  <a:spcPct val="0"/>
                </a:spcBef>
              </a:pPr>
              <a:r xmlns:a="http://schemas.openxmlformats.org/drawingml/2006/main">
                <a:rPr lang="en" b="true" sz="2981" spc="2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(test and set)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4479722" y="-4833750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4176364">
            <a:off x="-4105129" y="653023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61969" y="2317208"/>
            <a:ext cx="16685604" cy="1500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ctr">
              <a:lnSpc>
                <a:spcPts val="6020"/>
              </a:lnSpc>
            </a:pPr>
            <a:r xmlns:a="http://schemas.openxmlformats.org/drawingml/2006/main">
              <a:rPr lang="en" b="true" sz="4300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IMPLEMENTED WITH THE HELP OF SPECIAL COMMANDS/INSTRUCTIONS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3086100"/>
            <a:chOff x="0" y="0"/>
            <a:chExt cx="4816593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816593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451022" y="-4729397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851369" y="-3442596"/>
            <a:ext cx="6709932" cy="6885191"/>
          </a:xfrm>
          <a:custGeom>
            <a:avLst/>
            <a:gdLst/>
            <a:ahLst/>
            <a:cxnLst/>
            <a:rect r="r" b="b" t="t" l="l"/>
            <a:pathLst>
              <a:path h="6885191" w="6709932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03597" y="3425029"/>
            <a:ext cx="9034431" cy="1563643"/>
            <a:chOff x="0" y="0"/>
            <a:chExt cx="1744696" cy="3019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44696" cy="301965"/>
            </a:xfrm>
            <a:custGeom>
              <a:avLst/>
              <a:gdLst/>
              <a:ahLst/>
              <a:cxnLst/>
              <a:rect r="r" b="b" t="t" l="l"/>
              <a:pathLst>
                <a:path h="301965" w="1744696">
                  <a:moveTo>
                    <a:pt x="0" y="0"/>
                  </a:moveTo>
                  <a:lnTo>
                    <a:pt x="1744696" y="0"/>
                  </a:lnTo>
                  <a:lnTo>
                    <a:pt x="1744696" y="301965"/>
                  </a:lnTo>
                  <a:lnTo>
                    <a:pt x="0" y="301965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744696" cy="321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03597" y="5331572"/>
            <a:ext cx="9034431" cy="1956619"/>
            <a:chOff x="0" y="0"/>
            <a:chExt cx="1744696" cy="3778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44696" cy="377855"/>
            </a:xfrm>
            <a:custGeom>
              <a:avLst/>
              <a:gdLst/>
              <a:ahLst/>
              <a:cxnLst/>
              <a:rect r="r" b="b" t="t" l="l"/>
              <a:pathLst>
                <a:path h="377855" w="1744696">
                  <a:moveTo>
                    <a:pt x="0" y="0"/>
                  </a:moveTo>
                  <a:lnTo>
                    <a:pt x="1744696" y="0"/>
                  </a:lnTo>
                  <a:lnTo>
                    <a:pt x="1744696" y="377855"/>
                  </a:lnTo>
                  <a:lnTo>
                    <a:pt x="0" y="377855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744696" cy="396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636876" y="2226527"/>
            <a:ext cx="6847844" cy="8494620"/>
          </a:xfrm>
          <a:custGeom>
            <a:avLst/>
            <a:gdLst/>
            <a:ahLst/>
            <a:cxnLst/>
            <a:rect r="r" b="b" t="t" l="l"/>
            <a:pathLst>
              <a:path h="8494620" w="6847844">
                <a:moveTo>
                  <a:pt x="0" y="0"/>
                </a:moveTo>
                <a:lnTo>
                  <a:pt x="6847844" y="0"/>
                </a:lnTo>
                <a:lnTo>
                  <a:pt x="6847844" y="8494621"/>
                </a:lnTo>
                <a:lnTo>
                  <a:pt x="0" y="8494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163000" y="1098951"/>
            <a:ext cx="13661632" cy="134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ctr">
              <a:lnSpc>
                <a:spcPts val="11082"/>
              </a:lnSpc>
            </a:pPr>
            <a:r xmlns:a="http://schemas.openxmlformats.org/drawingml/2006/main">
              <a:rPr lang="en" b="true" sz="8030" spc="78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CRITICAL SECTION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4789" y="3681944"/>
            <a:ext cx="8900334" cy="1016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l" marL="427768" indent="-213884" lvl="1">
              <a:lnSpc>
                <a:spcPts val="2734"/>
              </a:lnSpc>
              <a:buFont typeface="Arial"/>
              <a:buChar char="•"/>
            </a:pPr>
            <a:r xmlns:a="http://schemas.openxmlformats.org/drawingml/2006/main">
              <a:rPr lang="en" sz="1981" spc="194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Critical sections are a synchronization mechanism used to control access to shared resources in multithreaded programming.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4789" y="5588486"/>
            <a:ext cx="8512431" cy="169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l" marL="427768" indent="-213884" lvl="1">
              <a:lnSpc>
                <a:spcPts val="2734"/>
              </a:lnSpc>
              <a:buFont typeface="Arial"/>
              <a:buChar char="•"/>
            </a:pPr>
            <a:r xmlns:a="http://schemas.openxmlformats.org/drawingml/2006/main">
              <a:rPr lang="en" sz="1981" spc="194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Key Features</a:t>
            </a:r>
          </a:p>
          <a:p>
            <a:pPr xmlns:a="http://schemas.openxmlformats.org/drawingml/2006/main" algn="l">
              <a:lnSpc>
                <a:spcPts val="2734"/>
              </a:lnSpc>
            </a:pPr>
            <a:r xmlns:a="http://schemas.openxmlformats.org/drawingml/2006/main">
              <a:rPr lang="en" sz="1981" spc="194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atomicity</a:t>
            </a:r>
          </a:p>
          <a:p>
            <a:pPr xmlns:a="http://schemas.openxmlformats.org/drawingml/2006/main" algn="l">
              <a:lnSpc>
                <a:spcPts val="2734"/>
              </a:lnSpc>
            </a:pPr>
            <a:r xmlns:a="http://schemas.openxmlformats.org/drawingml/2006/main">
              <a:rPr lang="en" sz="1981" spc="194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performance</a:t>
            </a:r>
          </a:p>
          <a:p>
            <a:pPr xmlns:a="http://schemas.openxmlformats.org/drawingml/2006/main" algn="l">
              <a:lnSpc>
                <a:spcPts val="2734"/>
              </a:lnSpc>
            </a:pPr>
            <a:r xmlns:a="http://schemas.openxmlformats.org/drawingml/2006/main">
              <a:rPr lang="en" sz="1981" spc="194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Limiting the scope of action</a:t>
            </a:r>
          </a:p>
          <a:p>
            <a:pPr algn="l">
              <a:lnSpc>
                <a:spcPts val="2734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503597" y="7429532"/>
            <a:ext cx="10562827" cy="2524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l">
              <a:lnSpc>
                <a:spcPts val="2859"/>
              </a:lnSpc>
              <a:spcBef>
                <a:spcPct val="0"/>
              </a:spcBef>
            </a:pPr>
            <a:r xmlns:a="http://schemas.openxmlformats.org/drawingml/2006/main">
              <a:rPr lang="en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InitializeCriticalSection: Initializes the critical section object.</a:t>
            </a:r>
          </a:p>
          <a:p>
            <a:pPr xmlns:a="http://schemas.openxmlformats.org/drawingml/2006/main" algn="l">
              <a:lnSpc>
                <a:spcPts val="2859"/>
              </a:lnSpc>
              <a:spcBef>
                <a:spcPct val="0"/>
              </a:spcBef>
            </a:pPr>
            <a:r xmlns:a="http://schemas.openxmlformats.org/drawingml/2006/main">
              <a:rPr lang="en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EnterCriticalSection: Enters a critical section and blocks other threads from entering that section.</a:t>
            </a:r>
          </a:p>
          <a:p>
            <a:pPr xmlns:a="http://schemas.openxmlformats.org/drawingml/2006/main" algn="l">
              <a:lnSpc>
                <a:spcPts val="2859"/>
              </a:lnSpc>
              <a:spcBef>
                <a:spcPct val="0"/>
              </a:spcBef>
            </a:pPr>
            <a:r xmlns:a="http://schemas.openxmlformats.org/drawingml/2006/main">
              <a:rPr lang="en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LeaveCriticalSection: Releases the critical section, allowing other threads to enter it.</a:t>
            </a:r>
          </a:p>
          <a:p>
            <a:pPr xmlns:a="http://schemas.openxmlformats.org/drawingml/2006/main" algn="l">
              <a:lnSpc>
                <a:spcPts val="2859"/>
              </a:lnSpc>
              <a:spcBef>
                <a:spcPct val="0"/>
              </a:spcBef>
            </a:pPr>
            <a:r xmlns:a="http://schemas.openxmlformats.org/drawingml/2006/main">
              <a:rPr lang="en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DeleteCriticalSection: Deletes the critical section object and frees its resources.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60872" y="576520"/>
            <a:ext cx="16060264" cy="823608"/>
            <a:chOff x="0" y="0"/>
            <a:chExt cx="21413686" cy="1098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413690" cy="1098138"/>
            </a:xfrm>
            <a:custGeom>
              <a:avLst/>
              <a:gdLst/>
              <a:ahLst/>
              <a:cxnLst/>
              <a:rect r="r" b="b" t="t" l="l"/>
              <a:pathLst>
                <a:path h="1098138" w="21413690">
                  <a:moveTo>
                    <a:pt x="0" y="0"/>
                  </a:moveTo>
                  <a:lnTo>
                    <a:pt x="21413690" y="0"/>
                  </a:lnTo>
                  <a:lnTo>
                    <a:pt x="21413690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9957" r="0" b="-32995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21413686" cy="1098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5043"/>
                </a:lnSpc>
              </a:pPr>
              <a:r xmlns:a="http://schemas.openxmlformats.org/drawingml/2006/main">
                <a:rPr lang="en" b="true" sz="4203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Critical Section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60872" y="1482490"/>
            <a:ext cx="960872" cy="61770"/>
            <a:chOff x="0" y="0"/>
            <a:chExt cx="1281163" cy="823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1176" cy="82423"/>
            </a:xfrm>
            <a:custGeom>
              <a:avLst/>
              <a:gdLst/>
              <a:ahLst/>
              <a:cxnLst/>
              <a:rect r="r" b="b" t="t" l="l"/>
              <a:pathLst>
                <a:path h="82423" w="1281176">
                  <a:moveTo>
                    <a:pt x="0" y="0"/>
                  </a:moveTo>
                  <a:lnTo>
                    <a:pt x="1281176" y="0"/>
                  </a:lnTo>
                  <a:lnTo>
                    <a:pt x="1281176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34D3E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0872" y="1592304"/>
            <a:ext cx="16334804" cy="617706"/>
            <a:chOff x="0" y="0"/>
            <a:chExt cx="21779738" cy="8236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79736" cy="823603"/>
            </a:xfrm>
            <a:custGeom>
              <a:avLst/>
              <a:gdLst/>
              <a:ahLst/>
              <a:cxnLst/>
              <a:rect r="r" b="b" t="t" l="l"/>
              <a:pathLst>
                <a:path h="823603" w="21779736">
                  <a:moveTo>
                    <a:pt x="0" y="0"/>
                  </a:moveTo>
                  <a:lnTo>
                    <a:pt x="21779736" y="0"/>
                  </a:lnTo>
                  <a:lnTo>
                    <a:pt x="2177973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5270" r="0" b="-46527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77973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2161"/>
                </a:lnSpc>
              </a:pPr>
              <a:r xmlns:a="http://schemas.openxmlformats.org/drawingml/2006/main">
                <a:rPr lang="en" sz="180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The easiest "turnstile" within a single process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8137" y="2196274"/>
            <a:ext cx="2608078" cy="521618"/>
            <a:chOff x="0" y="0"/>
            <a:chExt cx="3477438" cy="6954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77514" cy="695579"/>
            </a:xfrm>
            <a:custGeom>
              <a:avLst/>
              <a:gdLst/>
              <a:ahLst/>
              <a:cxnLst/>
              <a:rect r="r" b="b" t="t" l="l"/>
              <a:pathLst>
                <a:path h="695579" w="3477514">
                  <a:moveTo>
                    <a:pt x="0" y="115951"/>
                  </a:moveTo>
                  <a:cubicBezTo>
                    <a:pt x="0" y="51943"/>
                    <a:pt x="51943" y="0"/>
                    <a:pt x="115951" y="0"/>
                  </a:cubicBezTo>
                  <a:lnTo>
                    <a:pt x="3361563" y="0"/>
                  </a:lnTo>
                  <a:cubicBezTo>
                    <a:pt x="3425571" y="0"/>
                    <a:pt x="3477514" y="51943"/>
                    <a:pt x="3477514" y="115951"/>
                  </a:cubicBezTo>
                  <a:lnTo>
                    <a:pt x="3477514" y="579628"/>
                  </a:lnTo>
                  <a:cubicBezTo>
                    <a:pt x="3477514" y="643636"/>
                    <a:pt x="3425571" y="695579"/>
                    <a:pt x="3361563" y="695579"/>
                  </a:cubicBezTo>
                  <a:lnTo>
                    <a:pt x="115951" y="695579"/>
                  </a:lnTo>
                  <a:cubicBezTo>
                    <a:pt x="51943" y="695452"/>
                    <a:pt x="0" y="643636"/>
                    <a:pt x="0" y="579628"/>
                  </a:cubicBezTo>
                  <a:close/>
                </a:path>
              </a:pathLst>
            </a:custGeom>
            <a:solidFill>
              <a:srgbClr val="34D3E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98137" y="2196274"/>
            <a:ext cx="2608078" cy="521618"/>
            <a:chOff x="0" y="0"/>
            <a:chExt cx="3477438" cy="6954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77437" cy="695487"/>
            </a:xfrm>
            <a:custGeom>
              <a:avLst/>
              <a:gdLst/>
              <a:ahLst/>
              <a:cxnLst/>
              <a:rect r="r" b="b" t="t" l="l"/>
              <a:pathLst>
                <a:path h="695487" w="3477437">
                  <a:moveTo>
                    <a:pt x="0" y="0"/>
                  </a:moveTo>
                  <a:lnTo>
                    <a:pt x="3477437" y="0"/>
                  </a:lnTo>
                  <a:lnTo>
                    <a:pt x="347743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3477438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1981"/>
                </a:lnSpc>
              </a:pPr>
              <a:r xmlns:a="http://schemas.openxmlformats.org/drawingml/2006/main">
                <a:rPr lang="en" b="true" sz="165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ONE PROCESS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86698" y="2939806"/>
            <a:ext cx="9906124" cy="5376301"/>
            <a:chOff x="0" y="0"/>
            <a:chExt cx="13208165" cy="716840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208254" cy="7168515"/>
            </a:xfrm>
            <a:custGeom>
              <a:avLst/>
              <a:gdLst/>
              <a:ahLst/>
              <a:cxnLst/>
              <a:rect r="r" b="b" t="t" l="l"/>
              <a:pathLst>
                <a:path h="7168515" w="13208254">
                  <a:moveTo>
                    <a:pt x="0" y="1194816"/>
                  </a:moveTo>
                  <a:cubicBezTo>
                    <a:pt x="0" y="534924"/>
                    <a:pt x="534924" y="0"/>
                    <a:pt x="1194816" y="0"/>
                  </a:cubicBezTo>
                  <a:lnTo>
                    <a:pt x="12013438" y="0"/>
                  </a:lnTo>
                  <a:cubicBezTo>
                    <a:pt x="12673330" y="0"/>
                    <a:pt x="13208254" y="534924"/>
                    <a:pt x="13208254" y="1194816"/>
                  </a:cubicBezTo>
                  <a:lnTo>
                    <a:pt x="13208254" y="5973699"/>
                  </a:lnTo>
                  <a:cubicBezTo>
                    <a:pt x="13208254" y="6633591"/>
                    <a:pt x="12673330" y="7168515"/>
                    <a:pt x="12013438" y="7168515"/>
                  </a:cubicBezTo>
                  <a:lnTo>
                    <a:pt x="1194816" y="7168515"/>
                  </a:lnTo>
                  <a:cubicBezTo>
                    <a:pt x="534924" y="7168388"/>
                    <a:pt x="0" y="6633464"/>
                    <a:pt x="0" y="5973699"/>
                  </a:cubicBezTo>
                  <a:close/>
                </a:path>
              </a:pathLst>
            </a:custGeom>
            <a:solidFill>
              <a:srgbClr val="182030"/>
            </a:solidFill>
            <a:ln w="22878" cap="sq">
              <a:solidFill>
                <a:srgbClr val="374B69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509941" y="3294412"/>
            <a:ext cx="2745343" cy="480431"/>
            <a:chOff x="0" y="0"/>
            <a:chExt cx="3660458" cy="6405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60460" cy="640580"/>
            </a:xfrm>
            <a:custGeom>
              <a:avLst/>
              <a:gdLst/>
              <a:ahLst/>
              <a:cxnLst/>
              <a:rect r="r" b="b" t="t" l="l"/>
              <a:pathLst>
                <a:path h="640580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343" r="0" b="-6134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3660458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2882"/>
                </a:lnSpc>
              </a:pPr>
              <a:r xmlns:a="http://schemas.openxmlformats.org/drawingml/2006/main">
                <a:rPr lang="en" b="true" sz="2401">
                  <a:solidFill>
                    <a:srgbClr val="FFFB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Process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67139" y="4312482"/>
            <a:ext cx="1738722" cy="654310"/>
            <a:chOff x="0" y="0"/>
            <a:chExt cx="2318296" cy="87241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318258" cy="872490"/>
            </a:xfrm>
            <a:custGeom>
              <a:avLst/>
              <a:gdLst/>
              <a:ahLst/>
              <a:cxnLst/>
              <a:rect r="r" b="b" t="t" l="l"/>
              <a:pathLst>
                <a:path h="872490" w="2318258">
                  <a:moveTo>
                    <a:pt x="0" y="145415"/>
                  </a:moveTo>
                  <a:cubicBezTo>
                    <a:pt x="0" y="65151"/>
                    <a:pt x="65151" y="0"/>
                    <a:pt x="145415" y="0"/>
                  </a:cubicBezTo>
                  <a:lnTo>
                    <a:pt x="2172843" y="0"/>
                  </a:lnTo>
                  <a:cubicBezTo>
                    <a:pt x="2253107" y="0"/>
                    <a:pt x="2318258" y="65151"/>
                    <a:pt x="2318258" y="145415"/>
                  </a:cubicBezTo>
                  <a:lnTo>
                    <a:pt x="2318258" y="727075"/>
                  </a:lnTo>
                  <a:cubicBezTo>
                    <a:pt x="2318258" y="807339"/>
                    <a:pt x="2253107" y="872490"/>
                    <a:pt x="2172843" y="872490"/>
                  </a:cubicBezTo>
                  <a:lnTo>
                    <a:pt x="145415" y="872490"/>
                  </a:lnTo>
                  <a:cubicBezTo>
                    <a:pt x="65151" y="872363"/>
                    <a:pt x="0" y="807339"/>
                    <a:pt x="0" y="726948"/>
                  </a:cubicBezTo>
                  <a:close/>
                </a:path>
              </a:pathLst>
            </a:custGeom>
            <a:solidFill>
              <a:srgbClr val="1F2A3E"/>
            </a:solidFill>
            <a:ln w="22878" cap="sq">
              <a:solidFill>
                <a:srgbClr val="60A5FA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578569" y="4323921"/>
            <a:ext cx="1715843" cy="631431"/>
            <a:chOff x="0" y="0"/>
            <a:chExt cx="2287791" cy="84190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87787" cy="841906"/>
            </a:xfrm>
            <a:custGeom>
              <a:avLst/>
              <a:gdLst/>
              <a:ahLst/>
              <a:cxnLst/>
              <a:rect r="r" b="b" t="t" l="l"/>
              <a:pathLst>
                <a:path h="841906" w="2287787">
                  <a:moveTo>
                    <a:pt x="0" y="0"/>
                  </a:moveTo>
                  <a:lnTo>
                    <a:pt x="2287787" y="0"/>
                  </a:lnTo>
                  <a:lnTo>
                    <a:pt x="2287787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8" r="0" b="-294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228779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2702"/>
                </a:lnSpc>
              </a:pPr>
              <a:r xmlns:a="http://schemas.openxmlformats.org/drawingml/2006/main">
                <a:rPr lang="en" b="true" sz="2251">
                  <a:solidFill>
                    <a:srgbClr val="FFFB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T1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 rot="1428600">
            <a:off x="3313957" y="5089950"/>
            <a:ext cx="2363086" cy="0"/>
          </a:xfrm>
          <a:prstGeom prst="line">
            <a:avLst/>
          </a:prstGeom>
          <a:ln cap="rnd" w="19050">
            <a:solidFill>
              <a:srgbClr val="34D3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1567139" y="5300805"/>
            <a:ext cx="1738722" cy="654310"/>
            <a:chOff x="0" y="0"/>
            <a:chExt cx="2318296" cy="87241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318258" cy="872490"/>
            </a:xfrm>
            <a:custGeom>
              <a:avLst/>
              <a:gdLst/>
              <a:ahLst/>
              <a:cxnLst/>
              <a:rect r="r" b="b" t="t" l="l"/>
              <a:pathLst>
                <a:path h="872490" w="2318258">
                  <a:moveTo>
                    <a:pt x="0" y="145415"/>
                  </a:moveTo>
                  <a:cubicBezTo>
                    <a:pt x="0" y="65151"/>
                    <a:pt x="65151" y="0"/>
                    <a:pt x="145415" y="0"/>
                  </a:cubicBezTo>
                  <a:lnTo>
                    <a:pt x="2172843" y="0"/>
                  </a:lnTo>
                  <a:cubicBezTo>
                    <a:pt x="2253107" y="0"/>
                    <a:pt x="2318258" y="65151"/>
                    <a:pt x="2318258" y="145415"/>
                  </a:cubicBezTo>
                  <a:lnTo>
                    <a:pt x="2318258" y="727075"/>
                  </a:lnTo>
                  <a:cubicBezTo>
                    <a:pt x="2318258" y="807339"/>
                    <a:pt x="2253107" y="872490"/>
                    <a:pt x="2172843" y="872490"/>
                  </a:cubicBezTo>
                  <a:lnTo>
                    <a:pt x="145415" y="872490"/>
                  </a:lnTo>
                  <a:cubicBezTo>
                    <a:pt x="65151" y="872363"/>
                    <a:pt x="0" y="807339"/>
                    <a:pt x="0" y="726948"/>
                  </a:cubicBezTo>
                  <a:close/>
                </a:path>
              </a:pathLst>
            </a:custGeom>
            <a:solidFill>
              <a:srgbClr val="1F2A3E"/>
            </a:solidFill>
            <a:ln w="22878" cap="sq">
              <a:solidFill>
                <a:srgbClr val="A78BFA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578569" y="5312245"/>
            <a:ext cx="1715843" cy="631431"/>
            <a:chOff x="0" y="0"/>
            <a:chExt cx="2287791" cy="84190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87787" cy="841906"/>
            </a:xfrm>
            <a:custGeom>
              <a:avLst/>
              <a:gdLst/>
              <a:ahLst/>
              <a:cxnLst/>
              <a:rect r="r" b="b" t="t" l="l"/>
              <a:pathLst>
                <a:path h="841906" w="2287787">
                  <a:moveTo>
                    <a:pt x="0" y="0"/>
                  </a:moveTo>
                  <a:lnTo>
                    <a:pt x="2287787" y="0"/>
                  </a:lnTo>
                  <a:lnTo>
                    <a:pt x="2287787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8" r="0" b="-294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228779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2702"/>
                </a:lnSpc>
              </a:pPr>
              <a:r xmlns:a="http://schemas.openxmlformats.org/drawingml/2006/main">
                <a:rPr lang="en" b="true" sz="2251">
                  <a:solidFill>
                    <a:srgbClr val="FFFB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T2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-163560">
            <a:off x="3413293" y="5584117"/>
            <a:ext cx="2164413" cy="0"/>
          </a:xfrm>
          <a:prstGeom prst="line">
            <a:avLst/>
          </a:prstGeom>
          <a:ln cap="rnd" w="19050">
            <a:solidFill>
              <a:srgbClr val="34D3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567139" y="6289129"/>
            <a:ext cx="1738722" cy="654310"/>
            <a:chOff x="0" y="0"/>
            <a:chExt cx="2318296" cy="87241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18258" cy="872490"/>
            </a:xfrm>
            <a:custGeom>
              <a:avLst/>
              <a:gdLst/>
              <a:ahLst/>
              <a:cxnLst/>
              <a:rect r="r" b="b" t="t" l="l"/>
              <a:pathLst>
                <a:path h="872490" w="2318258">
                  <a:moveTo>
                    <a:pt x="0" y="145415"/>
                  </a:moveTo>
                  <a:cubicBezTo>
                    <a:pt x="0" y="65151"/>
                    <a:pt x="65151" y="0"/>
                    <a:pt x="145415" y="0"/>
                  </a:cubicBezTo>
                  <a:lnTo>
                    <a:pt x="2172843" y="0"/>
                  </a:lnTo>
                  <a:cubicBezTo>
                    <a:pt x="2253107" y="0"/>
                    <a:pt x="2318258" y="65151"/>
                    <a:pt x="2318258" y="145415"/>
                  </a:cubicBezTo>
                  <a:lnTo>
                    <a:pt x="2318258" y="727075"/>
                  </a:lnTo>
                  <a:cubicBezTo>
                    <a:pt x="2318258" y="807339"/>
                    <a:pt x="2253107" y="872490"/>
                    <a:pt x="2172843" y="872490"/>
                  </a:cubicBezTo>
                  <a:lnTo>
                    <a:pt x="145415" y="872490"/>
                  </a:lnTo>
                  <a:cubicBezTo>
                    <a:pt x="65151" y="872363"/>
                    <a:pt x="0" y="807339"/>
                    <a:pt x="0" y="726948"/>
                  </a:cubicBezTo>
                  <a:close/>
                </a:path>
              </a:pathLst>
            </a:custGeom>
            <a:solidFill>
              <a:srgbClr val="1F2A3E"/>
            </a:solidFill>
            <a:ln w="22878" cap="sq">
              <a:solidFill>
                <a:srgbClr val="4ADE80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578569" y="6300568"/>
            <a:ext cx="1715843" cy="631431"/>
            <a:chOff x="0" y="0"/>
            <a:chExt cx="2287791" cy="84190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87787" cy="841906"/>
            </a:xfrm>
            <a:custGeom>
              <a:avLst/>
              <a:gdLst/>
              <a:ahLst/>
              <a:cxnLst/>
              <a:rect r="r" b="b" t="t" l="l"/>
              <a:pathLst>
                <a:path h="841906" w="2287787">
                  <a:moveTo>
                    <a:pt x="0" y="0"/>
                  </a:moveTo>
                  <a:lnTo>
                    <a:pt x="2287787" y="0"/>
                  </a:lnTo>
                  <a:lnTo>
                    <a:pt x="2287787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8" r="0" b="-294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2287791" cy="841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2702"/>
                </a:lnSpc>
              </a:pPr>
              <a:r xmlns:a="http://schemas.openxmlformats.org/drawingml/2006/main">
                <a:rPr lang="en" b="true" sz="2251">
                  <a:solidFill>
                    <a:srgbClr val="FFFB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T3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rot="-1606980">
            <a:off x="3284620" y="6078274"/>
            <a:ext cx="2421769" cy="0"/>
          </a:xfrm>
          <a:prstGeom prst="line">
            <a:avLst/>
          </a:prstGeom>
          <a:ln cap="rnd" w="19050">
            <a:solidFill>
              <a:srgbClr val="34D3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5685149" y="4587011"/>
            <a:ext cx="3934997" cy="1875987"/>
            <a:chOff x="0" y="0"/>
            <a:chExt cx="5246662" cy="250131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246751" cy="2501392"/>
            </a:xfrm>
            <a:custGeom>
              <a:avLst/>
              <a:gdLst/>
              <a:ahLst/>
              <a:cxnLst/>
              <a:rect r="r" b="b" t="t" l="l"/>
              <a:pathLst>
                <a:path h="2501392" w="5246751">
                  <a:moveTo>
                    <a:pt x="0" y="416941"/>
                  </a:moveTo>
                  <a:cubicBezTo>
                    <a:pt x="0" y="186690"/>
                    <a:pt x="186690" y="0"/>
                    <a:pt x="416941" y="0"/>
                  </a:cubicBezTo>
                  <a:lnTo>
                    <a:pt x="4829810" y="0"/>
                  </a:lnTo>
                  <a:cubicBezTo>
                    <a:pt x="5060061" y="0"/>
                    <a:pt x="5246751" y="186690"/>
                    <a:pt x="5246751" y="416941"/>
                  </a:cubicBezTo>
                  <a:lnTo>
                    <a:pt x="5246751" y="2084451"/>
                  </a:lnTo>
                  <a:cubicBezTo>
                    <a:pt x="5246751" y="2314702"/>
                    <a:pt x="5060061" y="2501392"/>
                    <a:pt x="4829810" y="2501392"/>
                  </a:cubicBezTo>
                  <a:lnTo>
                    <a:pt x="416941" y="2501392"/>
                  </a:lnTo>
                  <a:cubicBezTo>
                    <a:pt x="186690" y="2501265"/>
                    <a:pt x="0" y="2314702"/>
                    <a:pt x="0" y="2084451"/>
                  </a:cubicBezTo>
                  <a:close/>
                </a:path>
              </a:pathLst>
            </a:custGeom>
            <a:solidFill>
              <a:srgbClr val="123740"/>
            </a:solidFill>
            <a:ln w="22878" cap="sq">
              <a:solidFill>
                <a:srgbClr val="34D3E1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5971127" y="4872990"/>
            <a:ext cx="3363049" cy="480431"/>
            <a:chOff x="0" y="0"/>
            <a:chExt cx="4484065" cy="6405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484063" cy="640580"/>
            </a:xfrm>
            <a:custGeom>
              <a:avLst/>
              <a:gdLst/>
              <a:ahLst/>
              <a:cxnLst/>
              <a:rect r="r" b="b" t="t" l="l"/>
              <a:pathLst>
                <a:path h="640580" w="4484063">
                  <a:moveTo>
                    <a:pt x="0" y="0"/>
                  </a:moveTo>
                  <a:lnTo>
                    <a:pt x="4484063" y="0"/>
                  </a:lnTo>
                  <a:lnTo>
                    <a:pt x="448406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4484065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2702"/>
                </a:lnSpc>
              </a:pPr>
              <a:r xmlns:a="http://schemas.openxmlformats.org/drawingml/2006/main">
                <a:rPr lang="en" b="true" sz="2251">
                  <a:solidFill>
                    <a:srgbClr val="FFFB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CRITICAL SECTION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971127" y="5490686"/>
            <a:ext cx="3363049" cy="480431"/>
            <a:chOff x="0" y="0"/>
            <a:chExt cx="4484065" cy="64057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484063" cy="640580"/>
            </a:xfrm>
            <a:custGeom>
              <a:avLst/>
              <a:gdLst/>
              <a:ahLst/>
              <a:cxnLst/>
              <a:rect r="r" b="b" t="t" l="l"/>
              <a:pathLst>
                <a:path h="640580" w="4484063">
                  <a:moveTo>
                    <a:pt x="0" y="0"/>
                  </a:moveTo>
                  <a:lnTo>
                    <a:pt x="4484063" y="0"/>
                  </a:lnTo>
                  <a:lnTo>
                    <a:pt x="448406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4484065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2341"/>
                </a:lnSpc>
              </a:pPr>
              <a:r xmlns:a="http://schemas.openxmlformats.org/drawingml/2006/main">
                <a:rPr lang="en" sz="1951">
                  <a:solidFill>
                    <a:srgbClr val="FFFBFB"/>
                  </a:solidFill>
                  <a:latin typeface="Aptos"/>
                  <a:ea typeface="Aptos"/>
                  <a:cs typeface="Aptos"/>
                  <a:sym typeface="Aptos"/>
                </a:rPr>
                <a:t>shared data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1690518" y="2928328"/>
            <a:ext cx="5307806" cy="5124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l">
              <a:lnSpc>
                <a:spcPts val="3062"/>
              </a:lnSpc>
            </a:pPr>
            <a:r xmlns:a="http://schemas.openxmlformats.org/drawingml/2006/main">
              <a:rPr lang="en" sz="255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Only threads of one process</a:t>
            </a:r>
          </a:p>
          <a:p>
            <a:pPr xmlns:a="http://schemas.openxmlformats.org/drawingml/2006/main" algn="l">
              <a:lnSpc>
                <a:spcPts val="3062"/>
              </a:lnSpc>
            </a:pPr>
            <a:r xmlns:a="http://schemas.openxmlformats.org/drawingml/2006/main">
              <a:rPr lang="en" sz="255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Usually faster than mutex</a:t>
            </a:r>
          </a:p>
          <a:p>
            <a:pPr xmlns:a="http://schemas.openxmlformats.org/drawingml/2006/main" algn="l">
              <a:lnSpc>
                <a:spcPts val="3062"/>
              </a:lnSpc>
            </a:pPr>
            <a:r xmlns:a="http://schemas.openxmlformats.org/drawingml/2006/main">
              <a:rPr lang="en" sz="255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Owner - thread</a:t>
            </a:r>
          </a:p>
          <a:p>
            <a:pPr xmlns:a="http://schemas.openxmlformats.org/drawingml/2006/main" algn="l">
              <a:lnSpc>
                <a:spcPts val="3062"/>
              </a:lnSpc>
            </a:pPr>
            <a:r xmlns:a="http://schemas.openxmlformats.org/drawingml/2006/main">
              <a:rPr lang="en" sz="255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Recursive input is allowed</a:t>
            </a:r>
          </a:p>
          <a:p>
            <a:pPr xmlns:a="http://schemas.openxmlformats.org/drawingml/2006/main" algn="l">
              <a:lnSpc>
                <a:spcPts val="3062"/>
              </a:lnSpc>
            </a:pPr>
            <a:r xmlns:a="http://schemas.openxmlformats.org/drawingml/2006/main">
              <a:rPr lang="en" sz="2551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• Enter → work → Leave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960872" y="9773431"/>
            <a:ext cx="10981382" cy="301990"/>
            <a:chOff x="0" y="0"/>
            <a:chExt cx="14641843" cy="40265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641840" cy="402651"/>
            </a:xfrm>
            <a:custGeom>
              <a:avLst/>
              <a:gdLst/>
              <a:ahLst/>
              <a:cxnLst/>
              <a:rect r="r" b="b" t="t" l="l"/>
              <a:pathLst>
                <a:path h="402651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8546" r="0" b="-65854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14641843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1441"/>
                </a:lnSpc>
              </a:pPr>
              <a:r xmlns:a="http://schemas.openxmlformats.org/drawingml/2006/main">
                <a:rPr lang="en" sz="12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System programming • Windows synchronization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3086100"/>
            <a:chOff x="0" y="0"/>
            <a:chExt cx="4816593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816593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451022" y="-4729397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851369" y="-3442596"/>
            <a:ext cx="6709932" cy="6885191"/>
          </a:xfrm>
          <a:custGeom>
            <a:avLst/>
            <a:gdLst/>
            <a:ahLst/>
            <a:cxnLst/>
            <a:rect r="r" b="b" t="t" l="l"/>
            <a:pathLst>
              <a:path h="6885191" w="6709932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03597" y="3425029"/>
            <a:ext cx="13472558" cy="1189906"/>
            <a:chOff x="0" y="0"/>
            <a:chExt cx="2601770" cy="22979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01770" cy="229790"/>
            </a:xfrm>
            <a:custGeom>
              <a:avLst/>
              <a:gdLst/>
              <a:ahLst/>
              <a:cxnLst/>
              <a:rect r="r" b="b" t="t" l="l"/>
              <a:pathLst>
                <a:path h="229790" w="2601770">
                  <a:moveTo>
                    <a:pt x="0" y="0"/>
                  </a:moveTo>
                  <a:lnTo>
                    <a:pt x="2601770" y="0"/>
                  </a:lnTo>
                  <a:lnTo>
                    <a:pt x="2601770" y="229790"/>
                  </a:lnTo>
                  <a:lnTo>
                    <a:pt x="0" y="229790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601770" cy="248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03597" y="4770967"/>
            <a:ext cx="12669023" cy="2517225"/>
            <a:chOff x="0" y="0"/>
            <a:chExt cx="2446594" cy="4861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46594" cy="486117"/>
            </a:xfrm>
            <a:custGeom>
              <a:avLst/>
              <a:gdLst/>
              <a:ahLst/>
              <a:cxnLst/>
              <a:rect r="r" b="b" t="t" l="l"/>
              <a:pathLst>
                <a:path h="486117" w="2446594">
                  <a:moveTo>
                    <a:pt x="0" y="0"/>
                  </a:moveTo>
                  <a:lnTo>
                    <a:pt x="2446594" y="0"/>
                  </a:lnTo>
                  <a:lnTo>
                    <a:pt x="2446594" y="486117"/>
                  </a:lnTo>
                  <a:lnTo>
                    <a:pt x="0" y="48611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446594" cy="505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066424" y="4295573"/>
            <a:ext cx="8987140" cy="5991427"/>
          </a:xfrm>
          <a:custGeom>
            <a:avLst/>
            <a:gdLst/>
            <a:ahLst/>
            <a:cxnLst/>
            <a:rect r="r" b="b" t="t" l="l"/>
            <a:pathLst>
              <a:path h="5991427" w="8987140">
                <a:moveTo>
                  <a:pt x="0" y="0"/>
                </a:moveTo>
                <a:lnTo>
                  <a:pt x="8987140" y="0"/>
                </a:lnTo>
                <a:lnTo>
                  <a:pt x="8987140" y="5991427"/>
                </a:lnTo>
                <a:lnTo>
                  <a:pt x="0" y="59914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98362" y="801402"/>
            <a:ext cx="13661632" cy="134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ctr">
              <a:lnSpc>
                <a:spcPts val="11082"/>
              </a:lnSpc>
            </a:pPr>
            <a:r xmlns:a="http://schemas.openxmlformats.org/drawingml/2006/main">
              <a:rPr lang="en" b="true" sz="8030" spc="78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MUTEX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4789" y="3681944"/>
            <a:ext cx="12273846" cy="675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l">
              <a:lnSpc>
                <a:spcPts val="2734"/>
              </a:lnSpc>
            </a:pPr>
            <a:r xmlns:a="http://schemas.openxmlformats.org/drawingml/2006/main">
              <a:rPr lang="en" sz="1981" spc="194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used to solve the problem of mutual exclusion between parallel threads running in different process contexts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1186" y="4853060"/>
            <a:ext cx="12541051" cy="3065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l" marL="427768" indent="-213884" lvl="1">
              <a:lnSpc>
                <a:spcPts val="2734"/>
              </a:lnSpc>
              <a:buFont typeface="Arial"/>
              <a:buChar char="•"/>
            </a:pPr>
            <a:r xmlns:a="http://schemas.openxmlformats.org/drawingml/2006/main">
              <a:rPr lang="en" sz="1981" spc="194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Key Features</a:t>
            </a:r>
          </a:p>
          <a:p>
            <a:pPr xmlns:a="http://schemas.openxmlformats.org/drawingml/2006/main" algn="l">
              <a:lnSpc>
                <a:spcPts val="2734"/>
              </a:lnSpc>
            </a:pPr>
            <a:r xmlns:a="http://schemas.openxmlformats.org/drawingml/2006/main">
              <a:rPr lang="en" sz="1981" spc="194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Access exception: a mutex serves only one thread</a:t>
            </a:r>
          </a:p>
          <a:p>
            <a:pPr xmlns:a="http://schemas.openxmlformats.org/drawingml/2006/main" algn="l">
              <a:lnSpc>
                <a:spcPts val="2734"/>
              </a:lnSpc>
            </a:pPr>
            <a:r xmlns:a="http://schemas.openxmlformats.org/drawingml/2006/main">
              <a:rPr lang="en" sz="1981" spc="194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Locking and unlocking: A thread must acquire a mutex before accessing it and release it after accessing the shared resource.</a:t>
            </a:r>
          </a:p>
          <a:p>
            <a:pPr xmlns:a="http://schemas.openxmlformats.org/drawingml/2006/main" algn="l">
              <a:lnSpc>
                <a:spcPts val="2734"/>
              </a:lnSpc>
            </a:pPr>
            <a:r xmlns:a="http://schemas.openxmlformats.org/drawingml/2006/main">
              <a:rPr lang="en" sz="1981" spc="194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Recursivity: Some mutexes support recursive access, allowing a single thread to acquire the mutex multiple times without blocking itself.</a:t>
            </a:r>
          </a:p>
          <a:p>
            <a:pPr xmlns:a="http://schemas.openxmlformats.org/drawingml/2006/main" algn="l">
              <a:lnSpc>
                <a:spcPts val="2734"/>
              </a:lnSpc>
            </a:pPr>
            <a:r xmlns:a="http://schemas.openxmlformats.org/drawingml/2006/main">
              <a:rPr lang="en" sz="1981" spc="194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Interprocess synchronization: Mutex kernel object</a:t>
            </a:r>
          </a:p>
          <a:p>
            <a:pPr algn="l">
              <a:lnSpc>
                <a:spcPts val="2734"/>
              </a:lnSpc>
            </a:pPr>
          </a:p>
          <a:p>
            <a:pPr algn="l">
              <a:lnSpc>
                <a:spcPts val="2734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701186" y="7421541"/>
            <a:ext cx="10562827" cy="2524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l" marL="474979" indent="-237490" lvl="1">
              <a:lnSpc>
                <a:spcPts val="2859"/>
              </a:lnSpc>
              <a:spcBef>
                <a:spcPct val="0"/>
              </a:spcBef>
              <a:buFont typeface="Arial"/>
              <a:buChar char="•"/>
            </a:pPr>
            <a:r xmlns:a="http://schemas.openxmlformats.org/drawingml/2006/main">
              <a:rPr lang="en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CreateMutex / CreateMutexEx Creates a new mutex or opens an existing one.</a:t>
            </a:r>
          </a:p>
          <a:p>
            <a:pPr xmlns:a="http://schemas.openxmlformats.org/drawingml/2006/main" algn="l" marL="474979" indent="-237490" lvl="1">
              <a:lnSpc>
                <a:spcPts val="2859"/>
              </a:lnSpc>
              <a:spcBef>
                <a:spcPct val="0"/>
              </a:spcBef>
              <a:buFont typeface="Arial"/>
              <a:buChar char="•"/>
            </a:pPr>
            <a:r xmlns:a="http://schemas.openxmlformats.org/drawingml/2006/main">
              <a:rPr lang="en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WaitForSingleObject waits for a mutex to be acquired. The thread blocks until the mutex becomes available.</a:t>
            </a:r>
          </a:p>
          <a:p>
            <a:pPr xmlns:a="http://schemas.openxmlformats.org/drawingml/2006/main" algn="l" marL="474979" indent="-237490" lvl="1">
              <a:lnSpc>
                <a:spcPts val="2859"/>
              </a:lnSpc>
              <a:spcBef>
                <a:spcPct val="0"/>
              </a:spcBef>
              <a:buFont typeface="Arial"/>
              <a:buChar char="•"/>
            </a:pPr>
            <a:r xmlns:a="http://schemas.openxmlformats.org/drawingml/2006/main">
              <a:rPr lang="en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ReleaseMutex Releases the acquired mutex.</a:t>
            </a:r>
          </a:p>
          <a:p>
            <a:pPr xmlns:a="http://schemas.openxmlformats.org/drawingml/2006/main" algn="l" marL="474979" indent="-237490" lvl="1">
              <a:lnSpc>
                <a:spcPts val="2859"/>
              </a:lnSpc>
              <a:spcBef>
                <a:spcPct val="0"/>
              </a:spcBef>
              <a:buFont typeface="Arial"/>
              <a:buChar char="•"/>
            </a:pPr>
            <a:r xmlns:a="http://schemas.openxmlformats.org/drawingml/2006/main">
              <a:rPr lang="en" sz="21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OpenMutex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4526353" y="3182153"/>
            <a:ext cx="3892888" cy="2226841"/>
          </a:xfrm>
          <a:custGeom>
            <a:avLst/>
            <a:gdLst/>
            <a:ahLst/>
            <a:cxnLst/>
            <a:rect r="r" b="b" t="t" l="l"/>
            <a:pathLst>
              <a:path h="2226841" w="3892888">
                <a:moveTo>
                  <a:pt x="0" y="0"/>
                </a:moveTo>
                <a:lnTo>
                  <a:pt x="3892888" y="0"/>
                </a:lnTo>
                <a:lnTo>
                  <a:pt x="3892888" y="2226841"/>
                </a:lnTo>
                <a:lnTo>
                  <a:pt x="0" y="22268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5309340" y="3841053"/>
            <a:ext cx="2326913" cy="98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ctr">
              <a:lnSpc>
                <a:spcPts val="3993"/>
              </a:lnSpc>
            </a:pPr>
            <a:r xmlns:a="http://schemas.openxmlformats.org/drawingml/2006/main">
              <a:rPr lang="en" sz="285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FREE</a:t>
            </a:r>
          </a:p>
          <a:p>
            <a:pPr xmlns:a="http://schemas.openxmlformats.org/drawingml/2006/main" algn="ctr">
              <a:lnSpc>
                <a:spcPts val="3993"/>
              </a:lnSpc>
            </a:pPr>
            <a:r xmlns:a="http://schemas.openxmlformats.org/drawingml/2006/main">
              <a:rPr lang="en" sz="285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CASH REGISTER!!!!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88402" y="2082320"/>
            <a:ext cx="15511196" cy="823608"/>
            <a:chOff x="0" y="0"/>
            <a:chExt cx="20681594" cy="10981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681598" cy="1098138"/>
            </a:xfrm>
            <a:custGeom>
              <a:avLst/>
              <a:gdLst/>
              <a:ahLst/>
              <a:cxnLst/>
              <a:rect r="r" b="b" t="t" l="l"/>
              <a:pathLst>
                <a:path h="1098138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16967" r="0" b="-31696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0681594" cy="1098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3242"/>
                </a:lnSpc>
              </a:pPr>
              <a:r xmlns:a="http://schemas.openxmlformats.org/drawingml/2006/main">
                <a:rPr lang="en" sz="27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 critical section is a local door. A mutex is a door that can be shared between different processes.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3086100"/>
            <a:chOff x="0" y="0"/>
            <a:chExt cx="4816593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816593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451022" y="-4729397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851369" y="-3442596"/>
            <a:ext cx="6709932" cy="6885191"/>
          </a:xfrm>
          <a:custGeom>
            <a:avLst/>
            <a:gdLst/>
            <a:ahLst/>
            <a:cxnLst/>
            <a:rect r="r" b="b" t="t" l="l"/>
            <a:pathLst>
              <a:path h="6885191" w="6709932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03597" y="3136200"/>
            <a:ext cx="12323363" cy="2007300"/>
            <a:chOff x="0" y="0"/>
            <a:chExt cx="2379842" cy="3876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79842" cy="387642"/>
            </a:xfrm>
            <a:custGeom>
              <a:avLst/>
              <a:gdLst/>
              <a:ahLst/>
              <a:cxnLst/>
              <a:rect r="r" b="b" t="t" l="l"/>
              <a:pathLst>
                <a:path h="387642" w="2379842">
                  <a:moveTo>
                    <a:pt x="0" y="0"/>
                  </a:moveTo>
                  <a:lnTo>
                    <a:pt x="2379842" y="0"/>
                  </a:lnTo>
                  <a:lnTo>
                    <a:pt x="2379842" y="387642"/>
                  </a:lnTo>
                  <a:lnTo>
                    <a:pt x="0" y="387642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379842" cy="406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03597" y="5300350"/>
            <a:ext cx="11697307" cy="2147662"/>
            <a:chOff x="0" y="0"/>
            <a:chExt cx="2258940" cy="4147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58940" cy="414749"/>
            </a:xfrm>
            <a:custGeom>
              <a:avLst/>
              <a:gdLst/>
              <a:ahLst/>
              <a:cxnLst/>
              <a:rect r="r" b="b" t="t" l="l"/>
              <a:pathLst>
                <a:path h="414749" w="2258940">
                  <a:moveTo>
                    <a:pt x="0" y="0"/>
                  </a:moveTo>
                  <a:lnTo>
                    <a:pt x="2258940" y="0"/>
                  </a:lnTo>
                  <a:lnTo>
                    <a:pt x="2258940" y="414749"/>
                  </a:lnTo>
                  <a:lnTo>
                    <a:pt x="0" y="414749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258940" cy="433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636050" y="-560032"/>
            <a:ext cx="6623250" cy="14360143"/>
          </a:xfrm>
          <a:custGeom>
            <a:avLst/>
            <a:gdLst/>
            <a:ahLst/>
            <a:cxnLst/>
            <a:rect r="r" b="b" t="t" l="l"/>
            <a:pathLst>
              <a:path h="14360143" w="6623250">
                <a:moveTo>
                  <a:pt x="0" y="0"/>
                </a:moveTo>
                <a:lnTo>
                  <a:pt x="6623250" y="0"/>
                </a:lnTo>
                <a:lnTo>
                  <a:pt x="6623250" y="14360142"/>
                </a:lnTo>
                <a:lnTo>
                  <a:pt x="0" y="14360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965037" y="3086100"/>
            <a:ext cx="3429289" cy="1961649"/>
          </a:xfrm>
          <a:custGeom>
            <a:avLst/>
            <a:gdLst/>
            <a:ahLst/>
            <a:cxnLst/>
            <a:rect r="r" b="b" t="t" l="l"/>
            <a:pathLst>
              <a:path h="1961649" w="3429289">
                <a:moveTo>
                  <a:pt x="0" y="0"/>
                </a:moveTo>
                <a:lnTo>
                  <a:pt x="3429289" y="0"/>
                </a:lnTo>
                <a:lnTo>
                  <a:pt x="3429289" y="1961649"/>
                </a:lnTo>
                <a:lnTo>
                  <a:pt x="0" y="19616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163000" y="1098951"/>
            <a:ext cx="13661632" cy="134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ctr">
              <a:lnSpc>
                <a:spcPts val="11082"/>
              </a:lnSpc>
            </a:pPr>
            <a:r xmlns:a="http://schemas.openxmlformats.org/drawingml/2006/main">
              <a:rPr lang="en" b="true" sz="8030" spc="78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SEMAPHORE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8728" y="3289520"/>
            <a:ext cx="11344810" cy="204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l" marL="427768" indent="-213884" lvl="1">
              <a:lnSpc>
                <a:spcPts val="2734"/>
              </a:lnSpc>
              <a:buFont typeface="Arial"/>
              <a:buChar char="•"/>
            </a:pPr>
            <a:r xmlns:a="http://schemas.openxmlformats.org/drawingml/2006/main">
              <a:rPr lang="en" sz="1981" spc="194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A semaphore is a synchronization primitive used to control access to a limited number of resources or to coordinate actions between threads or processes. A semaphore allows multiple threads or processes to simultaneously access a resource but limits the number of resources they can access.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2406" y="5557264"/>
            <a:ext cx="11021448" cy="170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l" marL="427768" indent="-213884" lvl="1">
              <a:lnSpc>
                <a:spcPts val="2734"/>
              </a:lnSpc>
              <a:buFont typeface="Arial"/>
              <a:buChar char="•"/>
            </a:pPr>
            <a:r xmlns:a="http://schemas.openxmlformats.org/drawingml/2006/main">
              <a:rPr lang="en" sz="1981" spc="194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Main functions</a:t>
            </a:r>
          </a:p>
          <a:p>
            <a:pPr xmlns:a="http://schemas.openxmlformats.org/drawingml/2006/main" algn="l" marL="427768" indent="-213884" lvl="1">
              <a:lnSpc>
                <a:spcPts val="2734"/>
              </a:lnSpc>
              <a:buFont typeface="Arial"/>
              <a:buChar char="•"/>
            </a:pPr>
            <a:r xmlns:a="http://schemas.openxmlformats.org/drawingml/2006/main">
              <a:rPr lang="en" sz="1981" spc="194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Count:</a:t>
            </a:r>
          </a:p>
          <a:p>
            <a:pPr xmlns:a="http://schemas.openxmlformats.org/drawingml/2006/main" algn="l" marL="427768" indent="-213884" lvl="1">
              <a:lnSpc>
                <a:spcPts val="2734"/>
              </a:lnSpc>
              <a:buFont typeface="Arial"/>
              <a:buChar char="•"/>
            </a:pPr>
            <a:r xmlns:a="http://schemas.openxmlformats.org/drawingml/2006/main">
              <a:rPr lang="en" sz="1981" spc="194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Capture and liberation</a:t>
            </a:r>
          </a:p>
          <a:p>
            <a:pPr xmlns:a="http://schemas.openxmlformats.org/drawingml/2006/main" algn="l" marL="427768" indent="-213884" lvl="1">
              <a:lnSpc>
                <a:spcPts val="2734"/>
              </a:lnSpc>
              <a:buFont typeface="Arial"/>
              <a:buChar char="•"/>
            </a:pPr>
            <a:r xmlns:a="http://schemas.openxmlformats.org/drawingml/2006/main">
              <a:rPr lang="en" sz="1981" spc="194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Semaphores can be binary or counting:</a:t>
            </a:r>
          </a:p>
          <a:p>
            <a:pPr xmlns:a="http://schemas.openxmlformats.org/drawingml/2006/main" algn="l">
              <a:lnSpc>
                <a:spcPts val="2734"/>
              </a:lnSpc>
            </a:pPr>
            <a:r xmlns:a="http://schemas.openxmlformats.org/drawingml/2006/main">
              <a:rPr lang="en" sz="1981" spc="194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Processor synchronization: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80133" y="7446815"/>
            <a:ext cx="13661632" cy="134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ctr">
              <a:lnSpc>
                <a:spcPts val="11082"/>
              </a:lnSpc>
            </a:pPr>
            <a:r xmlns:a="http://schemas.openxmlformats.org/drawingml/2006/main">
              <a:rPr lang="en" b="true" sz="8030" spc="78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SECURITY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512710" y="3419912"/>
            <a:ext cx="2550503" cy="1246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ctr">
              <a:lnSpc>
                <a:spcPts val="3318"/>
              </a:lnSpc>
            </a:pPr>
            <a:r xmlns:a="http://schemas.openxmlformats.org/drawingml/2006/main">
              <a:rPr lang="en" sz="237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I'LL LET YOU INTO THE BAR</a:t>
            </a:r>
          </a:p>
          <a:p>
            <a:pPr xmlns:a="http://schemas.openxmlformats.org/drawingml/2006/main" algn="ctr">
              <a:lnSpc>
                <a:spcPts val="3318"/>
              </a:lnSpc>
            </a:pPr>
            <a:r xmlns:a="http://schemas.openxmlformats.org/drawingml/2006/main">
              <a:rPr lang="en" sz="237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FIRST FIVE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03597" y="7580165"/>
            <a:ext cx="10856399" cy="2147662"/>
            <a:chOff x="0" y="0"/>
            <a:chExt cx="2096547" cy="41474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96547" cy="414749"/>
            </a:xfrm>
            <a:custGeom>
              <a:avLst/>
              <a:gdLst/>
              <a:ahLst/>
              <a:cxnLst/>
              <a:rect r="r" b="b" t="t" l="l"/>
              <a:pathLst>
                <a:path h="414749" w="2096547">
                  <a:moveTo>
                    <a:pt x="0" y="0"/>
                  </a:moveTo>
                  <a:lnTo>
                    <a:pt x="2096547" y="0"/>
                  </a:lnTo>
                  <a:lnTo>
                    <a:pt x="2096547" y="414749"/>
                  </a:lnTo>
                  <a:lnTo>
                    <a:pt x="0" y="414749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2096547" cy="433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778728" y="7609843"/>
            <a:ext cx="10446520" cy="1707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l">
              <a:lnSpc>
                <a:spcPts val="2734"/>
              </a:lnSpc>
            </a:pPr>
            <a:r xmlns:a="http://schemas.openxmlformats.org/drawingml/2006/main">
              <a:rPr lang="en" sz="1981" spc="194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FUNCTIONS</a:t>
            </a:r>
          </a:p>
          <a:p>
            <a:pPr xmlns:a="http://schemas.openxmlformats.org/drawingml/2006/main" algn="l">
              <a:lnSpc>
                <a:spcPts val="2734"/>
              </a:lnSpc>
            </a:pPr>
            <a:r xmlns:a="http://schemas.openxmlformats.org/drawingml/2006/main">
              <a:rPr lang="en" sz="1981" spc="194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CreateSemaphore / CreateSemaphoreEx - create a semaphore</a:t>
            </a:r>
          </a:p>
          <a:p>
            <a:pPr xmlns:a="http://schemas.openxmlformats.org/drawingml/2006/main" algn="l">
              <a:lnSpc>
                <a:spcPts val="2734"/>
              </a:lnSpc>
            </a:pPr>
            <a:r xmlns:a="http://schemas.openxmlformats.org/drawingml/2006/main">
              <a:rPr lang="en" sz="1981" spc="194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ReleaseSemaphore - release a semaphore by incrementing its value</a:t>
            </a:r>
          </a:p>
          <a:p>
            <a:pPr xmlns:a="http://schemas.openxmlformats.org/drawingml/2006/main" algn="l">
              <a:lnSpc>
                <a:spcPts val="2734"/>
              </a:lnSpc>
            </a:pPr>
            <a:r xmlns:a="http://schemas.openxmlformats.org/drawingml/2006/main">
              <a:rPr lang="en" sz="1981" spc="194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WaitForSingleObject - acquire a semaphore</a:t>
            </a:r>
          </a:p>
          <a:p>
            <a:pPr xmlns:a="http://schemas.openxmlformats.org/drawingml/2006/main" algn="l">
              <a:lnSpc>
                <a:spcPts val="2734"/>
              </a:lnSpc>
            </a:pPr>
            <a:r xmlns:a="http://schemas.openxmlformats.org/drawingml/2006/main">
              <a:rPr lang="en" sz="1981" spc="194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OpenSemaphore - open an existing semaphore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B10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872" y="576520"/>
            <a:ext cx="16060264" cy="823608"/>
            <a:chOff x="0" y="0"/>
            <a:chExt cx="21413686" cy="1098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13690" cy="1098138"/>
            </a:xfrm>
            <a:custGeom>
              <a:avLst/>
              <a:gdLst/>
              <a:ahLst/>
              <a:cxnLst/>
              <a:rect r="r" b="b" t="t" l="l"/>
              <a:pathLst>
                <a:path h="1098138" w="21413690">
                  <a:moveTo>
                    <a:pt x="0" y="0"/>
                  </a:moveTo>
                  <a:lnTo>
                    <a:pt x="21413690" y="0"/>
                  </a:lnTo>
                  <a:lnTo>
                    <a:pt x="21413690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9957" r="0" b="-32995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413686" cy="1098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5043"/>
                </a:lnSpc>
              </a:pPr>
              <a:r xmlns:a="http://schemas.openxmlformats.org/drawingml/2006/main">
                <a:rPr lang="en" sz="4203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Semaphore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872" y="1482490"/>
            <a:ext cx="960872" cy="61770"/>
            <a:chOff x="0" y="0"/>
            <a:chExt cx="1281163" cy="82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1176" cy="82423"/>
            </a:xfrm>
            <a:custGeom>
              <a:avLst/>
              <a:gdLst/>
              <a:ahLst/>
              <a:cxnLst/>
              <a:rect r="r" b="b" t="t" l="l"/>
              <a:pathLst>
                <a:path h="82423" w="1281176">
                  <a:moveTo>
                    <a:pt x="0" y="0"/>
                  </a:moveTo>
                  <a:lnTo>
                    <a:pt x="1281176" y="0"/>
                  </a:lnTo>
                  <a:lnTo>
                    <a:pt x="1281176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34D3E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0872" y="1592304"/>
            <a:ext cx="16334804" cy="617706"/>
            <a:chOff x="0" y="0"/>
            <a:chExt cx="21779738" cy="8236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79736" cy="823603"/>
            </a:xfrm>
            <a:custGeom>
              <a:avLst/>
              <a:gdLst/>
              <a:ahLst/>
              <a:cxnLst/>
              <a:rect r="r" b="b" t="t" l="l"/>
              <a:pathLst>
                <a:path h="823603" w="21779736">
                  <a:moveTo>
                    <a:pt x="0" y="0"/>
                  </a:moveTo>
                  <a:lnTo>
                    <a:pt x="21779736" y="0"/>
                  </a:lnTo>
                  <a:lnTo>
                    <a:pt x="2177973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5270" r="0" b="-46527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177973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2161"/>
                </a:lnSpc>
              </a:pPr>
              <a:r xmlns:a="http://schemas.openxmlformats.org/drawingml/2006/main">
                <a:rPr lang="en" sz="1801">
                  <a:solidFill>
                    <a:srgbClr val="AAB7CA"/>
                  </a:solidFill>
                  <a:latin typeface="Aptos"/>
                  <a:ea typeface="Aptos"/>
                  <a:cs typeface="Aptos"/>
                  <a:sym typeface="Aptos"/>
                </a:rPr>
                <a:t>Permission counter, not just "closed/open"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66774" y="2333539"/>
            <a:ext cx="15923000" cy="617706"/>
            <a:chOff x="0" y="0"/>
            <a:chExt cx="21230666" cy="8236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230667" cy="823603"/>
            </a:xfrm>
            <a:custGeom>
              <a:avLst/>
              <a:gdLst/>
              <a:ahLst/>
              <a:cxnLst/>
              <a:rect r="r" b="b" t="t" l="l"/>
              <a:pathLst>
                <a:path h="823603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2280" r="0" b="-45228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21230666" cy="8140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3963"/>
                </a:lnSpc>
              </a:pPr>
              <a:r xmlns:a="http://schemas.openxmlformats.org/drawingml/2006/main">
                <a:rPr lang="en" sz="33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Imagine a 3-space parking lot.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822423" y="3488874"/>
            <a:ext cx="1738722" cy="1464183"/>
            <a:chOff x="0" y="0"/>
            <a:chExt cx="2318296" cy="19522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18258" cy="1952244"/>
            </a:xfrm>
            <a:custGeom>
              <a:avLst/>
              <a:gdLst/>
              <a:ahLst/>
              <a:cxnLst/>
              <a:rect r="r" b="b" t="t" l="l"/>
              <a:pathLst>
                <a:path h="1952244" w="2318258">
                  <a:moveTo>
                    <a:pt x="0" y="325374"/>
                  </a:moveTo>
                  <a:cubicBezTo>
                    <a:pt x="0" y="145669"/>
                    <a:pt x="145669" y="0"/>
                    <a:pt x="325374" y="0"/>
                  </a:cubicBezTo>
                  <a:lnTo>
                    <a:pt x="1992884" y="0"/>
                  </a:lnTo>
                  <a:cubicBezTo>
                    <a:pt x="2172589" y="0"/>
                    <a:pt x="2318258" y="145669"/>
                    <a:pt x="2318258" y="325374"/>
                  </a:cubicBezTo>
                  <a:lnTo>
                    <a:pt x="2318258" y="1626870"/>
                  </a:lnTo>
                  <a:cubicBezTo>
                    <a:pt x="2318258" y="1806575"/>
                    <a:pt x="2172589" y="1952244"/>
                    <a:pt x="1992884" y="1952244"/>
                  </a:cubicBezTo>
                  <a:lnTo>
                    <a:pt x="325374" y="1952244"/>
                  </a:lnTo>
                  <a:cubicBezTo>
                    <a:pt x="145669" y="1952244"/>
                    <a:pt x="0" y="1806575"/>
                    <a:pt x="0" y="1626870"/>
                  </a:cubicBezTo>
                  <a:close/>
                </a:path>
              </a:pathLst>
            </a:custGeom>
            <a:solidFill>
              <a:srgbClr val="123740"/>
            </a:solidFill>
            <a:ln w="22878" cap="sq">
              <a:solidFill>
                <a:srgbClr val="34D3E1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5833853" y="3500314"/>
            <a:ext cx="1715843" cy="1441304"/>
            <a:chOff x="0" y="0"/>
            <a:chExt cx="2287791" cy="19217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87787" cy="1921741"/>
            </a:xfrm>
            <a:custGeom>
              <a:avLst/>
              <a:gdLst/>
              <a:ahLst/>
              <a:cxnLst/>
              <a:rect r="r" b="b" t="t" l="l"/>
              <a:pathLst>
                <a:path h="1921741" w="2287787">
                  <a:moveTo>
                    <a:pt x="0" y="0"/>
                  </a:moveTo>
                  <a:lnTo>
                    <a:pt x="2287787" y="0"/>
                  </a:lnTo>
                  <a:lnTo>
                    <a:pt x="2287787" y="1921741"/>
                  </a:lnTo>
                  <a:lnTo>
                    <a:pt x="0" y="19217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7774" t="0" r="-57774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287791" cy="19217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4323"/>
                </a:lnSpc>
              </a:pPr>
              <a:r xmlns:a="http://schemas.openxmlformats.org/drawingml/2006/main">
                <a:rPr lang="en" sz="3602" b="true">
                  <a:solidFill>
                    <a:srgbClr val="34D3E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950060" y="3488874"/>
            <a:ext cx="1738722" cy="1464183"/>
            <a:chOff x="0" y="0"/>
            <a:chExt cx="2318296" cy="19522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18258" cy="1952244"/>
            </a:xfrm>
            <a:custGeom>
              <a:avLst/>
              <a:gdLst/>
              <a:ahLst/>
              <a:cxnLst/>
              <a:rect r="r" b="b" t="t" l="l"/>
              <a:pathLst>
                <a:path h="1952244" w="2318258">
                  <a:moveTo>
                    <a:pt x="0" y="325374"/>
                  </a:moveTo>
                  <a:cubicBezTo>
                    <a:pt x="0" y="145669"/>
                    <a:pt x="145669" y="0"/>
                    <a:pt x="325374" y="0"/>
                  </a:cubicBezTo>
                  <a:lnTo>
                    <a:pt x="1992884" y="0"/>
                  </a:lnTo>
                  <a:cubicBezTo>
                    <a:pt x="2172589" y="0"/>
                    <a:pt x="2318258" y="145669"/>
                    <a:pt x="2318258" y="325374"/>
                  </a:cubicBezTo>
                  <a:lnTo>
                    <a:pt x="2318258" y="1626870"/>
                  </a:lnTo>
                  <a:cubicBezTo>
                    <a:pt x="2318258" y="1806575"/>
                    <a:pt x="2172589" y="1952244"/>
                    <a:pt x="1992884" y="1952244"/>
                  </a:cubicBezTo>
                  <a:lnTo>
                    <a:pt x="325374" y="1952244"/>
                  </a:lnTo>
                  <a:cubicBezTo>
                    <a:pt x="145669" y="1952244"/>
                    <a:pt x="0" y="1806575"/>
                    <a:pt x="0" y="1626870"/>
                  </a:cubicBezTo>
                  <a:close/>
                </a:path>
              </a:pathLst>
            </a:custGeom>
            <a:solidFill>
              <a:srgbClr val="123740"/>
            </a:solidFill>
            <a:ln w="22878" cap="sq">
              <a:solidFill>
                <a:srgbClr val="34D3E1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7961500" y="3500314"/>
            <a:ext cx="1715843" cy="1441304"/>
            <a:chOff x="0" y="0"/>
            <a:chExt cx="2287791" cy="192173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87787" cy="1921741"/>
            </a:xfrm>
            <a:custGeom>
              <a:avLst/>
              <a:gdLst/>
              <a:ahLst/>
              <a:cxnLst/>
              <a:rect r="r" b="b" t="t" l="l"/>
              <a:pathLst>
                <a:path h="1921741" w="2287787">
                  <a:moveTo>
                    <a:pt x="0" y="0"/>
                  </a:moveTo>
                  <a:lnTo>
                    <a:pt x="2287787" y="0"/>
                  </a:lnTo>
                  <a:lnTo>
                    <a:pt x="2287787" y="1921741"/>
                  </a:lnTo>
                  <a:lnTo>
                    <a:pt x="0" y="19217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7774" t="0" r="-57774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2287791" cy="19217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4323"/>
                </a:lnSpc>
              </a:pPr>
              <a:r xmlns:a="http://schemas.openxmlformats.org/drawingml/2006/main">
                <a:rPr lang="en" sz="3602" b="true">
                  <a:solidFill>
                    <a:srgbClr val="34D3E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077707" y="3488874"/>
            <a:ext cx="1738722" cy="1464183"/>
            <a:chOff x="0" y="0"/>
            <a:chExt cx="2318296" cy="19522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18258" cy="1952244"/>
            </a:xfrm>
            <a:custGeom>
              <a:avLst/>
              <a:gdLst/>
              <a:ahLst/>
              <a:cxnLst/>
              <a:rect r="r" b="b" t="t" l="l"/>
              <a:pathLst>
                <a:path h="1952244" w="2318258">
                  <a:moveTo>
                    <a:pt x="0" y="325374"/>
                  </a:moveTo>
                  <a:cubicBezTo>
                    <a:pt x="0" y="145669"/>
                    <a:pt x="145669" y="0"/>
                    <a:pt x="325374" y="0"/>
                  </a:cubicBezTo>
                  <a:lnTo>
                    <a:pt x="1992884" y="0"/>
                  </a:lnTo>
                  <a:cubicBezTo>
                    <a:pt x="2172589" y="0"/>
                    <a:pt x="2318258" y="145669"/>
                    <a:pt x="2318258" y="325374"/>
                  </a:cubicBezTo>
                  <a:lnTo>
                    <a:pt x="2318258" y="1626870"/>
                  </a:lnTo>
                  <a:cubicBezTo>
                    <a:pt x="2318258" y="1806575"/>
                    <a:pt x="2172589" y="1952244"/>
                    <a:pt x="1992884" y="1952244"/>
                  </a:cubicBezTo>
                  <a:lnTo>
                    <a:pt x="325374" y="1952244"/>
                  </a:lnTo>
                  <a:cubicBezTo>
                    <a:pt x="145669" y="1952244"/>
                    <a:pt x="0" y="1806575"/>
                    <a:pt x="0" y="1626870"/>
                  </a:cubicBezTo>
                  <a:close/>
                </a:path>
              </a:pathLst>
            </a:custGeom>
            <a:solidFill>
              <a:srgbClr val="123740"/>
            </a:solidFill>
            <a:ln w="22878" cap="sq">
              <a:solidFill>
                <a:srgbClr val="34D3E1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0089147" y="3500314"/>
            <a:ext cx="1715843" cy="1441304"/>
            <a:chOff x="0" y="0"/>
            <a:chExt cx="2287791" cy="192173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87787" cy="1921741"/>
            </a:xfrm>
            <a:custGeom>
              <a:avLst/>
              <a:gdLst/>
              <a:ahLst/>
              <a:cxnLst/>
              <a:rect r="r" b="b" t="t" l="l"/>
              <a:pathLst>
                <a:path h="1921741" w="2287787">
                  <a:moveTo>
                    <a:pt x="0" y="0"/>
                  </a:moveTo>
                  <a:lnTo>
                    <a:pt x="2287787" y="0"/>
                  </a:lnTo>
                  <a:lnTo>
                    <a:pt x="2287787" y="1921741"/>
                  </a:lnTo>
                  <a:lnTo>
                    <a:pt x="0" y="19217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7774" t="0" r="-57774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2287791" cy="19217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4323"/>
                </a:lnSpc>
              </a:pPr>
              <a:r xmlns:a="http://schemas.openxmlformats.org/drawingml/2006/main">
                <a:rPr lang="en" sz="3602" b="true">
                  <a:solidFill>
                    <a:srgbClr val="34D3E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008443" y="6096953"/>
            <a:ext cx="1807350" cy="873938"/>
            <a:chOff x="0" y="0"/>
            <a:chExt cx="2409800" cy="11652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09825" cy="1165225"/>
            </a:xfrm>
            <a:custGeom>
              <a:avLst/>
              <a:gdLst/>
              <a:ahLst/>
              <a:cxnLst/>
              <a:rect r="r" b="b" t="t" l="l"/>
              <a:pathLst>
                <a:path h="1165225" w="2409825">
                  <a:moveTo>
                    <a:pt x="0" y="194183"/>
                  </a:moveTo>
                  <a:cubicBezTo>
                    <a:pt x="0" y="86995"/>
                    <a:pt x="86995" y="0"/>
                    <a:pt x="194183" y="0"/>
                  </a:cubicBezTo>
                  <a:lnTo>
                    <a:pt x="2215642" y="0"/>
                  </a:lnTo>
                  <a:cubicBezTo>
                    <a:pt x="2322957" y="0"/>
                    <a:pt x="2409825" y="86995"/>
                    <a:pt x="2409825" y="194183"/>
                  </a:cubicBezTo>
                  <a:lnTo>
                    <a:pt x="2409825" y="971042"/>
                  </a:lnTo>
                  <a:cubicBezTo>
                    <a:pt x="2409825" y="1078357"/>
                    <a:pt x="2322830" y="1165225"/>
                    <a:pt x="2215642" y="1165225"/>
                  </a:cubicBezTo>
                  <a:lnTo>
                    <a:pt x="194183" y="1165225"/>
                  </a:lnTo>
                  <a:cubicBezTo>
                    <a:pt x="86995" y="1165225"/>
                    <a:pt x="0" y="1078357"/>
                    <a:pt x="0" y="971042"/>
                  </a:cubicBezTo>
                  <a:close/>
                </a:path>
              </a:pathLst>
            </a:custGeom>
            <a:solidFill>
              <a:srgbClr val="1F2A3E"/>
            </a:solidFill>
            <a:ln w="22878" cap="sq">
              <a:solidFill>
                <a:srgbClr val="60A5FA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3019882" y="6108392"/>
            <a:ext cx="1784471" cy="851059"/>
            <a:chOff x="0" y="0"/>
            <a:chExt cx="2379294" cy="113474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379299" cy="1134743"/>
            </a:xfrm>
            <a:custGeom>
              <a:avLst/>
              <a:gdLst/>
              <a:ahLst/>
              <a:cxnLst/>
              <a:rect r="r" b="b" t="t" l="l"/>
              <a:pathLst>
                <a:path h="1134743" w="2379299">
                  <a:moveTo>
                    <a:pt x="0" y="0"/>
                  </a:moveTo>
                  <a:lnTo>
                    <a:pt x="2379299" y="0"/>
                  </a:lnTo>
                  <a:lnTo>
                    <a:pt x="2379299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191" t="0" r="-1119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2379294" cy="1134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2882"/>
                </a:lnSpc>
              </a:pPr>
              <a:r xmlns:a="http://schemas.openxmlformats.org/drawingml/2006/main">
                <a:rPr lang="en" sz="24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T1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 rot="-818280">
            <a:off x="3838651" y="5549798"/>
            <a:ext cx="4196305" cy="0"/>
          </a:xfrm>
          <a:prstGeom prst="line">
            <a:avLst/>
          </a:prstGeom>
          <a:ln cap="rnd" w="19050">
            <a:solidFill>
              <a:srgbClr val="60A5F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5959688" y="6096953"/>
            <a:ext cx="1807350" cy="873938"/>
            <a:chOff x="0" y="0"/>
            <a:chExt cx="2409800" cy="11652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09825" cy="1165225"/>
            </a:xfrm>
            <a:custGeom>
              <a:avLst/>
              <a:gdLst/>
              <a:ahLst/>
              <a:cxnLst/>
              <a:rect r="r" b="b" t="t" l="l"/>
              <a:pathLst>
                <a:path h="1165225" w="2409825">
                  <a:moveTo>
                    <a:pt x="0" y="194183"/>
                  </a:moveTo>
                  <a:cubicBezTo>
                    <a:pt x="0" y="86995"/>
                    <a:pt x="86995" y="0"/>
                    <a:pt x="194183" y="0"/>
                  </a:cubicBezTo>
                  <a:lnTo>
                    <a:pt x="2215642" y="0"/>
                  </a:lnTo>
                  <a:cubicBezTo>
                    <a:pt x="2322957" y="0"/>
                    <a:pt x="2409825" y="86995"/>
                    <a:pt x="2409825" y="194183"/>
                  </a:cubicBezTo>
                  <a:lnTo>
                    <a:pt x="2409825" y="971042"/>
                  </a:lnTo>
                  <a:cubicBezTo>
                    <a:pt x="2409825" y="1078357"/>
                    <a:pt x="2322830" y="1165225"/>
                    <a:pt x="2215642" y="1165225"/>
                  </a:cubicBezTo>
                  <a:lnTo>
                    <a:pt x="194183" y="1165225"/>
                  </a:lnTo>
                  <a:cubicBezTo>
                    <a:pt x="86995" y="1165225"/>
                    <a:pt x="0" y="1078357"/>
                    <a:pt x="0" y="971042"/>
                  </a:cubicBezTo>
                  <a:close/>
                </a:path>
              </a:pathLst>
            </a:custGeom>
            <a:solidFill>
              <a:srgbClr val="1F2A3E"/>
            </a:solidFill>
            <a:ln w="22878" cap="sq">
              <a:solidFill>
                <a:srgbClr val="A78BFA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5971127" y="6108392"/>
            <a:ext cx="1784471" cy="851059"/>
            <a:chOff x="0" y="0"/>
            <a:chExt cx="2379294" cy="113474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379299" cy="1134743"/>
            </a:xfrm>
            <a:custGeom>
              <a:avLst/>
              <a:gdLst/>
              <a:ahLst/>
              <a:cxnLst/>
              <a:rect r="r" b="b" t="t" l="l"/>
              <a:pathLst>
                <a:path h="1134743" w="2379299">
                  <a:moveTo>
                    <a:pt x="0" y="0"/>
                  </a:moveTo>
                  <a:lnTo>
                    <a:pt x="2379299" y="0"/>
                  </a:lnTo>
                  <a:lnTo>
                    <a:pt x="2379299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191" t="0" r="-1119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2379294" cy="1134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2882"/>
                </a:lnSpc>
              </a:pPr>
              <a:r xmlns:a="http://schemas.openxmlformats.org/drawingml/2006/main">
                <a:rPr lang="en" sz="24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T2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 rot="-2477340">
            <a:off x="6662671" y="5549798"/>
            <a:ext cx="1499530" cy="0"/>
          </a:xfrm>
          <a:prstGeom prst="line">
            <a:avLst/>
          </a:prstGeom>
          <a:ln cap="rnd" w="19050">
            <a:solidFill>
              <a:srgbClr val="A78BF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8910933" y="6096953"/>
            <a:ext cx="1807350" cy="873938"/>
            <a:chOff x="0" y="0"/>
            <a:chExt cx="2409800" cy="11652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409825" cy="1165225"/>
            </a:xfrm>
            <a:custGeom>
              <a:avLst/>
              <a:gdLst/>
              <a:ahLst/>
              <a:cxnLst/>
              <a:rect r="r" b="b" t="t" l="l"/>
              <a:pathLst>
                <a:path h="1165225" w="2409825">
                  <a:moveTo>
                    <a:pt x="0" y="194183"/>
                  </a:moveTo>
                  <a:cubicBezTo>
                    <a:pt x="0" y="86995"/>
                    <a:pt x="86995" y="0"/>
                    <a:pt x="194183" y="0"/>
                  </a:cubicBezTo>
                  <a:lnTo>
                    <a:pt x="2215642" y="0"/>
                  </a:lnTo>
                  <a:cubicBezTo>
                    <a:pt x="2322957" y="0"/>
                    <a:pt x="2409825" y="86995"/>
                    <a:pt x="2409825" y="194183"/>
                  </a:cubicBezTo>
                  <a:lnTo>
                    <a:pt x="2409825" y="971042"/>
                  </a:lnTo>
                  <a:cubicBezTo>
                    <a:pt x="2409825" y="1078357"/>
                    <a:pt x="2322830" y="1165225"/>
                    <a:pt x="2215642" y="1165225"/>
                  </a:cubicBezTo>
                  <a:lnTo>
                    <a:pt x="194183" y="1165225"/>
                  </a:lnTo>
                  <a:cubicBezTo>
                    <a:pt x="86995" y="1165225"/>
                    <a:pt x="0" y="1078357"/>
                    <a:pt x="0" y="971042"/>
                  </a:cubicBezTo>
                  <a:close/>
                </a:path>
              </a:pathLst>
            </a:custGeom>
            <a:solidFill>
              <a:srgbClr val="1F2A3E"/>
            </a:solidFill>
            <a:ln w="22878" cap="sq">
              <a:solidFill>
                <a:srgbClr val="4ADE80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8922372" y="6108392"/>
            <a:ext cx="1784471" cy="851059"/>
            <a:chOff x="0" y="0"/>
            <a:chExt cx="2379294" cy="113474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379299" cy="1134743"/>
            </a:xfrm>
            <a:custGeom>
              <a:avLst/>
              <a:gdLst/>
              <a:ahLst/>
              <a:cxnLst/>
              <a:rect r="r" b="b" t="t" l="l"/>
              <a:pathLst>
                <a:path h="1134743" w="2379299">
                  <a:moveTo>
                    <a:pt x="0" y="0"/>
                  </a:moveTo>
                  <a:lnTo>
                    <a:pt x="2379299" y="0"/>
                  </a:lnTo>
                  <a:lnTo>
                    <a:pt x="2379299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191" t="0" r="-1119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2379294" cy="1134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2882"/>
                </a:lnSpc>
              </a:pPr>
              <a:r xmlns:a="http://schemas.openxmlformats.org/drawingml/2006/main">
                <a:rPr lang="en" sz="24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T3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 rot="-9135780">
            <a:off x="7825054" y="5549798"/>
            <a:ext cx="2125999" cy="0"/>
          </a:xfrm>
          <a:prstGeom prst="line">
            <a:avLst/>
          </a:prstGeom>
          <a:ln cap="rnd" w="19050">
            <a:solidFill>
              <a:srgbClr val="4ADE8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11862178" y="6096953"/>
            <a:ext cx="1807350" cy="873938"/>
            <a:chOff x="0" y="0"/>
            <a:chExt cx="2409800" cy="11652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409825" cy="1165225"/>
            </a:xfrm>
            <a:custGeom>
              <a:avLst/>
              <a:gdLst/>
              <a:ahLst/>
              <a:cxnLst/>
              <a:rect r="r" b="b" t="t" l="l"/>
              <a:pathLst>
                <a:path h="1165225" w="2409825">
                  <a:moveTo>
                    <a:pt x="0" y="194183"/>
                  </a:moveTo>
                  <a:cubicBezTo>
                    <a:pt x="0" y="86995"/>
                    <a:pt x="86995" y="0"/>
                    <a:pt x="194183" y="0"/>
                  </a:cubicBezTo>
                  <a:lnTo>
                    <a:pt x="2215642" y="0"/>
                  </a:lnTo>
                  <a:cubicBezTo>
                    <a:pt x="2322957" y="0"/>
                    <a:pt x="2409825" y="86995"/>
                    <a:pt x="2409825" y="194183"/>
                  </a:cubicBezTo>
                  <a:lnTo>
                    <a:pt x="2409825" y="971042"/>
                  </a:lnTo>
                  <a:cubicBezTo>
                    <a:pt x="2409825" y="1078357"/>
                    <a:pt x="2322830" y="1165225"/>
                    <a:pt x="2215642" y="1165225"/>
                  </a:cubicBezTo>
                  <a:lnTo>
                    <a:pt x="194183" y="1165225"/>
                  </a:lnTo>
                  <a:cubicBezTo>
                    <a:pt x="86995" y="1165225"/>
                    <a:pt x="0" y="1078357"/>
                    <a:pt x="0" y="971042"/>
                  </a:cubicBezTo>
                  <a:close/>
                </a:path>
              </a:pathLst>
            </a:custGeom>
            <a:solidFill>
              <a:srgbClr val="1F2A3E"/>
            </a:solidFill>
            <a:ln w="22878" cap="sq">
              <a:solidFill>
                <a:srgbClr val="F87171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1873617" y="6108392"/>
            <a:ext cx="1784471" cy="851059"/>
            <a:chOff x="0" y="0"/>
            <a:chExt cx="2379294" cy="113474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379299" cy="1134743"/>
            </a:xfrm>
            <a:custGeom>
              <a:avLst/>
              <a:gdLst/>
              <a:ahLst/>
              <a:cxnLst/>
              <a:rect r="r" b="b" t="t" l="l"/>
              <a:pathLst>
                <a:path h="1134743" w="2379299">
                  <a:moveTo>
                    <a:pt x="0" y="0"/>
                  </a:moveTo>
                  <a:lnTo>
                    <a:pt x="2379299" y="0"/>
                  </a:lnTo>
                  <a:lnTo>
                    <a:pt x="2379299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191" t="0" r="-11190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2379294" cy="1134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2882"/>
                </a:lnSpc>
              </a:pPr>
              <a:r xmlns:a="http://schemas.openxmlformats.org/drawingml/2006/main">
                <a:rPr lang="en" sz="24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T4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-10105800">
            <a:off x="7897073" y="5549798"/>
            <a:ext cx="4933198" cy="0"/>
          </a:xfrm>
          <a:prstGeom prst="line">
            <a:avLst/>
          </a:prstGeom>
          <a:ln cap="rnd" w="19050">
            <a:solidFill>
              <a:srgbClr val="F8717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304039" y="7618333"/>
            <a:ext cx="15648470" cy="892235"/>
            <a:chOff x="0" y="0"/>
            <a:chExt cx="20864627" cy="118964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864621" cy="1189649"/>
            </a:xfrm>
            <a:custGeom>
              <a:avLst/>
              <a:gdLst/>
              <a:ahLst/>
              <a:cxnLst/>
              <a:rect r="r" b="b" t="t" l="l"/>
              <a:pathLst>
                <a:path h="1189649" w="20864621">
                  <a:moveTo>
                    <a:pt x="0" y="0"/>
                  </a:moveTo>
                  <a:lnTo>
                    <a:pt x="20864621" y="0"/>
                  </a:lnTo>
                  <a:lnTo>
                    <a:pt x="20864621" y="1189649"/>
                  </a:lnTo>
                  <a:lnTo>
                    <a:pt x="0" y="118964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1737" r="0" b="-29173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20864627" cy="1189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3242"/>
                </a:lnSpc>
              </a:pPr>
              <a:r xmlns:a="http://schemas.openxmlformats.org/drawingml/2006/main">
                <a:rPr lang="en" sz="2702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count &gt; 0 → entry is allowed and count is decremented. count = 0 → the next thread waits.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60872" y="9773431"/>
            <a:ext cx="10981382" cy="301990"/>
            <a:chOff x="0" y="0"/>
            <a:chExt cx="14641843" cy="40265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4641840" cy="402651"/>
            </a:xfrm>
            <a:custGeom>
              <a:avLst/>
              <a:gdLst/>
              <a:ahLst/>
              <a:cxnLst/>
              <a:rect r="r" b="b" t="t" l="l"/>
              <a:pathLst>
                <a:path h="402651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8546" r="0" b="-65854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14641843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1441"/>
                </a:lnSpc>
              </a:pPr>
              <a:r xmlns:a="http://schemas.openxmlformats.org/drawingml/2006/main">
                <a:rPr lang="en" sz="1200">
                  <a:solidFill>
                    <a:srgbClr val="5F6E84"/>
                  </a:solidFill>
                  <a:latin typeface="Aptos"/>
                  <a:ea typeface="Aptos"/>
                  <a:cs typeface="Aptos"/>
                  <a:sym typeface="Aptos"/>
                </a:rPr>
                <a:t>System programming • Windows synchronization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2221581"/>
            <a:chOff x="0" y="0"/>
            <a:chExt cx="4816593" cy="5851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585108"/>
            </a:xfrm>
            <a:custGeom>
              <a:avLst/>
              <a:gdLst/>
              <a:ahLst/>
              <a:cxnLst/>
              <a:rect r="r" b="b" t="t" l="l"/>
              <a:pathLst>
                <a:path h="58510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85108"/>
                  </a:lnTo>
                  <a:lnTo>
                    <a:pt x="0" y="585108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816593" cy="604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451022" y="-4729397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851369" y="-3442596"/>
            <a:ext cx="6709932" cy="6885191"/>
          </a:xfrm>
          <a:custGeom>
            <a:avLst/>
            <a:gdLst/>
            <a:ahLst/>
            <a:cxnLst/>
            <a:rect r="r" b="b" t="t" l="l"/>
            <a:pathLst>
              <a:path h="6885191" w="6709932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85921" y="2378566"/>
            <a:ext cx="12323363" cy="2011071"/>
            <a:chOff x="0" y="0"/>
            <a:chExt cx="2379842" cy="3883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79842" cy="388371"/>
            </a:xfrm>
            <a:custGeom>
              <a:avLst/>
              <a:gdLst/>
              <a:ahLst/>
              <a:cxnLst/>
              <a:rect r="r" b="b" t="t" l="l"/>
              <a:pathLst>
                <a:path h="388371" w="2379842">
                  <a:moveTo>
                    <a:pt x="0" y="0"/>
                  </a:moveTo>
                  <a:lnTo>
                    <a:pt x="2379842" y="0"/>
                  </a:lnTo>
                  <a:lnTo>
                    <a:pt x="2379842" y="388371"/>
                  </a:lnTo>
                  <a:lnTo>
                    <a:pt x="0" y="388371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379842" cy="407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5921" y="4542037"/>
            <a:ext cx="12201140" cy="2147662"/>
            <a:chOff x="0" y="0"/>
            <a:chExt cx="2356238" cy="4147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56239" cy="414749"/>
            </a:xfrm>
            <a:custGeom>
              <a:avLst/>
              <a:gdLst/>
              <a:ahLst/>
              <a:cxnLst/>
              <a:rect r="r" b="b" t="t" l="l"/>
              <a:pathLst>
                <a:path h="414749" w="2356239">
                  <a:moveTo>
                    <a:pt x="0" y="0"/>
                  </a:moveTo>
                  <a:lnTo>
                    <a:pt x="2356239" y="0"/>
                  </a:lnTo>
                  <a:lnTo>
                    <a:pt x="2356239" y="414749"/>
                  </a:lnTo>
                  <a:lnTo>
                    <a:pt x="0" y="414749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356238" cy="4337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294224" y="3524953"/>
            <a:ext cx="4269916" cy="8381687"/>
          </a:xfrm>
          <a:custGeom>
            <a:avLst/>
            <a:gdLst/>
            <a:ahLst/>
            <a:cxnLst/>
            <a:rect r="r" b="b" t="t" l="l"/>
            <a:pathLst>
              <a:path h="8381687" w="4269916">
                <a:moveTo>
                  <a:pt x="0" y="0"/>
                </a:moveTo>
                <a:lnTo>
                  <a:pt x="4269916" y="0"/>
                </a:lnTo>
                <a:lnTo>
                  <a:pt x="4269916" y="8381687"/>
                </a:lnTo>
                <a:lnTo>
                  <a:pt x="0" y="83816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669343" y="3336006"/>
            <a:ext cx="3389051" cy="2107262"/>
          </a:xfrm>
          <a:custGeom>
            <a:avLst/>
            <a:gdLst/>
            <a:ahLst/>
            <a:cxnLst/>
            <a:rect r="r" b="b" t="t" l="l"/>
            <a:pathLst>
              <a:path h="2107262" w="3389051">
                <a:moveTo>
                  <a:pt x="0" y="0"/>
                </a:moveTo>
                <a:lnTo>
                  <a:pt x="3389051" y="0"/>
                </a:lnTo>
                <a:lnTo>
                  <a:pt x="3389051" y="2107262"/>
                </a:lnTo>
                <a:lnTo>
                  <a:pt x="0" y="21072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313184" y="287052"/>
            <a:ext cx="13661632" cy="134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ctr">
              <a:lnSpc>
                <a:spcPts val="11082"/>
              </a:lnSpc>
            </a:pPr>
            <a:r xmlns:a="http://schemas.openxmlformats.org/drawingml/2006/main">
              <a:rPr lang="en" b="true" sz="8030" spc="78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EVENT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7112" y="2635480"/>
            <a:ext cx="11344810" cy="170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l" marL="427768" indent="-213884" lvl="1">
              <a:lnSpc>
                <a:spcPts val="2734"/>
              </a:lnSpc>
              <a:buFont typeface="Arial"/>
              <a:buChar char="•"/>
            </a:pPr>
            <a:r xmlns:a="http://schemas.openxmlformats.org/drawingml/2006/main">
              <a:rPr lang="en" sz="1981" spc="194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Events allow threads or processes to signal each other when certain conditions are met. Events are often used to coordinate work between threads, allowing one thread to notify others when a certain condition is met or an operation is completed.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7112" y="4798951"/>
            <a:ext cx="11992172" cy="1707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l">
              <a:lnSpc>
                <a:spcPts val="2734"/>
              </a:lnSpc>
            </a:pPr>
            <a:r xmlns:a="http://schemas.openxmlformats.org/drawingml/2006/main">
              <a:rPr lang="en" b="true" sz="1981" spc="194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Main characteristics</a:t>
            </a:r>
          </a:p>
          <a:p>
            <a:pPr xmlns:a="http://schemas.openxmlformats.org/drawingml/2006/main" algn="l">
              <a:lnSpc>
                <a:spcPts val="2734"/>
              </a:lnSpc>
            </a:pPr>
            <a:r xmlns:a="http://schemas.openxmlformats.org/drawingml/2006/main">
              <a:rPr lang="en" sz="1981" spc="194" b="true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Emergency signals</a:t>
            </a:r>
          </a:p>
          <a:p>
            <a:pPr xmlns:a="http://schemas.openxmlformats.org/drawingml/2006/main" algn="l">
              <a:lnSpc>
                <a:spcPts val="2734"/>
              </a:lnSpc>
            </a:pPr>
            <a:r xmlns:a="http://schemas.openxmlformats.org/drawingml/2006/main">
              <a:rPr lang="en" sz="1981" spc="194" b="true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Event Types: Events can be automatic (auto-reset) or manual (no auto-reset).</a:t>
            </a:r>
          </a:p>
          <a:p>
            <a:pPr xmlns:a="http://schemas.openxmlformats.org/drawingml/2006/main" algn="l" marL="427769" indent="-213884" lvl="1">
              <a:lnSpc>
                <a:spcPts val="2734"/>
              </a:lnSpc>
              <a:buFont typeface="Arial"/>
              <a:buChar char="•"/>
            </a:pPr>
            <a:r xmlns:a="http://schemas.openxmlformats.org/drawingml/2006/main">
              <a:rPr lang="en" b="true" sz="1981" spc="194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Interprocess synchronization: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85580" y="3667823"/>
            <a:ext cx="2956578" cy="138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ctr">
              <a:lnSpc>
                <a:spcPts val="3664"/>
              </a:lnSpc>
            </a:pPr>
            <a:r xmlns:a="http://schemas.openxmlformats.org/drawingml/2006/main">
              <a:rPr lang="en" sz="261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I'm not a snitch, but I have to report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85921" y="6768795"/>
            <a:ext cx="12201140" cy="3322138"/>
            <a:chOff x="0" y="0"/>
            <a:chExt cx="2356238" cy="6415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56239" cy="641559"/>
            </a:xfrm>
            <a:custGeom>
              <a:avLst/>
              <a:gdLst/>
              <a:ahLst/>
              <a:cxnLst/>
              <a:rect r="r" b="b" t="t" l="l"/>
              <a:pathLst>
                <a:path h="641559" w="2356239">
                  <a:moveTo>
                    <a:pt x="0" y="0"/>
                  </a:moveTo>
                  <a:lnTo>
                    <a:pt x="2356239" y="0"/>
                  </a:lnTo>
                  <a:lnTo>
                    <a:pt x="2356239" y="641559"/>
                  </a:lnTo>
                  <a:lnTo>
                    <a:pt x="0" y="641559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2356238" cy="660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503597" y="7025709"/>
            <a:ext cx="11179133" cy="3078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l">
              <a:lnSpc>
                <a:spcPts val="2734"/>
              </a:lnSpc>
            </a:pPr>
            <a:r xmlns:a="http://schemas.openxmlformats.org/drawingml/2006/main">
              <a:rPr lang="en" sz="1981" spc="194" b="true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FUNCTIONS</a:t>
            </a:r>
          </a:p>
          <a:p>
            <a:pPr xmlns:a="http://schemas.openxmlformats.org/drawingml/2006/main" algn="l">
              <a:lnSpc>
                <a:spcPts val="2734"/>
              </a:lnSpc>
            </a:pPr>
            <a:r xmlns:a="http://schemas.openxmlformats.org/drawingml/2006/main">
              <a:rPr lang="en" sz="1981" spc="194" b="true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CreateEvent / CreateEventEx - creates an event.</a:t>
            </a:r>
          </a:p>
          <a:p>
            <a:pPr xmlns:a="http://schemas.openxmlformats.org/drawingml/2006/main" algn="l">
              <a:lnSpc>
                <a:spcPts val="2734"/>
              </a:lnSpc>
            </a:pPr>
            <a:r xmlns:a="http://schemas.openxmlformats.org/drawingml/2006/main">
              <a:rPr lang="en" sz="1981" spc="194" b="true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SetEvent - sets the event to the signaled state.</a:t>
            </a:r>
          </a:p>
          <a:p>
            <a:pPr xmlns:a="http://schemas.openxmlformats.org/drawingml/2006/main" algn="l">
              <a:lnSpc>
                <a:spcPts val="2734"/>
              </a:lnSpc>
            </a:pPr>
            <a:r xmlns:a="http://schemas.openxmlformats.org/drawingml/2006/main">
              <a:rPr lang="en" sz="1981" spc="194" b="true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ResetEvent - sets the event to a non-signaled state.</a:t>
            </a:r>
          </a:p>
          <a:p>
            <a:pPr xmlns:a="http://schemas.openxmlformats.org/drawingml/2006/main" algn="l">
              <a:lnSpc>
                <a:spcPts val="2734"/>
              </a:lnSpc>
            </a:pPr>
            <a:r xmlns:a="http://schemas.openxmlformats.org/drawingml/2006/main">
              <a:rPr lang="en" sz="1981" spc="194" b="true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WaitForSingleObject - waits for a signal for an event.</a:t>
            </a:r>
          </a:p>
          <a:p>
            <a:pPr xmlns:a="http://schemas.openxmlformats.org/drawingml/2006/main" algn="l">
              <a:lnSpc>
                <a:spcPts val="2734"/>
              </a:lnSpc>
            </a:pPr>
            <a:r xmlns:a="http://schemas.openxmlformats.org/drawingml/2006/main">
              <a:rPr lang="en" sz="1981" spc="194" b="true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PulseEvent - signals that an event is set for a short period of time, after which it returns to the non-signaled state.</a:t>
            </a:r>
          </a:p>
          <a:p>
            <a:pPr xmlns:a="http://schemas.openxmlformats.org/drawingml/2006/main" algn="l">
              <a:lnSpc>
                <a:spcPts val="2734"/>
              </a:lnSpc>
            </a:pPr>
            <a:r xmlns:a="http://schemas.openxmlformats.org/drawingml/2006/main">
              <a:rPr lang="en" b="true" sz="1981" spc="194">
                <a:solidFill>
                  <a:srgbClr val="231F20"/>
                </a:solidFill>
                <a:latin typeface="DM Sans Bold"/>
                <a:ea typeface="DM Sans Bold"/>
                <a:cs typeface="DM Sans Bold"/>
                <a:sym typeface="DM Sans Bold"/>
              </a:rPr>
              <a:t>OpenEvent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8152909" y="1482490"/>
            <a:ext cx="4914487" cy="5479370"/>
          </a:xfrm>
          <a:custGeom>
            <a:avLst/>
            <a:gdLst/>
            <a:ahLst/>
            <a:cxnLst/>
            <a:rect r="r" b="b" t="t" l="l"/>
            <a:pathLst>
              <a:path h="5479370" w="4914487">
                <a:moveTo>
                  <a:pt x="0" y="0"/>
                </a:moveTo>
                <a:lnTo>
                  <a:pt x="4914487" y="0"/>
                </a:lnTo>
                <a:lnTo>
                  <a:pt x="4914487" y="5479370"/>
                </a:lnTo>
                <a:lnTo>
                  <a:pt x="0" y="54793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B10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872" y="576520"/>
            <a:ext cx="16060264" cy="823608"/>
            <a:chOff x="0" y="0"/>
            <a:chExt cx="21413686" cy="1098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13690" cy="1098138"/>
            </a:xfrm>
            <a:custGeom>
              <a:avLst/>
              <a:gdLst/>
              <a:ahLst/>
              <a:cxnLst/>
              <a:rect r="r" b="b" t="t" l="l"/>
              <a:pathLst>
                <a:path h="1098138" w="21413690">
                  <a:moveTo>
                    <a:pt x="0" y="0"/>
                  </a:moveTo>
                  <a:lnTo>
                    <a:pt x="21413690" y="0"/>
                  </a:lnTo>
                  <a:lnTo>
                    <a:pt x="21413690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9957" r="0" b="-32995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413686" cy="1098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5043"/>
                </a:lnSpc>
              </a:pPr>
              <a:r xmlns:a="http://schemas.openxmlformats.org/drawingml/2006/main">
                <a:rPr lang="en" sz="4203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872" y="1482490"/>
            <a:ext cx="960872" cy="61770"/>
            <a:chOff x="0" y="0"/>
            <a:chExt cx="1281163" cy="82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1176" cy="82423"/>
            </a:xfrm>
            <a:custGeom>
              <a:avLst/>
              <a:gdLst/>
              <a:ahLst/>
              <a:cxnLst/>
              <a:rect r="r" b="b" t="t" l="l"/>
              <a:pathLst>
                <a:path h="82423" w="1281176">
                  <a:moveTo>
                    <a:pt x="0" y="0"/>
                  </a:moveTo>
                  <a:lnTo>
                    <a:pt x="1281176" y="0"/>
                  </a:lnTo>
                  <a:lnTo>
                    <a:pt x="1281176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34D3E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0872" y="1592304"/>
            <a:ext cx="16334804" cy="617706"/>
            <a:chOff x="0" y="0"/>
            <a:chExt cx="21779738" cy="8236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79736" cy="823603"/>
            </a:xfrm>
            <a:custGeom>
              <a:avLst/>
              <a:gdLst/>
              <a:ahLst/>
              <a:cxnLst/>
              <a:rect r="r" b="b" t="t" l="l"/>
              <a:pathLst>
                <a:path h="823603" w="21779736">
                  <a:moveTo>
                    <a:pt x="0" y="0"/>
                  </a:moveTo>
                  <a:lnTo>
                    <a:pt x="21779736" y="0"/>
                  </a:lnTo>
                  <a:lnTo>
                    <a:pt x="2177973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5270" r="0" b="-46527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177973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2161"/>
                </a:lnSpc>
              </a:pPr>
              <a:r xmlns:a="http://schemas.openxmlformats.org/drawingml/2006/main">
                <a:rPr lang="en" sz="1801">
                  <a:solidFill>
                    <a:srgbClr val="AAB7CA"/>
                  </a:solidFill>
                  <a:latin typeface="Aptos"/>
                  <a:ea typeface="Aptos"/>
                  <a:cs typeface="Aptos"/>
                  <a:sym typeface="Aptos"/>
                </a:rPr>
                <a:t>Doesn't protect the resource. Reports: "An event has occurred."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5402" y="2402176"/>
            <a:ext cx="2745343" cy="549069"/>
            <a:chOff x="0" y="0"/>
            <a:chExt cx="3660458" cy="7320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60460" cy="732092"/>
            </a:xfrm>
            <a:custGeom>
              <a:avLst/>
              <a:gdLst/>
              <a:ahLst/>
              <a:cxnLst/>
              <a:rect r="r" b="b" t="t" l="l"/>
              <a:pathLst>
                <a:path h="732092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3660458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3242"/>
                </a:lnSpc>
              </a:pPr>
              <a:r xmlns:a="http://schemas.openxmlformats.org/drawingml/2006/main">
                <a:rPr lang="en" sz="2702" b="true">
                  <a:solidFill>
                    <a:srgbClr val="60A5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Worker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5402" y="5490686"/>
            <a:ext cx="2745343" cy="549069"/>
            <a:chOff x="0" y="0"/>
            <a:chExt cx="3660458" cy="7320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60460" cy="732092"/>
            </a:xfrm>
            <a:custGeom>
              <a:avLst/>
              <a:gdLst/>
              <a:ahLst/>
              <a:cxnLst/>
              <a:rect r="r" b="b" t="t" l="l"/>
              <a:pathLst>
                <a:path h="732092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3660458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3242"/>
                </a:lnSpc>
              </a:pPr>
              <a:r xmlns:a="http://schemas.openxmlformats.org/drawingml/2006/main">
                <a:rPr lang="en" sz="2702" b="true">
                  <a:solidFill>
                    <a:srgbClr val="4ADE8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Consumer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rot="10140">
            <a:off x="3275324" y="2735818"/>
            <a:ext cx="12941303" cy="0"/>
          </a:xfrm>
          <a:prstGeom prst="line">
            <a:avLst/>
          </a:prstGeom>
          <a:ln cap="rnd" w="19050">
            <a:solidFill>
              <a:srgbClr val="60A5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10140">
            <a:off x="3275324" y="5824328"/>
            <a:ext cx="12941303" cy="0"/>
          </a:xfrm>
          <a:prstGeom prst="line">
            <a:avLst/>
          </a:prstGeom>
          <a:ln cap="rnd" w="19050">
            <a:solidFill>
              <a:srgbClr val="4ADE8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5490686" y="2264912"/>
            <a:ext cx="3019882" cy="960872"/>
            <a:chOff x="0" y="0"/>
            <a:chExt cx="4026510" cy="12811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6408" cy="1281176"/>
            </a:xfrm>
            <a:custGeom>
              <a:avLst/>
              <a:gdLst/>
              <a:ahLst/>
              <a:cxnLst/>
              <a:rect r="r" b="b" t="t" l="l"/>
              <a:pathLst>
                <a:path h="1281176" w="4026408">
                  <a:moveTo>
                    <a:pt x="0" y="213487"/>
                  </a:moveTo>
                  <a:cubicBezTo>
                    <a:pt x="0" y="95631"/>
                    <a:pt x="95631" y="0"/>
                    <a:pt x="213487" y="0"/>
                  </a:cubicBezTo>
                  <a:lnTo>
                    <a:pt x="3812921" y="0"/>
                  </a:lnTo>
                  <a:cubicBezTo>
                    <a:pt x="3930904" y="0"/>
                    <a:pt x="4026408" y="95631"/>
                    <a:pt x="4026408" y="213487"/>
                  </a:cubicBezTo>
                  <a:lnTo>
                    <a:pt x="4026408" y="1067689"/>
                  </a:lnTo>
                  <a:cubicBezTo>
                    <a:pt x="4026408" y="1185672"/>
                    <a:pt x="3930777" y="1281176"/>
                    <a:pt x="3812921" y="1281176"/>
                  </a:cubicBezTo>
                  <a:lnTo>
                    <a:pt x="213487" y="1281176"/>
                  </a:lnTo>
                  <a:cubicBezTo>
                    <a:pt x="95631" y="1281176"/>
                    <a:pt x="0" y="1185545"/>
                    <a:pt x="0" y="1067689"/>
                  </a:cubicBezTo>
                  <a:close/>
                </a:path>
              </a:pathLst>
            </a:custGeom>
            <a:solidFill>
              <a:srgbClr val="1F2A3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490686" y="2264912"/>
            <a:ext cx="3019882" cy="960872"/>
            <a:chOff x="0" y="0"/>
            <a:chExt cx="4026510" cy="128116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26506" cy="1281161"/>
            </a:xfrm>
            <a:custGeom>
              <a:avLst/>
              <a:gdLst/>
              <a:ahLst/>
              <a:cxnLst/>
              <a:rect r="r" b="b" t="t" l="l"/>
              <a:pathLst>
                <a:path h="1281161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8" r="0" b="-1123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4026510" cy="1281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2702"/>
                </a:lnSpc>
              </a:pPr>
              <a:r xmlns:a="http://schemas.openxmlformats.org/drawingml/2006/main">
                <a:rPr lang="en" sz="225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prepares data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910933" y="2116207"/>
            <a:ext cx="2013252" cy="1258281"/>
            <a:chOff x="0" y="0"/>
            <a:chExt cx="2684336" cy="16777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684399" cy="1677797"/>
            </a:xfrm>
            <a:custGeom>
              <a:avLst/>
              <a:gdLst/>
              <a:ahLst/>
              <a:cxnLst/>
              <a:rect r="r" b="b" t="t" l="l"/>
              <a:pathLst>
                <a:path h="1677797" w="2684399">
                  <a:moveTo>
                    <a:pt x="0" y="279654"/>
                  </a:moveTo>
                  <a:cubicBezTo>
                    <a:pt x="0" y="125222"/>
                    <a:pt x="125222" y="0"/>
                    <a:pt x="279654" y="0"/>
                  </a:cubicBezTo>
                  <a:lnTo>
                    <a:pt x="2404745" y="0"/>
                  </a:lnTo>
                  <a:cubicBezTo>
                    <a:pt x="2559177" y="0"/>
                    <a:pt x="2684399" y="125222"/>
                    <a:pt x="2684399" y="279654"/>
                  </a:cubicBezTo>
                  <a:lnTo>
                    <a:pt x="2684399" y="1398143"/>
                  </a:lnTo>
                  <a:cubicBezTo>
                    <a:pt x="2684399" y="1552575"/>
                    <a:pt x="2559177" y="1677797"/>
                    <a:pt x="2404745" y="1677797"/>
                  </a:cubicBezTo>
                  <a:lnTo>
                    <a:pt x="279654" y="1677797"/>
                  </a:lnTo>
                  <a:cubicBezTo>
                    <a:pt x="125222" y="1677670"/>
                    <a:pt x="0" y="1552575"/>
                    <a:pt x="0" y="1398143"/>
                  </a:cubicBezTo>
                  <a:close/>
                </a:path>
              </a:pathLst>
            </a:custGeom>
            <a:solidFill>
              <a:srgbClr val="11402B"/>
            </a:solidFill>
            <a:ln w="22878" cap="sq">
              <a:solidFill>
                <a:srgbClr val="4ADE8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8922372" y="2127647"/>
            <a:ext cx="1990373" cy="1235402"/>
            <a:chOff x="0" y="0"/>
            <a:chExt cx="2653830" cy="164720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653833" cy="1647207"/>
            </a:xfrm>
            <a:custGeom>
              <a:avLst/>
              <a:gdLst/>
              <a:ahLst/>
              <a:cxnLst/>
              <a:rect r="r" b="b" t="t" l="l"/>
              <a:pathLst>
                <a:path h="1647207" w="2653833">
                  <a:moveTo>
                    <a:pt x="0" y="0"/>
                  </a:moveTo>
                  <a:lnTo>
                    <a:pt x="2653833" y="0"/>
                  </a:lnTo>
                  <a:lnTo>
                    <a:pt x="2653833" y="1647207"/>
                  </a:lnTo>
                  <a:lnTo>
                    <a:pt x="0" y="16472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636" t="0" r="-29636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2653830" cy="16472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3602"/>
                </a:lnSpc>
              </a:pPr>
              <a:r xmlns:a="http://schemas.openxmlformats.org/drawingml/2006/main">
                <a:rPr lang="en" sz="3002" b="true">
                  <a:solidFill>
                    <a:srgbClr val="4ADE8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SET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 flipH="true">
            <a:off x="9917559" y="3406734"/>
            <a:ext cx="89660" cy="2408033"/>
          </a:xfrm>
          <a:prstGeom prst="line">
            <a:avLst/>
          </a:prstGeom>
          <a:ln cap="rnd" w="28575">
            <a:solidFill>
              <a:srgbClr val="4ADE8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5067452" y="5341982"/>
            <a:ext cx="3317291" cy="983752"/>
            <a:chOff x="0" y="0"/>
            <a:chExt cx="4423054" cy="131166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423029" cy="1311656"/>
            </a:xfrm>
            <a:custGeom>
              <a:avLst/>
              <a:gdLst/>
              <a:ahLst/>
              <a:cxnLst/>
              <a:rect r="r" b="b" t="t" l="l"/>
              <a:pathLst>
                <a:path h="1311656" w="4423029">
                  <a:moveTo>
                    <a:pt x="0" y="218567"/>
                  </a:moveTo>
                  <a:cubicBezTo>
                    <a:pt x="0" y="97917"/>
                    <a:pt x="97917" y="0"/>
                    <a:pt x="218567" y="0"/>
                  </a:cubicBezTo>
                  <a:lnTo>
                    <a:pt x="4204462" y="0"/>
                  </a:lnTo>
                  <a:cubicBezTo>
                    <a:pt x="4325239" y="0"/>
                    <a:pt x="4423029" y="97917"/>
                    <a:pt x="4423029" y="218567"/>
                  </a:cubicBezTo>
                  <a:lnTo>
                    <a:pt x="4423029" y="1093089"/>
                  </a:lnTo>
                  <a:cubicBezTo>
                    <a:pt x="4423029" y="1213866"/>
                    <a:pt x="4325112" y="1311656"/>
                    <a:pt x="4204462" y="1311656"/>
                  </a:cubicBezTo>
                  <a:lnTo>
                    <a:pt x="218567" y="1311656"/>
                  </a:lnTo>
                  <a:cubicBezTo>
                    <a:pt x="97917" y="1311656"/>
                    <a:pt x="0" y="1213739"/>
                    <a:pt x="0" y="1093089"/>
                  </a:cubicBezTo>
                  <a:close/>
                </a:path>
              </a:pathLst>
            </a:custGeom>
            <a:solidFill>
              <a:srgbClr val="321F28"/>
            </a:solidFill>
            <a:ln w="22878" cap="sq">
              <a:solidFill>
                <a:srgbClr val="F87171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5078892" y="5353421"/>
            <a:ext cx="3294412" cy="960872"/>
            <a:chOff x="0" y="0"/>
            <a:chExt cx="4392549" cy="128116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392552" cy="1281161"/>
            </a:xfrm>
            <a:custGeom>
              <a:avLst/>
              <a:gdLst/>
              <a:ahLst/>
              <a:cxnLst/>
              <a:rect r="r" b="b" t="t" l="l"/>
              <a:pathLst>
                <a:path h="1281161" w="4392552">
                  <a:moveTo>
                    <a:pt x="0" y="0"/>
                  </a:moveTo>
                  <a:lnTo>
                    <a:pt x="4392552" y="0"/>
                  </a:lnTo>
                  <a:lnTo>
                    <a:pt x="4392552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4392549" cy="1281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3242"/>
                </a:lnSpc>
              </a:pPr>
              <a:r xmlns:a="http://schemas.openxmlformats.org/drawingml/2006/main">
                <a:rPr lang="en" sz="2702" b="true">
                  <a:solidFill>
                    <a:srgbClr val="F8717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WAIT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626776" y="5341982"/>
            <a:ext cx="3729095" cy="983752"/>
            <a:chOff x="0" y="0"/>
            <a:chExt cx="4972126" cy="131166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972050" cy="1311656"/>
            </a:xfrm>
            <a:custGeom>
              <a:avLst/>
              <a:gdLst/>
              <a:ahLst/>
              <a:cxnLst/>
              <a:rect r="r" b="b" t="t" l="l"/>
              <a:pathLst>
                <a:path h="1311656" w="4972050">
                  <a:moveTo>
                    <a:pt x="0" y="218567"/>
                  </a:moveTo>
                  <a:cubicBezTo>
                    <a:pt x="0" y="97917"/>
                    <a:pt x="97917" y="0"/>
                    <a:pt x="218567" y="0"/>
                  </a:cubicBezTo>
                  <a:lnTo>
                    <a:pt x="4753483" y="0"/>
                  </a:lnTo>
                  <a:cubicBezTo>
                    <a:pt x="4874260" y="0"/>
                    <a:pt x="4972050" y="97917"/>
                    <a:pt x="4972050" y="218567"/>
                  </a:cubicBezTo>
                  <a:lnTo>
                    <a:pt x="4972050" y="1093089"/>
                  </a:lnTo>
                  <a:cubicBezTo>
                    <a:pt x="4972050" y="1213866"/>
                    <a:pt x="4874133" y="1311656"/>
                    <a:pt x="4753483" y="1311656"/>
                  </a:cubicBezTo>
                  <a:lnTo>
                    <a:pt x="218567" y="1311656"/>
                  </a:lnTo>
                  <a:cubicBezTo>
                    <a:pt x="97917" y="1311656"/>
                    <a:pt x="0" y="1213739"/>
                    <a:pt x="0" y="1093089"/>
                  </a:cubicBezTo>
                  <a:close/>
                </a:path>
              </a:pathLst>
            </a:custGeom>
            <a:solidFill>
              <a:srgbClr val="11402B"/>
            </a:solidFill>
            <a:ln w="22878" cap="sq">
              <a:solidFill>
                <a:srgbClr val="4ADE8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0638215" y="5353421"/>
            <a:ext cx="3706216" cy="960872"/>
            <a:chOff x="0" y="0"/>
            <a:chExt cx="4941621" cy="128116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941620" cy="1281161"/>
            </a:xfrm>
            <a:custGeom>
              <a:avLst/>
              <a:gdLst/>
              <a:ahLst/>
              <a:cxnLst/>
              <a:rect r="r" b="b" t="t" l="l"/>
              <a:pathLst>
                <a:path h="1281161" w="4941620">
                  <a:moveTo>
                    <a:pt x="0" y="0"/>
                  </a:moveTo>
                  <a:lnTo>
                    <a:pt x="4941620" y="0"/>
                  </a:lnTo>
                  <a:lnTo>
                    <a:pt x="4941620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156" r="0" b="-2515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4941621" cy="1281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2882"/>
                </a:lnSpc>
              </a:pPr>
              <a:r xmlns:a="http://schemas.openxmlformats.org/drawingml/2006/main">
                <a:rPr lang="en" sz="2401" b="true">
                  <a:solidFill>
                    <a:srgbClr val="4ADE8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continues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35402" y="7206529"/>
            <a:ext cx="15648470" cy="1098137"/>
            <a:chOff x="0" y="0"/>
            <a:chExt cx="20864627" cy="146418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864621" cy="1464184"/>
            </a:xfrm>
            <a:custGeom>
              <a:avLst/>
              <a:gdLst/>
              <a:ahLst/>
              <a:cxnLst/>
              <a:rect r="r" b="b" t="t" l="l"/>
              <a:pathLst>
                <a:path h="1464184" w="20864621">
                  <a:moveTo>
                    <a:pt x="0" y="0"/>
                  </a:moveTo>
                  <a:lnTo>
                    <a:pt x="20864621" y="0"/>
                  </a:lnTo>
                  <a:lnTo>
                    <a:pt x="20864621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661" r="0" b="-22766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20864627" cy="1464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2882"/>
                </a:lnSpc>
              </a:pPr>
              <a:r xmlns:a="http://schemas.openxmlformats.org/drawingml/2006/main">
                <a:rPr lang="en" sz="24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Manual-reset: remains signaled until ResetEvent. • Auto-reset: skips the waiter and resets automatically.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60872" y="9773431"/>
            <a:ext cx="10981382" cy="301990"/>
            <a:chOff x="0" y="0"/>
            <a:chExt cx="14641843" cy="40265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641840" cy="402651"/>
            </a:xfrm>
            <a:custGeom>
              <a:avLst/>
              <a:gdLst/>
              <a:ahLst/>
              <a:cxnLst/>
              <a:rect r="r" b="b" t="t" l="l"/>
              <a:pathLst>
                <a:path h="402651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8546" r="0" b="-65854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14641843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1441"/>
                </a:lnSpc>
              </a:pPr>
              <a:r xmlns:a="http://schemas.openxmlformats.org/drawingml/2006/main">
                <a:rPr lang="en" sz="1200">
                  <a:solidFill>
                    <a:srgbClr val="5F6E84"/>
                  </a:solidFill>
                  <a:latin typeface="Aptos"/>
                  <a:ea typeface="Aptos"/>
                  <a:cs typeface="Aptos"/>
                  <a:sym typeface="Aptos"/>
                </a:rPr>
                <a:t>System programming • Windows synchronization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4971" y="161795"/>
            <a:ext cx="16060264" cy="1120670"/>
            <a:chOff x="0" y="0"/>
            <a:chExt cx="21413686" cy="14942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13690" cy="1494219"/>
            </a:xfrm>
            <a:custGeom>
              <a:avLst/>
              <a:gdLst/>
              <a:ahLst/>
              <a:cxnLst/>
              <a:rect r="r" b="b" t="t" l="l"/>
              <a:pathLst>
                <a:path h="1494219" w="21413690">
                  <a:moveTo>
                    <a:pt x="0" y="0"/>
                  </a:moveTo>
                  <a:lnTo>
                    <a:pt x="21413690" y="0"/>
                  </a:lnTo>
                  <a:lnTo>
                    <a:pt x="21413690" y="1494219"/>
                  </a:lnTo>
                  <a:lnTo>
                    <a:pt x="0" y="14942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494" r="0" b="-21598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413686" cy="15323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8163"/>
                </a:lnSpc>
              </a:pPr>
              <a:r xmlns:a="http://schemas.openxmlformats.org/drawingml/2006/main">
                <a:rPr lang="en" sz="6803">
                  <a:solidFill>
                    <a:srgbClr val="000000"/>
                  </a:solidFill>
                  <a:latin typeface="Capture Smallz Clean"/>
                  <a:ea typeface="Capture Smallz Clean"/>
                  <a:cs typeface="Capture Smallz Clean"/>
                  <a:sym typeface="Capture Smallz Clean"/>
                </a:rPr>
                <a:t>Atomic Operations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872" y="1482490"/>
            <a:ext cx="960872" cy="61770"/>
            <a:chOff x="0" y="0"/>
            <a:chExt cx="1281163" cy="82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1176" cy="82423"/>
            </a:xfrm>
            <a:custGeom>
              <a:avLst/>
              <a:gdLst/>
              <a:ahLst/>
              <a:cxnLst/>
              <a:rect r="r" b="b" t="t" l="l"/>
              <a:pathLst>
                <a:path h="82423" w="1281176">
                  <a:moveTo>
                    <a:pt x="0" y="0"/>
                  </a:moveTo>
                  <a:lnTo>
                    <a:pt x="1281176" y="0"/>
                  </a:lnTo>
                  <a:lnTo>
                    <a:pt x="1281176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34D3E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60872" y="1592304"/>
            <a:ext cx="16334804" cy="617706"/>
            <a:chOff x="0" y="0"/>
            <a:chExt cx="21779738" cy="8236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79736" cy="823603"/>
            </a:xfrm>
            <a:custGeom>
              <a:avLst/>
              <a:gdLst/>
              <a:ahLst/>
              <a:cxnLst/>
              <a:rect r="r" b="b" t="t" l="l"/>
              <a:pathLst>
                <a:path h="823603" w="21779736">
                  <a:moveTo>
                    <a:pt x="0" y="0"/>
                  </a:moveTo>
                  <a:lnTo>
                    <a:pt x="21779736" y="0"/>
                  </a:lnTo>
                  <a:lnTo>
                    <a:pt x="2177973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5270" r="0" b="-46527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77973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2161"/>
                </a:lnSpc>
              </a:pPr>
              <a:r xmlns:a="http://schemas.openxmlformats.org/drawingml/2006/main">
                <a:rPr lang="en" sz="1801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Sometimes the lock is too heavy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237340" y="2322091"/>
            <a:ext cx="5821251" cy="686336"/>
            <a:chOff x="0" y="0"/>
            <a:chExt cx="7761668" cy="9151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61668" cy="915119"/>
            </a:xfrm>
            <a:custGeom>
              <a:avLst/>
              <a:gdLst/>
              <a:ahLst/>
              <a:cxnLst/>
              <a:rect r="r" b="b" t="t" l="l"/>
              <a:pathLst>
                <a:path h="915119" w="7761668">
                  <a:moveTo>
                    <a:pt x="0" y="0"/>
                  </a:moveTo>
                  <a:lnTo>
                    <a:pt x="7761668" y="0"/>
                  </a:lnTo>
                  <a:lnTo>
                    <a:pt x="7761668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0437" r="-27333" b="-16043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7761668" cy="905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3963"/>
                </a:lnSpc>
              </a:pPr>
              <a:r xmlns:a="http://schemas.openxmlformats.org/drawingml/2006/main">
                <a:rPr lang="en" b="true" sz="3302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Routine operation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237340" y="3271526"/>
            <a:ext cx="5613741" cy="1948793"/>
            <a:chOff x="0" y="0"/>
            <a:chExt cx="7484988" cy="25983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484959" cy="2598455"/>
            </a:xfrm>
            <a:custGeom>
              <a:avLst/>
              <a:gdLst/>
              <a:ahLst/>
              <a:cxnLst/>
              <a:rect r="r" b="b" t="t" l="l"/>
              <a:pathLst>
                <a:path h="2598455" w="7484959">
                  <a:moveTo>
                    <a:pt x="0" y="433096"/>
                  </a:moveTo>
                  <a:cubicBezTo>
                    <a:pt x="0" y="193867"/>
                    <a:pt x="155520" y="0"/>
                    <a:pt x="347429" y="0"/>
                  </a:cubicBezTo>
                  <a:lnTo>
                    <a:pt x="7137529" y="0"/>
                  </a:lnTo>
                  <a:cubicBezTo>
                    <a:pt x="7329439" y="0"/>
                    <a:pt x="7484959" y="193867"/>
                    <a:pt x="7484959" y="433096"/>
                  </a:cubicBezTo>
                  <a:lnTo>
                    <a:pt x="7484959" y="2165357"/>
                  </a:lnTo>
                  <a:cubicBezTo>
                    <a:pt x="7484959" y="2404586"/>
                    <a:pt x="7329439" y="2598455"/>
                    <a:pt x="7137529" y="2598455"/>
                  </a:cubicBezTo>
                  <a:lnTo>
                    <a:pt x="347429" y="2598455"/>
                  </a:lnTo>
                  <a:cubicBezTo>
                    <a:pt x="155520" y="2598455"/>
                    <a:pt x="0" y="2404463"/>
                    <a:pt x="0" y="2165357"/>
                  </a:cubicBezTo>
                  <a:close/>
                </a:path>
              </a:pathLst>
            </a:custGeom>
            <a:solidFill>
              <a:srgbClr val="101725"/>
            </a:solidFill>
            <a:ln w="22878" cap="sq">
              <a:solidFill>
                <a:srgbClr val="34D3E1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5237340" y="5623829"/>
            <a:ext cx="5774790" cy="1166772"/>
            <a:chOff x="0" y="0"/>
            <a:chExt cx="7699720" cy="155569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99721" cy="1555692"/>
            </a:xfrm>
            <a:custGeom>
              <a:avLst/>
              <a:gdLst/>
              <a:ahLst/>
              <a:cxnLst/>
              <a:rect r="r" b="b" t="t" l="l"/>
              <a:pathLst>
                <a:path h="1555692" w="7699721">
                  <a:moveTo>
                    <a:pt x="0" y="0"/>
                  </a:moveTo>
                  <a:lnTo>
                    <a:pt x="7699721" y="0"/>
                  </a:lnTo>
                  <a:lnTo>
                    <a:pt x="7699721" y="1555692"/>
                  </a:lnTo>
                  <a:lnTo>
                    <a:pt x="0" y="15556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348" r="-24792" b="-7034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7699720" cy="1555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3062"/>
                </a:lnSpc>
              </a:pPr>
              <a:r xmlns:a="http://schemas.openxmlformats.org/drawingml/2006/main">
                <a:rPr lang="en" sz="2551" b="true">
                  <a:solidFill>
                    <a:srgbClr val="F8717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It can wedge itself between the steps</a:t>
              </a:r>
            </a:p>
            <a:p>
              <a:pPr xmlns:a="http://schemas.openxmlformats.org/drawingml/2006/main" algn="l">
                <a:lnSpc>
                  <a:spcPts val="3242"/>
                </a:lnSpc>
              </a:pPr>
              <a:r xmlns:a="http://schemas.openxmlformats.org/drawingml/2006/main">
                <a:rPr lang="en" sz="270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another stream.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070031" y="2257635"/>
            <a:ext cx="6863363" cy="686333"/>
            <a:chOff x="0" y="0"/>
            <a:chExt cx="9151150" cy="9151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51149" cy="915115"/>
            </a:xfrm>
            <a:custGeom>
              <a:avLst/>
              <a:gdLst/>
              <a:ahLst/>
              <a:cxnLst/>
              <a:rect r="r" b="b" t="t" l="l"/>
              <a:pathLst>
                <a:path h="915115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9151150" cy="9055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3963"/>
                </a:lnSpc>
              </a:pPr>
              <a:r xmlns:a="http://schemas.openxmlformats.org/drawingml/2006/main">
                <a:rPr lang="en" b="true" sz="3302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Atomic operation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058592" y="3207067"/>
            <a:ext cx="7229408" cy="2013252"/>
            <a:chOff x="0" y="0"/>
            <a:chExt cx="9639211" cy="26843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639173" cy="2684399"/>
            </a:xfrm>
            <a:custGeom>
              <a:avLst/>
              <a:gdLst/>
              <a:ahLst/>
              <a:cxnLst/>
              <a:rect r="r" b="b" t="t" l="l"/>
              <a:pathLst>
                <a:path h="2684399" w="9639173">
                  <a:moveTo>
                    <a:pt x="0" y="447421"/>
                  </a:moveTo>
                  <a:cubicBezTo>
                    <a:pt x="0" y="200279"/>
                    <a:pt x="200279" y="0"/>
                    <a:pt x="447421" y="0"/>
                  </a:cubicBezTo>
                  <a:lnTo>
                    <a:pt x="9191752" y="0"/>
                  </a:lnTo>
                  <a:cubicBezTo>
                    <a:pt x="9438894" y="0"/>
                    <a:pt x="9639173" y="200279"/>
                    <a:pt x="9639173" y="447421"/>
                  </a:cubicBezTo>
                  <a:lnTo>
                    <a:pt x="9639173" y="2236978"/>
                  </a:lnTo>
                  <a:cubicBezTo>
                    <a:pt x="9639173" y="2484120"/>
                    <a:pt x="9438894" y="2684399"/>
                    <a:pt x="9191752" y="2684399"/>
                  </a:cubicBezTo>
                  <a:lnTo>
                    <a:pt x="447421" y="2684399"/>
                  </a:lnTo>
                  <a:cubicBezTo>
                    <a:pt x="200279" y="2684399"/>
                    <a:pt x="0" y="2483993"/>
                    <a:pt x="0" y="2236978"/>
                  </a:cubicBezTo>
                  <a:close/>
                </a:path>
              </a:pathLst>
            </a:custGeom>
            <a:solidFill>
              <a:srgbClr val="101725"/>
            </a:solidFill>
            <a:ln w="22878" cap="sq">
              <a:solidFill>
                <a:srgbClr val="4ADE8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1070031" y="5689311"/>
            <a:ext cx="7206529" cy="1166774"/>
            <a:chOff x="0" y="0"/>
            <a:chExt cx="9608706" cy="155569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608707" cy="1555695"/>
            </a:xfrm>
            <a:custGeom>
              <a:avLst/>
              <a:gdLst/>
              <a:ahLst/>
              <a:cxnLst/>
              <a:rect r="r" b="b" t="t" l="l"/>
              <a:pathLst>
                <a:path h="1555695" w="9608707">
                  <a:moveTo>
                    <a:pt x="0" y="0"/>
                  </a:moveTo>
                  <a:lnTo>
                    <a:pt x="9608707" y="0"/>
                  </a:lnTo>
                  <a:lnTo>
                    <a:pt x="9608707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348" r="0" b="-7034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9608706" cy="15556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3062"/>
                </a:lnSpc>
              </a:pPr>
              <a:r xmlns:a="http://schemas.openxmlformats.org/drawingml/2006/main">
                <a:rPr lang="en" sz="2551" b="true">
                  <a:solidFill>
                    <a:srgbClr val="4ADE8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For simple counters/flags</a:t>
              </a:r>
            </a:p>
            <a:p>
              <a:pPr xmlns:a="http://schemas.openxmlformats.org/drawingml/2006/main" algn="l">
                <a:lnSpc>
                  <a:spcPts val="3242"/>
                </a:lnSpc>
              </a:pPr>
              <a:r xmlns:a="http://schemas.openxmlformats.org/drawingml/2006/main">
                <a:rPr lang="en" sz="270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Often Interlocked* is sufficient.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702188" y="7606894"/>
            <a:ext cx="6938792" cy="1011203"/>
            <a:chOff x="0" y="0"/>
            <a:chExt cx="9251722" cy="13482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51638" cy="1348232"/>
            </a:xfrm>
            <a:custGeom>
              <a:avLst/>
              <a:gdLst/>
              <a:ahLst/>
              <a:cxnLst/>
              <a:rect r="r" b="b" t="t" l="l"/>
              <a:pathLst>
                <a:path h="1348232" w="9251638">
                  <a:moveTo>
                    <a:pt x="0" y="224663"/>
                  </a:moveTo>
                  <a:cubicBezTo>
                    <a:pt x="0" y="100584"/>
                    <a:pt x="73510" y="0"/>
                    <a:pt x="164192" y="0"/>
                  </a:cubicBezTo>
                  <a:lnTo>
                    <a:pt x="9087447" y="0"/>
                  </a:lnTo>
                  <a:cubicBezTo>
                    <a:pt x="9178128" y="0"/>
                    <a:pt x="9251638" y="100584"/>
                    <a:pt x="9251638" y="224663"/>
                  </a:cubicBezTo>
                  <a:lnTo>
                    <a:pt x="9251638" y="1123569"/>
                  </a:lnTo>
                  <a:cubicBezTo>
                    <a:pt x="9251638" y="1247648"/>
                    <a:pt x="9178128" y="1348232"/>
                    <a:pt x="9087447" y="1348232"/>
                  </a:cubicBezTo>
                  <a:lnTo>
                    <a:pt x="164192" y="1348232"/>
                  </a:lnTo>
                  <a:cubicBezTo>
                    <a:pt x="73510" y="1348232"/>
                    <a:pt x="0" y="1247648"/>
                    <a:pt x="0" y="1123569"/>
                  </a:cubicBezTo>
                  <a:close/>
                </a:path>
              </a:pathLst>
            </a:custGeom>
            <a:solidFill>
              <a:srgbClr val="182030"/>
            </a:solidFill>
            <a:ln w="22878" cap="sq">
              <a:solidFill>
                <a:srgbClr val="FACC15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4598451" y="7618333"/>
            <a:ext cx="9059637" cy="988324"/>
            <a:chOff x="0" y="0"/>
            <a:chExt cx="12079516" cy="131776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079517" cy="1317766"/>
            </a:xfrm>
            <a:custGeom>
              <a:avLst/>
              <a:gdLst/>
              <a:ahLst/>
              <a:cxnLst/>
              <a:rect r="r" b="b" t="t" l="l"/>
              <a:pathLst>
                <a:path h="1317766" w="12079517">
                  <a:moveTo>
                    <a:pt x="0" y="0"/>
                  </a:moveTo>
                  <a:lnTo>
                    <a:pt x="12079517" y="0"/>
                  </a:lnTo>
                  <a:lnTo>
                    <a:pt x="12079517" y="1317766"/>
                  </a:lnTo>
                  <a:lnTo>
                    <a:pt x="0" y="13177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12079516" cy="13177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2882"/>
                </a:lnSpc>
              </a:pPr>
              <a:r xmlns:a="http://schemas.openxmlformats.org/drawingml/2006/main">
                <a:rPr lang="en" sz="2401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Atomicity ≠ universal lock replacement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60872" y="9773431"/>
            <a:ext cx="10981382" cy="301990"/>
            <a:chOff x="0" y="0"/>
            <a:chExt cx="14641843" cy="40265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641840" cy="402651"/>
            </a:xfrm>
            <a:custGeom>
              <a:avLst/>
              <a:gdLst/>
              <a:ahLst/>
              <a:cxnLst/>
              <a:rect r="r" b="b" t="t" l="l"/>
              <a:pathLst>
                <a:path h="402651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8546" r="0" b="-65854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14641843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1441"/>
                </a:lnSpc>
              </a:pPr>
              <a:r xmlns:a="http://schemas.openxmlformats.org/drawingml/2006/main">
                <a:rPr lang="en" sz="1200">
                  <a:solidFill>
                    <a:srgbClr val="5F6E84"/>
                  </a:solidFill>
                  <a:latin typeface="Aptos"/>
                  <a:ea typeface="Aptos"/>
                  <a:cs typeface="Aptos"/>
                  <a:sym typeface="Aptos"/>
                </a:rPr>
                <a:t>System programming • Windows synchronization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-1019037" y="804533"/>
            <a:ext cx="6721225" cy="9638591"/>
          </a:xfrm>
          <a:custGeom>
            <a:avLst/>
            <a:gdLst/>
            <a:ahLst/>
            <a:cxnLst/>
            <a:rect r="r" b="b" t="t" l="l"/>
            <a:pathLst>
              <a:path h="9638591" w="6721225">
                <a:moveTo>
                  <a:pt x="0" y="0"/>
                </a:moveTo>
                <a:lnTo>
                  <a:pt x="6721225" y="0"/>
                </a:lnTo>
                <a:lnTo>
                  <a:pt x="6721225" y="9638591"/>
                </a:lnTo>
                <a:lnTo>
                  <a:pt x="0" y="96385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6032036" y="3442164"/>
            <a:ext cx="4383919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l">
              <a:lnSpc>
                <a:spcPts val="2521"/>
              </a:lnSpc>
            </a:pPr>
            <a:r xmlns:a="http://schemas.openxmlformats.org/drawingml/2006/main">
              <a:rPr lang="en" sz="210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counter++;</a:t>
            </a:r>
          </a:p>
          <a:p>
            <a:pPr xmlns:a="http://schemas.openxmlformats.org/drawingml/2006/main" algn="l">
              <a:lnSpc>
                <a:spcPts val="3242"/>
              </a:lnSpc>
            </a:pPr>
            <a:r xmlns:a="http://schemas.openxmlformats.org/drawingml/2006/main">
              <a:rPr lang="en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// read → modify → write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463461" y="3381318"/>
            <a:ext cx="6419679" cy="161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l">
              <a:lnSpc>
                <a:spcPts val="2521"/>
              </a:lnSpc>
            </a:pPr>
            <a:r xmlns:a="http://schemas.openxmlformats.org/drawingml/2006/main">
              <a:rPr lang="en" sz="2101">
                <a:solidFill>
                  <a:srgbClr val="FFFBFB"/>
                </a:solidFill>
                <a:latin typeface="Consolas"/>
                <a:ea typeface="Consolas"/>
                <a:cs typeface="Consolas"/>
                <a:sym typeface="Consolas"/>
              </a:rPr>
              <a:t>InterlockedIncrement(&amp;counter);</a:t>
            </a:r>
          </a:p>
          <a:p>
            <a:pPr xmlns:a="http://schemas.openxmlformats.org/drawingml/2006/main" algn="l">
              <a:lnSpc>
                <a:spcPts val="3242"/>
              </a:lnSpc>
            </a:pPr>
            <a:r xmlns:a="http://schemas.openxmlformats.org/drawingml/2006/main">
              <a:rPr lang="en" sz="2702">
                <a:solidFill>
                  <a:srgbClr val="FFFBFB"/>
                </a:solidFill>
                <a:latin typeface="Calibri (MS)"/>
                <a:ea typeface="Calibri (MS)"/>
                <a:cs typeface="Calibri (MS)"/>
                <a:sym typeface="Calibri (MS)"/>
              </a:rPr>
              <a:t>// one indivisible operation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B10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872" y="576520"/>
            <a:ext cx="16060264" cy="823608"/>
            <a:chOff x="0" y="0"/>
            <a:chExt cx="21413686" cy="1098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13690" cy="1098138"/>
            </a:xfrm>
            <a:custGeom>
              <a:avLst/>
              <a:gdLst/>
              <a:ahLst/>
              <a:cxnLst/>
              <a:rect r="r" b="b" t="t" l="l"/>
              <a:pathLst>
                <a:path h="1098138" w="21413690">
                  <a:moveTo>
                    <a:pt x="0" y="0"/>
                  </a:moveTo>
                  <a:lnTo>
                    <a:pt x="21413690" y="0"/>
                  </a:lnTo>
                  <a:lnTo>
                    <a:pt x="21413690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9957" r="0" b="-32995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413686" cy="1098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5043"/>
                </a:lnSpc>
              </a:pPr>
              <a:r xmlns:a="http://schemas.openxmlformats.org/drawingml/2006/main">
                <a:rPr lang="en" sz="4203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Wait functions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872" y="1482490"/>
            <a:ext cx="960872" cy="61770"/>
            <a:chOff x="0" y="0"/>
            <a:chExt cx="1281163" cy="82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1176" cy="82423"/>
            </a:xfrm>
            <a:custGeom>
              <a:avLst/>
              <a:gdLst/>
              <a:ahLst/>
              <a:cxnLst/>
              <a:rect r="r" b="b" t="t" l="l"/>
              <a:pathLst>
                <a:path h="82423" w="1281176">
                  <a:moveTo>
                    <a:pt x="0" y="0"/>
                  </a:moveTo>
                  <a:lnTo>
                    <a:pt x="1281176" y="0"/>
                  </a:lnTo>
                  <a:lnTo>
                    <a:pt x="1281176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34D3E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0872" y="1592304"/>
            <a:ext cx="16334804" cy="617706"/>
            <a:chOff x="0" y="0"/>
            <a:chExt cx="21779738" cy="8236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79736" cy="823603"/>
            </a:xfrm>
            <a:custGeom>
              <a:avLst/>
              <a:gdLst/>
              <a:ahLst/>
              <a:cxnLst/>
              <a:rect r="r" b="b" t="t" l="l"/>
              <a:pathLst>
                <a:path h="823603" w="21779736">
                  <a:moveTo>
                    <a:pt x="0" y="0"/>
                  </a:moveTo>
                  <a:lnTo>
                    <a:pt x="21779736" y="0"/>
                  </a:lnTo>
                  <a:lnTo>
                    <a:pt x="2177973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5270" r="0" b="-46527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177973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2161"/>
                </a:lnSpc>
              </a:pPr>
              <a:r xmlns:a="http://schemas.openxmlformats.org/drawingml/2006/main">
                <a:rPr lang="en" sz="1801">
                  <a:solidFill>
                    <a:srgbClr val="AAB7CA"/>
                  </a:solidFill>
                  <a:latin typeface="Aptos"/>
                  <a:ea typeface="Aptos"/>
                  <a:cs typeface="Aptos"/>
                  <a:sym typeface="Aptos"/>
                </a:rPr>
                <a:t>Synchronization is also about managing expectations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23962" y="2390737"/>
            <a:ext cx="5788104" cy="1326918"/>
            <a:chOff x="0" y="0"/>
            <a:chExt cx="7717472" cy="176922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17536" cy="1769237"/>
            </a:xfrm>
            <a:custGeom>
              <a:avLst/>
              <a:gdLst/>
              <a:ahLst/>
              <a:cxnLst/>
              <a:rect r="r" b="b" t="t" l="l"/>
              <a:pathLst>
                <a:path h="1769237" w="7717536">
                  <a:moveTo>
                    <a:pt x="0" y="294894"/>
                  </a:moveTo>
                  <a:cubicBezTo>
                    <a:pt x="0" y="132080"/>
                    <a:pt x="132080" y="0"/>
                    <a:pt x="294894" y="0"/>
                  </a:cubicBezTo>
                  <a:lnTo>
                    <a:pt x="7422642" y="0"/>
                  </a:lnTo>
                  <a:cubicBezTo>
                    <a:pt x="7585456" y="0"/>
                    <a:pt x="7717536" y="132080"/>
                    <a:pt x="7717536" y="294894"/>
                  </a:cubicBezTo>
                  <a:lnTo>
                    <a:pt x="7717536" y="1474343"/>
                  </a:lnTo>
                  <a:cubicBezTo>
                    <a:pt x="7717536" y="1637157"/>
                    <a:pt x="7585456" y="1769237"/>
                    <a:pt x="7422642" y="1769237"/>
                  </a:cubicBezTo>
                  <a:lnTo>
                    <a:pt x="294894" y="1769237"/>
                  </a:lnTo>
                  <a:cubicBezTo>
                    <a:pt x="132080" y="1769237"/>
                    <a:pt x="0" y="1637157"/>
                    <a:pt x="0" y="1474343"/>
                  </a:cubicBezTo>
                  <a:close/>
                </a:path>
              </a:pathLst>
            </a:custGeom>
            <a:solidFill>
              <a:srgbClr val="182030"/>
            </a:solidFill>
            <a:ln w="22878" cap="sq">
              <a:solidFill>
                <a:srgbClr val="34D3E1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78569" y="2608078"/>
            <a:ext cx="5078892" cy="480431"/>
            <a:chOff x="0" y="0"/>
            <a:chExt cx="6771856" cy="6405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771850" cy="640580"/>
            </a:xfrm>
            <a:custGeom>
              <a:avLst/>
              <a:gdLst/>
              <a:ahLst/>
              <a:cxnLst/>
              <a:rect r="r" b="b" t="t" l="l"/>
              <a:pathLst>
                <a:path h="640580" w="6771850">
                  <a:moveTo>
                    <a:pt x="0" y="0"/>
                  </a:moveTo>
                  <a:lnTo>
                    <a:pt x="6771850" y="0"/>
                  </a:lnTo>
                  <a:lnTo>
                    <a:pt x="6771850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985" r="0" b="-15598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6771856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2882"/>
                </a:lnSpc>
              </a:pPr>
              <a:r xmlns:a="http://schemas.openxmlformats.org/drawingml/2006/main">
                <a:rPr lang="en" sz="2401" b="true">
                  <a:solidFill>
                    <a:srgbClr val="34D3E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WaitForSingleObject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481068" y="2402176"/>
            <a:ext cx="9334176" cy="1304039"/>
            <a:chOff x="0" y="0"/>
            <a:chExt cx="12445568" cy="17387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445563" cy="1738718"/>
            </a:xfrm>
            <a:custGeom>
              <a:avLst/>
              <a:gdLst/>
              <a:ahLst/>
              <a:cxnLst/>
              <a:rect r="r" b="b" t="t" l="l"/>
              <a:pathLst>
                <a:path h="173871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471" r="0" b="-8947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2445568" cy="1738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3602"/>
                </a:lnSpc>
              </a:pPr>
              <a:r xmlns:a="http://schemas.openxmlformats.org/drawingml/2006/main">
                <a:rPr lang="en" sz="30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wait for one object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23962" y="4243845"/>
            <a:ext cx="5788104" cy="1326918"/>
            <a:chOff x="0" y="0"/>
            <a:chExt cx="7717472" cy="17692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717536" cy="1769237"/>
            </a:xfrm>
            <a:custGeom>
              <a:avLst/>
              <a:gdLst/>
              <a:ahLst/>
              <a:cxnLst/>
              <a:rect r="r" b="b" t="t" l="l"/>
              <a:pathLst>
                <a:path h="1769237" w="7717536">
                  <a:moveTo>
                    <a:pt x="0" y="294894"/>
                  </a:moveTo>
                  <a:cubicBezTo>
                    <a:pt x="0" y="132080"/>
                    <a:pt x="132080" y="0"/>
                    <a:pt x="294894" y="0"/>
                  </a:cubicBezTo>
                  <a:lnTo>
                    <a:pt x="7422642" y="0"/>
                  </a:lnTo>
                  <a:cubicBezTo>
                    <a:pt x="7585456" y="0"/>
                    <a:pt x="7717536" y="132080"/>
                    <a:pt x="7717536" y="294894"/>
                  </a:cubicBezTo>
                  <a:lnTo>
                    <a:pt x="7717536" y="1474343"/>
                  </a:lnTo>
                  <a:cubicBezTo>
                    <a:pt x="7717536" y="1637157"/>
                    <a:pt x="7585456" y="1769237"/>
                    <a:pt x="7422642" y="1769237"/>
                  </a:cubicBezTo>
                  <a:lnTo>
                    <a:pt x="294894" y="1769237"/>
                  </a:lnTo>
                  <a:cubicBezTo>
                    <a:pt x="132080" y="1769237"/>
                    <a:pt x="0" y="1637157"/>
                    <a:pt x="0" y="1474343"/>
                  </a:cubicBezTo>
                  <a:close/>
                </a:path>
              </a:pathLst>
            </a:custGeom>
            <a:solidFill>
              <a:srgbClr val="182030"/>
            </a:solidFill>
            <a:ln w="22878" cap="sq">
              <a:solidFill>
                <a:srgbClr val="A78BFA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578569" y="4461186"/>
            <a:ext cx="5078892" cy="480431"/>
            <a:chOff x="0" y="0"/>
            <a:chExt cx="6771856" cy="64057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771850" cy="640580"/>
            </a:xfrm>
            <a:custGeom>
              <a:avLst/>
              <a:gdLst/>
              <a:ahLst/>
              <a:cxnLst/>
              <a:rect r="r" b="b" t="t" l="l"/>
              <a:pathLst>
                <a:path h="640580" w="6771850">
                  <a:moveTo>
                    <a:pt x="0" y="0"/>
                  </a:moveTo>
                  <a:lnTo>
                    <a:pt x="6771850" y="0"/>
                  </a:lnTo>
                  <a:lnTo>
                    <a:pt x="6771850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985" r="0" b="-15598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6771856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2882"/>
                </a:lnSpc>
              </a:pPr>
              <a:r xmlns:a="http://schemas.openxmlformats.org/drawingml/2006/main">
                <a:rPr lang="en" sz="2401" b="true">
                  <a:solidFill>
                    <a:srgbClr val="A78B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WaitForMultipleObjects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481068" y="4255284"/>
            <a:ext cx="9334176" cy="1304039"/>
            <a:chOff x="0" y="0"/>
            <a:chExt cx="12445568" cy="173871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445563" cy="1738718"/>
            </a:xfrm>
            <a:custGeom>
              <a:avLst/>
              <a:gdLst/>
              <a:ahLst/>
              <a:cxnLst/>
              <a:rect r="r" b="b" t="t" l="l"/>
              <a:pathLst>
                <a:path h="173871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471" r="0" b="-8947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2445568" cy="1738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3602"/>
                </a:lnSpc>
              </a:pPr>
              <a:r xmlns:a="http://schemas.openxmlformats.org/drawingml/2006/main">
                <a:rPr lang="en" sz="30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wait for several objects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23962" y="6096953"/>
            <a:ext cx="5788104" cy="1326918"/>
            <a:chOff x="0" y="0"/>
            <a:chExt cx="7717472" cy="176922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717536" cy="1769237"/>
            </a:xfrm>
            <a:custGeom>
              <a:avLst/>
              <a:gdLst/>
              <a:ahLst/>
              <a:cxnLst/>
              <a:rect r="r" b="b" t="t" l="l"/>
              <a:pathLst>
                <a:path h="1769237" w="7717536">
                  <a:moveTo>
                    <a:pt x="0" y="294894"/>
                  </a:moveTo>
                  <a:cubicBezTo>
                    <a:pt x="0" y="132080"/>
                    <a:pt x="132080" y="0"/>
                    <a:pt x="294894" y="0"/>
                  </a:cubicBezTo>
                  <a:lnTo>
                    <a:pt x="7422642" y="0"/>
                  </a:lnTo>
                  <a:cubicBezTo>
                    <a:pt x="7585456" y="0"/>
                    <a:pt x="7717536" y="132080"/>
                    <a:pt x="7717536" y="294894"/>
                  </a:cubicBezTo>
                  <a:lnTo>
                    <a:pt x="7717536" y="1474343"/>
                  </a:lnTo>
                  <a:cubicBezTo>
                    <a:pt x="7717536" y="1637157"/>
                    <a:pt x="7585456" y="1769237"/>
                    <a:pt x="7422642" y="1769237"/>
                  </a:cubicBezTo>
                  <a:lnTo>
                    <a:pt x="294894" y="1769237"/>
                  </a:lnTo>
                  <a:cubicBezTo>
                    <a:pt x="132080" y="1769237"/>
                    <a:pt x="0" y="1637157"/>
                    <a:pt x="0" y="1474343"/>
                  </a:cubicBezTo>
                  <a:close/>
                </a:path>
              </a:pathLst>
            </a:custGeom>
            <a:solidFill>
              <a:srgbClr val="182030"/>
            </a:solidFill>
            <a:ln w="22878" cap="sq">
              <a:solidFill>
                <a:srgbClr val="FACC15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578569" y="6314294"/>
            <a:ext cx="5078892" cy="480431"/>
            <a:chOff x="0" y="0"/>
            <a:chExt cx="6771856" cy="64057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771850" cy="640580"/>
            </a:xfrm>
            <a:custGeom>
              <a:avLst/>
              <a:gdLst/>
              <a:ahLst/>
              <a:cxnLst/>
              <a:rect r="r" b="b" t="t" l="l"/>
              <a:pathLst>
                <a:path h="640580" w="6771850">
                  <a:moveTo>
                    <a:pt x="0" y="0"/>
                  </a:moveTo>
                  <a:lnTo>
                    <a:pt x="6771850" y="0"/>
                  </a:lnTo>
                  <a:lnTo>
                    <a:pt x="6771850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985" r="0" b="-15598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6771856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2882"/>
                </a:lnSpc>
              </a:pPr>
              <a:r xmlns:a="http://schemas.openxmlformats.org/drawingml/2006/main">
                <a:rPr lang="en" sz="2401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timeout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481068" y="6108392"/>
            <a:ext cx="9334176" cy="1304039"/>
            <a:chOff x="0" y="0"/>
            <a:chExt cx="12445568" cy="173871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445563" cy="1738718"/>
            </a:xfrm>
            <a:custGeom>
              <a:avLst/>
              <a:gdLst/>
              <a:ahLst/>
              <a:cxnLst/>
              <a:rect r="r" b="b" t="t" l="l"/>
              <a:pathLst>
                <a:path h="1738718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471" r="0" b="-8947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2445568" cy="1738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3602"/>
                </a:lnSpc>
              </a:pPr>
              <a:r xmlns:a="http://schemas.openxmlformats.org/drawingml/2006/main">
                <a:rPr lang="en" sz="30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don't wait forever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23962" y="8018697"/>
            <a:ext cx="15602712" cy="1011203"/>
            <a:chOff x="0" y="0"/>
            <a:chExt cx="20803616" cy="134827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803617" cy="1348232"/>
            </a:xfrm>
            <a:custGeom>
              <a:avLst/>
              <a:gdLst/>
              <a:ahLst/>
              <a:cxnLst/>
              <a:rect r="r" b="b" t="t" l="l"/>
              <a:pathLst>
                <a:path h="1348232" w="20803617">
                  <a:moveTo>
                    <a:pt x="0" y="224663"/>
                  </a:moveTo>
                  <a:cubicBezTo>
                    <a:pt x="0" y="100584"/>
                    <a:pt x="100584" y="0"/>
                    <a:pt x="224663" y="0"/>
                  </a:cubicBezTo>
                  <a:lnTo>
                    <a:pt x="20578953" y="0"/>
                  </a:lnTo>
                  <a:cubicBezTo>
                    <a:pt x="20703032" y="0"/>
                    <a:pt x="20803617" y="100584"/>
                    <a:pt x="20803617" y="224663"/>
                  </a:cubicBezTo>
                  <a:lnTo>
                    <a:pt x="20803617" y="1123569"/>
                  </a:lnTo>
                  <a:cubicBezTo>
                    <a:pt x="20803617" y="1247648"/>
                    <a:pt x="20703032" y="1348232"/>
                    <a:pt x="20578953" y="1348232"/>
                  </a:cubicBezTo>
                  <a:lnTo>
                    <a:pt x="224663" y="1348232"/>
                  </a:lnTo>
                  <a:cubicBezTo>
                    <a:pt x="100584" y="1348232"/>
                    <a:pt x="0" y="1247648"/>
                    <a:pt x="0" y="1123569"/>
                  </a:cubicBezTo>
                  <a:close/>
                </a:path>
              </a:pathLst>
            </a:custGeom>
            <a:solidFill>
              <a:srgbClr val="101725"/>
            </a:solidFill>
            <a:ln w="22878" cap="sq">
              <a:solidFill>
                <a:srgbClr val="34D3E1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1628832" y="8192948"/>
            <a:ext cx="14792973" cy="615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l">
              <a:lnSpc>
                <a:spcPts val="2521"/>
              </a:lnSpc>
            </a:pPr>
            <a:r xmlns:a="http://schemas.openxmlformats.org/drawingml/2006/main">
              <a:rPr lang="en" sz="2101">
                <a:solidFill>
                  <a:srgbClr val="F4F7FB"/>
                </a:solidFill>
                <a:latin typeface="Consolas"/>
                <a:ea typeface="Consolas"/>
                <a:cs typeface="Consolas"/>
                <a:sym typeface="Consolas"/>
              </a:rPr>
              <a:t>DWORD r = WaitForSingleObject(hEvent, 2000); // signaled? timeout? failure?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60872" y="9773431"/>
            <a:ext cx="10981382" cy="301990"/>
            <a:chOff x="0" y="0"/>
            <a:chExt cx="14641843" cy="40265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641840" cy="402651"/>
            </a:xfrm>
            <a:custGeom>
              <a:avLst/>
              <a:gdLst/>
              <a:ahLst/>
              <a:cxnLst/>
              <a:rect r="r" b="b" t="t" l="l"/>
              <a:pathLst>
                <a:path h="402651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8546" r="0" b="-65854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4641843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1441"/>
                </a:lnSpc>
              </a:pPr>
              <a:r xmlns:a="http://schemas.openxmlformats.org/drawingml/2006/main">
                <a:rPr lang="en" sz="1200">
                  <a:solidFill>
                    <a:srgbClr val="5F6E84"/>
                  </a:solidFill>
                  <a:latin typeface="Aptos"/>
                  <a:ea typeface="Aptos"/>
                  <a:cs typeface="Aptos"/>
                  <a:sym typeface="Aptos"/>
                </a:rPr>
                <a:t>System programming • Windows synchronization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4497" y="305314"/>
            <a:ext cx="16060264" cy="1208061"/>
            <a:chOff x="0" y="0"/>
            <a:chExt cx="21413686" cy="16107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13690" cy="1610740"/>
            </a:xfrm>
            <a:custGeom>
              <a:avLst/>
              <a:gdLst/>
              <a:ahLst/>
              <a:cxnLst/>
              <a:rect r="r" b="b" t="t" l="l"/>
              <a:pathLst>
                <a:path h="1610740" w="21413690">
                  <a:moveTo>
                    <a:pt x="0" y="0"/>
                  </a:moveTo>
                  <a:lnTo>
                    <a:pt x="21413690" y="0"/>
                  </a:lnTo>
                  <a:lnTo>
                    <a:pt x="21413690" y="1610740"/>
                  </a:lnTo>
                  <a:lnTo>
                    <a:pt x="0" y="1610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4952" r="0" b="-19312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413686" cy="16202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6003"/>
                </a:lnSpc>
              </a:pPr>
              <a:r xmlns:a="http://schemas.openxmlformats.org/drawingml/2006/main">
                <a:rPr lang="en" b="true" sz="5003">
                  <a:solidFill>
                    <a:srgbClr val="000000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Deadlock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872" y="1482490"/>
            <a:ext cx="960872" cy="61770"/>
            <a:chOff x="0" y="0"/>
            <a:chExt cx="1281163" cy="82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1176" cy="82423"/>
            </a:xfrm>
            <a:custGeom>
              <a:avLst/>
              <a:gdLst/>
              <a:ahLst/>
              <a:cxnLst/>
              <a:rect r="r" b="b" t="t" l="l"/>
              <a:pathLst>
                <a:path h="82423" w="1281176">
                  <a:moveTo>
                    <a:pt x="0" y="0"/>
                  </a:moveTo>
                  <a:lnTo>
                    <a:pt x="1281176" y="0"/>
                  </a:lnTo>
                  <a:lnTo>
                    <a:pt x="1281176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34D3E1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4497" y="1513375"/>
            <a:ext cx="16334804" cy="617703"/>
            <a:chOff x="0" y="0"/>
            <a:chExt cx="21779738" cy="82360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79736" cy="823599"/>
            </a:xfrm>
            <a:custGeom>
              <a:avLst/>
              <a:gdLst/>
              <a:ahLst/>
              <a:cxnLst/>
              <a:rect r="r" b="b" t="t" l="l"/>
              <a:pathLst>
                <a:path h="823599" w="21779736">
                  <a:moveTo>
                    <a:pt x="0" y="0"/>
                  </a:moveTo>
                  <a:lnTo>
                    <a:pt x="21779736" y="0"/>
                  </a:lnTo>
                  <a:lnTo>
                    <a:pt x="21779736" y="823599"/>
                  </a:lnTo>
                  <a:lnTo>
                    <a:pt x="0" y="823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4209" r="0" b="-142420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1779738" cy="8236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2161"/>
                </a:lnSpc>
              </a:pPr>
              <a:r xmlns:a="http://schemas.openxmlformats.org/drawingml/2006/main">
                <a:rPr lang="en" b="true" sz="1801">
                  <a:solidFill>
                    <a:srgbClr val="FF313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KESHIKPEY KELEM DEP EҢ, MEN TURMYN ELEҢDEUMEN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068587" y="2661444"/>
            <a:ext cx="3356981" cy="983570"/>
            <a:chOff x="0" y="0"/>
            <a:chExt cx="4789106" cy="14031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89043" cy="1403096"/>
            </a:xfrm>
            <a:custGeom>
              <a:avLst/>
              <a:gdLst/>
              <a:ahLst/>
              <a:cxnLst/>
              <a:rect r="r" b="b" t="t" l="l"/>
              <a:pathLst>
                <a:path h="1403096" w="4789043">
                  <a:moveTo>
                    <a:pt x="0" y="233807"/>
                  </a:moveTo>
                  <a:cubicBezTo>
                    <a:pt x="0" y="104648"/>
                    <a:pt x="104648" y="0"/>
                    <a:pt x="233807" y="0"/>
                  </a:cubicBezTo>
                  <a:lnTo>
                    <a:pt x="4555236" y="0"/>
                  </a:lnTo>
                  <a:cubicBezTo>
                    <a:pt x="4684395" y="0"/>
                    <a:pt x="4789043" y="104648"/>
                    <a:pt x="4789043" y="233807"/>
                  </a:cubicBezTo>
                  <a:lnTo>
                    <a:pt x="4789043" y="1169289"/>
                  </a:lnTo>
                  <a:cubicBezTo>
                    <a:pt x="4789043" y="1298448"/>
                    <a:pt x="4684395" y="1403096"/>
                    <a:pt x="4555236" y="1403096"/>
                  </a:cubicBezTo>
                  <a:lnTo>
                    <a:pt x="233807" y="1403096"/>
                  </a:lnTo>
                  <a:cubicBezTo>
                    <a:pt x="104648" y="1403223"/>
                    <a:pt x="0" y="1298448"/>
                    <a:pt x="0" y="1169289"/>
                  </a:cubicBezTo>
                  <a:close/>
                </a:path>
              </a:pathLst>
            </a:custGeom>
            <a:solidFill>
              <a:srgbClr val="182030"/>
            </a:solidFill>
            <a:ln w="22878" cap="sq">
              <a:solidFill>
                <a:srgbClr val="60A5FA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079279" y="2672135"/>
            <a:ext cx="3335598" cy="962187"/>
            <a:chOff x="0" y="0"/>
            <a:chExt cx="4758601" cy="13726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58598" cy="1372672"/>
            </a:xfrm>
            <a:custGeom>
              <a:avLst/>
              <a:gdLst/>
              <a:ahLst/>
              <a:cxnLst/>
              <a:rect r="r" b="b" t="t" l="l"/>
              <a:pathLst>
                <a:path h="1372672" w="4758598">
                  <a:moveTo>
                    <a:pt x="0" y="0"/>
                  </a:moveTo>
                  <a:lnTo>
                    <a:pt x="4758598" y="0"/>
                  </a:lnTo>
                  <a:lnTo>
                    <a:pt x="4758598" y="1372672"/>
                  </a:lnTo>
                  <a:lnTo>
                    <a:pt x="0" y="1372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48" r="0" b="-1754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758601" cy="1372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2882"/>
                </a:lnSpc>
              </a:pPr>
              <a:r xmlns:a="http://schemas.openxmlformats.org/drawingml/2006/main">
                <a:rPr lang="en" sz="24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Thread 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64156" y="2661444"/>
            <a:ext cx="3356981" cy="983570"/>
            <a:chOff x="0" y="0"/>
            <a:chExt cx="4789106" cy="14031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89043" cy="1403096"/>
            </a:xfrm>
            <a:custGeom>
              <a:avLst/>
              <a:gdLst/>
              <a:ahLst/>
              <a:cxnLst/>
              <a:rect r="r" b="b" t="t" l="l"/>
              <a:pathLst>
                <a:path h="1403096" w="4789043">
                  <a:moveTo>
                    <a:pt x="0" y="233807"/>
                  </a:moveTo>
                  <a:cubicBezTo>
                    <a:pt x="0" y="104648"/>
                    <a:pt x="104648" y="0"/>
                    <a:pt x="233807" y="0"/>
                  </a:cubicBezTo>
                  <a:lnTo>
                    <a:pt x="4555236" y="0"/>
                  </a:lnTo>
                  <a:cubicBezTo>
                    <a:pt x="4684395" y="0"/>
                    <a:pt x="4789043" y="104648"/>
                    <a:pt x="4789043" y="233807"/>
                  </a:cubicBezTo>
                  <a:lnTo>
                    <a:pt x="4789043" y="1169289"/>
                  </a:lnTo>
                  <a:cubicBezTo>
                    <a:pt x="4789043" y="1298448"/>
                    <a:pt x="4684395" y="1403096"/>
                    <a:pt x="4555236" y="1403096"/>
                  </a:cubicBezTo>
                  <a:lnTo>
                    <a:pt x="233807" y="1403096"/>
                  </a:lnTo>
                  <a:cubicBezTo>
                    <a:pt x="104648" y="1403223"/>
                    <a:pt x="0" y="1298448"/>
                    <a:pt x="0" y="1169289"/>
                  </a:cubicBezTo>
                  <a:close/>
                </a:path>
              </a:pathLst>
            </a:custGeom>
            <a:solidFill>
              <a:srgbClr val="182030"/>
            </a:solidFill>
            <a:ln w="22878" cap="sq">
              <a:solidFill>
                <a:srgbClr val="FACC15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3674848" y="2672135"/>
            <a:ext cx="3335598" cy="962187"/>
            <a:chOff x="0" y="0"/>
            <a:chExt cx="4758601" cy="137266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58598" cy="1372672"/>
            </a:xfrm>
            <a:custGeom>
              <a:avLst/>
              <a:gdLst/>
              <a:ahLst/>
              <a:cxnLst/>
              <a:rect r="r" b="b" t="t" l="l"/>
              <a:pathLst>
                <a:path h="1372672" w="4758598">
                  <a:moveTo>
                    <a:pt x="0" y="0"/>
                  </a:moveTo>
                  <a:lnTo>
                    <a:pt x="4758598" y="0"/>
                  </a:lnTo>
                  <a:lnTo>
                    <a:pt x="4758598" y="1372672"/>
                  </a:lnTo>
                  <a:lnTo>
                    <a:pt x="0" y="1372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48" r="0" b="-1754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4758601" cy="1372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2882"/>
                </a:lnSpc>
              </a:pPr>
              <a:r xmlns:a="http://schemas.openxmlformats.org/drawingml/2006/main">
                <a:rPr lang="en" sz="24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Resource 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664156" y="6061191"/>
            <a:ext cx="3356981" cy="983570"/>
            <a:chOff x="0" y="0"/>
            <a:chExt cx="4789106" cy="14031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89043" cy="1403096"/>
            </a:xfrm>
            <a:custGeom>
              <a:avLst/>
              <a:gdLst/>
              <a:ahLst/>
              <a:cxnLst/>
              <a:rect r="r" b="b" t="t" l="l"/>
              <a:pathLst>
                <a:path h="1403096" w="4789043">
                  <a:moveTo>
                    <a:pt x="0" y="233807"/>
                  </a:moveTo>
                  <a:cubicBezTo>
                    <a:pt x="0" y="104648"/>
                    <a:pt x="104648" y="0"/>
                    <a:pt x="233807" y="0"/>
                  </a:cubicBezTo>
                  <a:lnTo>
                    <a:pt x="4555236" y="0"/>
                  </a:lnTo>
                  <a:cubicBezTo>
                    <a:pt x="4684395" y="0"/>
                    <a:pt x="4789043" y="104648"/>
                    <a:pt x="4789043" y="233807"/>
                  </a:cubicBezTo>
                  <a:lnTo>
                    <a:pt x="4789043" y="1169289"/>
                  </a:lnTo>
                  <a:cubicBezTo>
                    <a:pt x="4789043" y="1298448"/>
                    <a:pt x="4684395" y="1403096"/>
                    <a:pt x="4555236" y="1403096"/>
                  </a:cubicBezTo>
                  <a:lnTo>
                    <a:pt x="233807" y="1403096"/>
                  </a:lnTo>
                  <a:cubicBezTo>
                    <a:pt x="104648" y="1403223"/>
                    <a:pt x="0" y="1298448"/>
                    <a:pt x="0" y="1169289"/>
                  </a:cubicBezTo>
                  <a:close/>
                </a:path>
              </a:pathLst>
            </a:custGeom>
            <a:solidFill>
              <a:srgbClr val="182030"/>
            </a:solidFill>
            <a:ln w="22878" cap="sq">
              <a:solidFill>
                <a:srgbClr val="A78BFA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674848" y="6071882"/>
            <a:ext cx="3335598" cy="962187"/>
            <a:chOff x="0" y="0"/>
            <a:chExt cx="4758601" cy="137266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758598" cy="1372672"/>
            </a:xfrm>
            <a:custGeom>
              <a:avLst/>
              <a:gdLst/>
              <a:ahLst/>
              <a:cxnLst/>
              <a:rect r="r" b="b" t="t" l="l"/>
              <a:pathLst>
                <a:path h="1372672" w="4758598">
                  <a:moveTo>
                    <a:pt x="0" y="0"/>
                  </a:moveTo>
                  <a:lnTo>
                    <a:pt x="4758598" y="0"/>
                  </a:lnTo>
                  <a:lnTo>
                    <a:pt x="4758598" y="1372672"/>
                  </a:lnTo>
                  <a:lnTo>
                    <a:pt x="0" y="1372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48" r="0" b="-1754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4758601" cy="1372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2882"/>
                </a:lnSpc>
              </a:pPr>
              <a:r xmlns:a="http://schemas.openxmlformats.org/drawingml/2006/main">
                <a:rPr lang="en" sz="24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Thread B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068587" y="6061191"/>
            <a:ext cx="3356981" cy="983570"/>
            <a:chOff x="0" y="0"/>
            <a:chExt cx="4789106" cy="14031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789043" cy="1403096"/>
            </a:xfrm>
            <a:custGeom>
              <a:avLst/>
              <a:gdLst/>
              <a:ahLst/>
              <a:cxnLst/>
              <a:rect r="r" b="b" t="t" l="l"/>
              <a:pathLst>
                <a:path h="1403096" w="4789043">
                  <a:moveTo>
                    <a:pt x="0" y="233807"/>
                  </a:moveTo>
                  <a:cubicBezTo>
                    <a:pt x="0" y="104648"/>
                    <a:pt x="104648" y="0"/>
                    <a:pt x="233807" y="0"/>
                  </a:cubicBezTo>
                  <a:lnTo>
                    <a:pt x="4555236" y="0"/>
                  </a:lnTo>
                  <a:cubicBezTo>
                    <a:pt x="4684395" y="0"/>
                    <a:pt x="4789043" y="104648"/>
                    <a:pt x="4789043" y="233807"/>
                  </a:cubicBezTo>
                  <a:lnTo>
                    <a:pt x="4789043" y="1169289"/>
                  </a:lnTo>
                  <a:cubicBezTo>
                    <a:pt x="4789043" y="1298448"/>
                    <a:pt x="4684395" y="1403096"/>
                    <a:pt x="4555236" y="1403096"/>
                  </a:cubicBezTo>
                  <a:lnTo>
                    <a:pt x="233807" y="1403096"/>
                  </a:lnTo>
                  <a:cubicBezTo>
                    <a:pt x="104648" y="1403223"/>
                    <a:pt x="0" y="1298448"/>
                    <a:pt x="0" y="1169289"/>
                  </a:cubicBezTo>
                  <a:close/>
                </a:path>
              </a:pathLst>
            </a:custGeom>
            <a:solidFill>
              <a:srgbClr val="182030"/>
            </a:solidFill>
            <a:ln w="22878" cap="sq">
              <a:solidFill>
                <a:srgbClr val="4ADE80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5079279" y="6071882"/>
            <a:ext cx="3335598" cy="962187"/>
            <a:chOff x="0" y="0"/>
            <a:chExt cx="4758601" cy="137266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58598" cy="1372672"/>
            </a:xfrm>
            <a:custGeom>
              <a:avLst/>
              <a:gdLst/>
              <a:ahLst/>
              <a:cxnLst/>
              <a:rect r="r" b="b" t="t" l="l"/>
              <a:pathLst>
                <a:path h="1372672" w="4758598">
                  <a:moveTo>
                    <a:pt x="0" y="0"/>
                  </a:moveTo>
                  <a:lnTo>
                    <a:pt x="4758598" y="0"/>
                  </a:lnTo>
                  <a:lnTo>
                    <a:pt x="4758598" y="1372672"/>
                  </a:lnTo>
                  <a:lnTo>
                    <a:pt x="0" y="1372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48" r="0" b="-1754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4758601" cy="13726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2882"/>
                </a:lnSpc>
              </a:pPr>
              <a:r xmlns:a="http://schemas.openxmlformats.org/drawingml/2006/main">
                <a:rPr lang="en" sz="24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Resource 2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>
            <a:off x="8459419" y="3140065"/>
            <a:ext cx="5215429" cy="13164"/>
          </a:xfrm>
          <a:prstGeom prst="line">
            <a:avLst/>
          </a:prstGeom>
          <a:ln cap="rnd" w="19050">
            <a:solidFill>
              <a:srgbClr val="F8717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>
            <a:off x="15323042" y="3678873"/>
            <a:ext cx="19605" cy="2393009"/>
          </a:xfrm>
          <a:prstGeom prst="line">
            <a:avLst/>
          </a:prstGeom>
          <a:ln cap="rnd" w="19050">
            <a:solidFill>
              <a:srgbClr val="F8717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H="true">
            <a:off x="8459419" y="6552976"/>
            <a:ext cx="5204737" cy="13164"/>
          </a:xfrm>
          <a:prstGeom prst="line">
            <a:avLst/>
          </a:prstGeom>
          <a:ln cap="rnd" w="19050">
            <a:solidFill>
              <a:srgbClr val="F8717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H="true" flipV="true">
            <a:off x="6737554" y="3634490"/>
            <a:ext cx="104845" cy="2585213"/>
          </a:xfrm>
          <a:prstGeom prst="line">
            <a:avLst/>
          </a:prstGeom>
          <a:ln cap="rnd" w="19050">
            <a:solidFill>
              <a:srgbClr val="F8717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9056334" y="4019209"/>
            <a:ext cx="3977056" cy="1411215"/>
            <a:chOff x="0" y="0"/>
            <a:chExt cx="5673712" cy="201325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673713" cy="2013253"/>
            </a:xfrm>
            <a:custGeom>
              <a:avLst/>
              <a:gdLst/>
              <a:ahLst/>
              <a:cxnLst/>
              <a:rect r="r" b="b" t="t" l="l"/>
              <a:pathLst>
                <a:path h="2013253" w="5673713">
                  <a:moveTo>
                    <a:pt x="0" y="0"/>
                  </a:moveTo>
                  <a:lnTo>
                    <a:pt x="5673713" y="0"/>
                  </a:lnTo>
                  <a:lnTo>
                    <a:pt x="5673713" y="2013253"/>
                  </a:lnTo>
                  <a:lnTo>
                    <a:pt x="0" y="20132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105" r="0" b="-10710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5673712" cy="2003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3963"/>
                </a:lnSpc>
              </a:pPr>
              <a:r xmlns:a="http://schemas.openxmlformats.org/drawingml/2006/main">
                <a:rPr lang="en" sz="3302" b="true">
                  <a:solidFill>
                    <a:srgbClr val="F8717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 is waiting for R1</a:t>
              </a:r>
            </a:p>
            <a:p>
              <a:pPr xmlns:a="http://schemas.openxmlformats.org/drawingml/2006/main" algn="ctr">
                <a:lnSpc>
                  <a:spcPts val="3242"/>
                </a:lnSpc>
              </a:pPr>
              <a:r xmlns:a="http://schemas.openxmlformats.org/drawingml/2006/main">
                <a:rPr lang="en" sz="270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 is waiting for R2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478521" y="8159909"/>
            <a:ext cx="9402219" cy="1389930"/>
            <a:chOff x="0" y="0"/>
            <a:chExt cx="10030105" cy="14827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30104" cy="1482742"/>
            </a:xfrm>
            <a:custGeom>
              <a:avLst/>
              <a:gdLst/>
              <a:ahLst/>
              <a:cxnLst/>
              <a:rect r="r" b="b" t="t" l="l"/>
              <a:pathLst>
                <a:path h="1482742" w="10030104">
                  <a:moveTo>
                    <a:pt x="0" y="0"/>
                  </a:moveTo>
                  <a:lnTo>
                    <a:pt x="10030104" y="0"/>
                  </a:lnTo>
                  <a:lnTo>
                    <a:pt x="10030104" y="1482742"/>
                  </a:lnTo>
                  <a:lnTo>
                    <a:pt x="0" y="14827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350" r="0" b="-32385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10030105" cy="1482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2702"/>
                </a:lnSpc>
              </a:pPr>
              <a:r xmlns:a="http://schemas.openxmlformats.org/drawingml/2006/main">
                <a:rPr lang="en" b="true" sz="2251">
                  <a:solidFill>
                    <a:srgbClr val="60A5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Treatment: single capture order • timeout • decrease lock area • do not hold lock during long operations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60872" y="9773431"/>
            <a:ext cx="10981382" cy="301990"/>
            <a:chOff x="0" y="0"/>
            <a:chExt cx="14641843" cy="40265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641840" cy="402651"/>
            </a:xfrm>
            <a:custGeom>
              <a:avLst/>
              <a:gdLst/>
              <a:ahLst/>
              <a:cxnLst/>
              <a:rect r="r" b="b" t="t" l="l"/>
              <a:pathLst>
                <a:path h="402651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8546" r="0" b="-65854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14641843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1441"/>
                </a:lnSpc>
              </a:pPr>
              <a:r xmlns:a="http://schemas.openxmlformats.org/drawingml/2006/main">
                <a:rPr lang="en" sz="1200">
                  <a:solidFill>
                    <a:srgbClr val="5F6E84"/>
                  </a:solidFill>
                  <a:latin typeface="Aptos"/>
                  <a:ea typeface="Aptos"/>
                  <a:cs typeface="Aptos"/>
                  <a:sym typeface="Aptos"/>
                </a:rPr>
                <a:t>System programming • Windows synchronization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-1849042" y="2832917"/>
            <a:ext cx="7944677" cy="8857859"/>
          </a:xfrm>
          <a:custGeom>
            <a:avLst/>
            <a:gdLst/>
            <a:ahLst/>
            <a:cxnLst/>
            <a:rect r="r" b="b" t="t" l="l"/>
            <a:pathLst>
              <a:path h="8857859" w="7944677">
                <a:moveTo>
                  <a:pt x="0" y="0"/>
                </a:moveTo>
                <a:lnTo>
                  <a:pt x="7944678" y="0"/>
                </a:lnTo>
                <a:lnTo>
                  <a:pt x="7944678" y="8857859"/>
                </a:lnTo>
                <a:lnTo>
                  <a:pt x="0" y="8857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B10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872" y="576520"/>
            <a:ext cx="16060264" cy="823608"/>
            <a:chOff x="0" y="0"/>
            <a:chExt cx="21413686" cy="1098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13690" cy="1098138"/>
            </a:xfrm>
            <a:custGeom>
              <a:avLst/>
              <a:gdLst/>
              <a:ahLst/>
              <a:cxnLst/>
              <a:rect r="r" b="b" t="t" l="l"/>
              <a:pathLst>
                <a:path h="1098138" w="21413690">
                  <a:moveTo>
                    <a:pt x="0" y="0"/>
                  </a:moveTo>
                  <a:lnTo>
                    <a:pt x="21413690" y="0"/>
                  </a:lnTo>
                  <a:lnTo>
                    <a:pt x="21413690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9957" r="0" b="-32995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413686" cy="1098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5043"/>
                </a:lnSpc>
              </a:pPr>
              <a:r xmlns:a="http://schemas.openxmlformats.org/drawingml/2006/main">
                <a:rPr lang="en" sz="4203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Race condition ≠ Deadlock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872" y="1482490"/>
            <a:ext cx="960872" cy="61770"/>
            <a:chOff x="0" y="0"/>
            <a:chExt cx="1281163" cy="82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1176" cy="82423"/>
            </a:xfrm>
            <a:custGeom>
              <a:avLst/>
              <a:gdLst/>
              <a:ahLst/>
              <a:cxnLst/>
              <a:rect r="r" b="b" t="t" l="l"/>
              <a:pathLst>
                <a:path h="82423" w="1281176">
                  <a:moveTo>
                    <a:pt x="0" y="0"/>
                  </a:moveTo>
                  <a:lnTo>
                    <a:pt x="1281176" y="0"/>
                  </a:lnTo>
                  <a:lnTo>
                    <a:pt x="1281176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34D3E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0872" y="1592304"/>
            <a:ext cx="16334804" cy="617706"/>
            <a:chOff x="0" y="0"/>
            <a:chExt cx="21779738" cy="8236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79736" cy="823603"/>
            </a:xfrm>
            <a:custGeom>
              <a:avLst/>
              <a:gdLst/>
              <a:ahLst/>
              <a:cxnLst/>
              <a:rect r="r" b="b" t="t" l="l"/>
              <a:pathLst>
                <a:path h="823603" w="21779736">
                  <a:moveTo>
                    <a:pt x="0" y="0"/>
                  </a:moveTo>
                  <a:lnTo>
                    <a:pt x="21779736" y="0"/>
                  </a:lnTo>
                  <a:lnTo>
                    <a:pt x="2177973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5270" r="0" b="-46527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177973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2161"/>
                </a:lnSpc>
              </a:pPr>
              <a:r xmlns:a="http://schemas.openxmlformats.org/drawingml/2006/main">
                <a:rPr lang="en" sz="1801">
                  <a:solidFill>
                    <a:srgbClr val="AAB7CA"/>
                  </a:solidFill>
                  <a:latin typeface="Aptos"/>
                  <a:ea typeface="Aptos"/>
                  <a:cs typeface="Aptos"/>
                  <a:sym typeface="Aptos"/>
                </a:rPr>
                <a:t>One mistake gives the wrong result, another - no progress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55335" y="2390737"/>
            <a:ext cx="7847114" cy="6405801"/>
            <a:chOff x="0" y="0"/>
            <a:chExt cx="10462819" cy="85410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62768" cy="8541131"/>
            </a:xfrm>
            <a:custGeom>
              <a:avLst/>
              <a:gdLst/>
              <a:ahLst/>
              <a:cxnLst/>
              <a:rect r="r" b="b" t="t" l="l"/>
              <a:pathLst>
                <a:path h="8541131" w="10462768">
                  <a:moveTo>
                    <a:pt x="0" y="1423543"/>
                  </a:moveTo>
                  <a:cubicBezTo>
                    <a:pt x="0" y="637286"/>
                    <a:pt x="637286" y="0"/>
                    <a:pt x="1423543" y="0"/>
                  </a:cubicBezTo>
                  <a:lnTo>
                    <a:pt x="9039225" y="0"/>
                  </a:lnTo>
                  <a:cubicBezTo>
                    <a:pt x="9825482" y="0"/>
                    <a:pt x="10462768" y="637286"/>
                    <a:pt x="10462768" y="1423543"/>
                  </a:cubicBezTo>
                  <a:lnTo>
                    <a:pt x="10462768" y="7117588"/>
                  </a:lnTo>
                  <a:cubicBezTo>
                    <a:pt x="10462768" y="7903845"/>
                    <a:pt x="9825482" y="8541131"/>
                    <a:pt x="9039225" y="8541131"/>
                  </a:cubicBezTo>
                  <a:lnTo>
                    <a:pt x="1423543" y="8541131"/>
                  </a:lnTo>
                  <a:cubicBezTo>
                    <a:pt x="637286" y="8541131"/>
                    <a:pt x="0" y="7903718"/>
                    <a:pt x="0" y="7117588"/>
                  </a:cubicBezTo>
                  <a:close/>
                </a:path>
              </a:pathLst>
            </a:custGeom>
            <a:solidFill>
              <a:srgbClr val="182030"/>
            </a:solidFill>
            <a:ln w="22878" cap="sq">
              <a:solidFill>
                <a:srgbClr val="F87171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78569" y="2813980"/>
            <a:ext cx="7000627" cy="617706"/>
            <a:chOff x="0" y="0"/>
            <a:chExt cx="9334170" cy="8236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334172" cy="823603"/>
            </a:xfrm>
            <a:custGeom>
              <a:avLst/>
              <a:gdLst/>
              <a:ahLst/>
              <a:cxnLst/>
              <a:rect r="r" b="b" t="t" l="l"/>
              <a:pathLst>
                <a:path h="823603" w="9334172">
                  <a:moveTo>
                    <a:pt x="0" y="0"/>
                  </a:moveTo>
                  <a:lnTo>
                    <a:pt x="9334172" y="0"/>
                  </a:lnTo>
                  <a:lnTo>
                    <a:pt x="9334172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9334170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4143"/>
                </a:lnSpc>
              </a:pPr>
              <a:r xmlns:a="http://schemas.openxmlformats.org/drawingml/2006/main">
                <a:rPr lang="en" sz="3452" b="true">
                  <a:solidFill>
                    <a:srgbClr val="F8717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RACE CONDITION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647206" y="3912118"/>
            <a:ext cx="6863363" cy="1098137"/>
            <a:chOff x="0" y="0"/>
            <a:chExt cx="9151150" cy="146418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51149" cy="1464184"/>
            </a:xfrm>
            <a:custGeom>
              <a:avLst/>
              <a:gdLst/>
              <a:ahLst/>
              <a:cxnLst/>
              <a:rect r="r" b="b" t="t" l="l"/>
              <a:pathLst>
                <a:path h="1464184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9151150" cy="1464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4323"/>
                </a:lnSpc>
              </a:pPr>
              <a:r xmlns:a="http://schemas.openxmlformats.org/drawingml/2006/main">
                <a:rPr lang="en" sz="36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"Who got there first?"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47206" y="5284784"/>
            <a:ext cx="6863363" cy="1853108"/>
            <a:chOff x="0" y="0"/>
            <a:chExt cx="9151150" cy="24708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51149" cy="2470810"/>
            </a:xfrm>
            <a:custGeom>
              <a:avLst/>
              <a:gdLst/>
              <a:ahLst/>
              <a:cxnLst/>
              <a:rect r="r" b="b" t="t" l="l"/>
              <a:pathLst>
                <a:path h="2470810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2470810"/>
                  </a:lnTo>
                  <a:lnTo>
                    <a:pt x="0" y="24708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166" r="0" b="-2216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9151150" cy="2470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3242"/>
                </a:lnSpc>
              </a:pPr>
              <a:r xmlns:a="http://schemas.openxmlformats.org/drawingml/2006/main">
                <a:rPr lang="en" sz="2702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The program works,</a:t>
              </a:r>
            </a:p>
            <a:p>
              <a:pPr xmlns:a="http://schemas.openxmlformats.org/drawingml/2006/main" algn="ctr">
                <a:lnSpc>
                  <a:spcPts val="3242"/>
                </a:lnSpc>
              </a:pPr>
              <a:r xmlns:a="http://schemas.openxmlformats.org/drawingml/2006/main">
                <a:rPr lang="en" sz="2702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but the result depends</a:t>
              </a:r>
            </a:p>
            <a:p>
              <a:pPr xmlns:a="http://schemas.openxmlformats.org/drawingml/2006/main" algn="ctr">
                <a:lnSpc>
                  <a:spcPts val="3242"/>
                </a:lnSpc>
              </a:pPr>
              <a:r xmlns:a="http://schemas.openxmlformats.org/drawingml/2006/main">
                <a:rPr lang="en" sz="2702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from the order of execution.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22737" y="2390737"/>
            <a:ext cx="7847114" cy="6405801"/>
            <a:chOff x="0" y="0"/>
            <a:chExt cx="10462819" cy="85410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62768" cy="8541131"/>
            </a:xfrm>
            <a:custGeom>
              <a:avLst/>
              <a:gdLst/>
              <a:ahLst/>
              <a:cxnLst/>
              <a:rect r="r" b="b" t="t" l="l"/>
              <a:pathLst>
                <a:path h="8541131" w="10462768">
                  <a:moveTo>
                    <a:pt x="0" y="1423543"/>
                  </a:moveTo>
                  <a:cubicBezTo>
                    <a:pt x="0" y="637286"/>
                    <a:pt x="637286" y="0"/>
                    <a:pt x="1423543" y="0"/>
                  </a:cubicBezTo>
                  <a:lnTo>
                    <a:pt x="9039225" y="0"/>
                  </a:lnTo>
                  <a:cubicBezTo>
                    <a:pt x="9825482" y="0"/>
                    <a:pt x="10462768" y="637286"/>
                    <a:pt x="10462768" y="1423543"/>
                  </a:cubicBezTo>
                  <a:lnTo>
                    <a:pt x="10462768" y="7117588"/>
                  </a:lnTo>
                  <a:cubicBezTo>
                    <a:pt x="10462768" y="7903845"/>
                    <a:pt x="9825482" y="8541131"/>
                    <a:pt x="9039225" y="8541131"/>
                  </a:cubicBezTo>
                  <a:lnTo>
                    <a:pt x="1423543" y="8541131"/>
                  </a:lnTo>
                  <a:cubicBezTo>
                    <a:pt x="637286" y="8541131"/>
                    <a:pt x="0" y="7903718"/>
                    <a:pt x="0" y="7117588"/>
                  </a:cubicBezTo>
                  <a:close/>
                </a:path>
              </a:pathLst>
            </a:custGeom>
            <a:solidFill>
              <a:srgbClr val="182030"/>
            </a:solidFill>
            <a:ln w="22878" cap="sq">
              <a:solidFill>
                <a:srgbClr val="FACC15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745970" y="2813980"/>
            <a:ext cx="7000627" cy="651697"/>
            <a:chOff x="0" y="0"/>
            <a:chExt cx="9334170" cy="86893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334172" cy="868925"/>
            </a:xfrm>
            <a:custGeom>
              <a:avLst/>
              <a:gdLst/>
              <a:ahLst/>
              <a:cxnLst/>
              <a:rect r="r" b="b" t="t" l="l"/>
              <a:pathLst>
                <a:path h="868925" w="9334172">
                  <a:moveTo>
                    <a:pt x="0" y="0"/>
                  </a:moveTo>
                  <a:lnTo>
                    <a:pt x="9334172" y="0"/>
                  </a:lnTo>
                  <a:lnTo>
                    <a:pt x="9334172" y="868925"/>
                  </a:lnTo>
                  <a:lnTo>
                    <a:pt x="0" y="86892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1919" r="0" b="-15670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9334170" cy="868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4143"/>
                </a:lnSpc>
              </a:pPr>
              <a:r xmlns:a="http://schemas.openxmlformats.org/drawingml/2006/main">
                <a:rPr lang="en" sz="3452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DEADLOCK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814608" y="3912118"/>
            <a:ext cx="6863363" cy="1098137"/>
            <a:chOff x="0" y="0"/>
            <a:chExt cx="9151150" cy="146418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51149" cy="1464184"/>
            </a:xfrm>
            <a:custGeom>
              <a:avLst/>
              <a:gdLst/>
              <a:ahLst/>
              <a:cxnLst/>
              <a:rect r="r" b="b" t="t" l="l"/>
              <a:pathLst>
                <a:path h="1464184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9151150" cy="1464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4323"/>
                </a:lnSpc>
              </a:pPr>
              <a:r xmlns:a="http://schemas.openxmlformats.org/drawingml/2006/main">
                <a:rPr lang="en" sz="360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"Everyone is waiting for everyone"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814608" y="5284784"/>
            <a:ext cx="6863363" cy="1853108"/>
            <a:chOff x="0" y="0"/>
            <a:chExt cx="9151150" cy="247081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51149" cy="2470810"/>
            </a:xfrm>
            <a:custGeom>
              <a:avLst/>
              <a:gdLst/>
              <a:ahLst/>
              <a:cxnLst/>
              <a:rect r="r" b="b" t="t" l="l"/>
              <a:pathLst>
                <a:path h="2470810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2470810"/>
                  </a:lnTo>
                  <a:lnTo>
                    <a:pt x="0" y="24708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166" r="0" b="-2216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9151150" cy="2470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3242"/>
                </a:lnSpc>
              </a:pPr>
              <a:r xmlns:a="http://schemas.openxmlformats.org/drawingml/2006/main">
                <a:rPr lang="en" sz="2702">
                  <a:solidFill>
                    <a:srgbClr val="F4F7FB"/>
                  </a:solidFill>
                  <a:latin typeface="Aptos"/>
                  <a:ea typeface="Aptos"/>
                  <a:cs typeface="Aptos"/>
                  <a:sym typeface="Aptos"/>
                </a:rPr>
                <a:t>The program can be</a:t>
              </a:r>
            </a:p>
            <a:p>
              <a:pPr xmlns:a="http://schemas.openxmlformats.org/drawingml/2006/main" algn="ctr">
                <a:lnSpc>
                  <a:spcPts val="3242"/>
                </a:lnSpc>
              </a:pPr>
              <a:r xmlns:a="http://schemas.openxmlformats.org/drawingml/2006/main">
                <a:rPr lang="en" sz="2702">
                  <a:solidFill>
                    <a:srgbClr val="F4F7F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logically correct,</a:t>
              </a:r>
            </a:p>
            <a:p>
              <a:pPr xmlns:a="http://schemas.openxmlformats.org/drawingml/2006/main" algn="ctr">
                <a:lnSpc>
                  <a:spcPts val="3242"/>
                </a:lnSpc>
              </a:pPr>
              <a:r xmlns:a="http://schemas.openxmlformats.org/drawingml/2006/main">
                <a:rPr lang="en" sz="2702">
                  <a:solidFill>
                    <a:srgbClr val="F4F7F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but progress has been halted.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60872" y="9773431"/>
            <a:ext cx="10981382" cy="301990"/>
            <a:chOff x="0" y="0"/>
            <a:chExt cx="14641843" cy="40265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641840" cy="402651"/>
            </a:xfrm>
            <a:custGeom>
              <a:avLst/>
              <a:gdLst/>
              <a:ahLst/>
              <a:cxnLst/>
              <a:rect r="r" b="b" t="t" l="l"/>
              <a:pathLst>
                <a:path h="402651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8546" r="0" b="-65854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14641843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1441"/>
                </a:lnSpc>
              </a:pPr>
              <a:r xmlns:a="http://schemas.openxmlformats.org/drawingml/2006/main">
                <a:rPr lang="en" sz="1200">
                  <a:solidFill>
                    <a:srgbClr val="5F6E84"/>
                  </a:solidFill>
                  <a:latin typeface="Aptos"/>
                  <a:ea typeface="Aptos"/>
                  <a:cs typeface="Aptos"/>
                  <a:sym typeface="Aptos"/>
                </a:rPr>
                <a:t>System programming • Windows synchronization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B10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872" y="576520"/>
            <a:ext cx="16060264" cy="823608"/>
            <a:chOff x="0" y="0"/>
            <a:chExt cx="21413686" cy="1098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13690" cy="1098138"/>
            </a:xfrm>
            <a:custGeom>
              <a:avLst/>
              <a:gdLst/>
              <a:ahLst/>
              <a:cxnLst/>
              <a:rect r="r" b="b" t="t" l="l"/>
              <a:pathLst>
                <a:path h="1098138" w="21413690">
                  <a:moveTo>
                    <a:pt x="0" y="0"/>
                  </a:moveTo>
                  <a:lnTo>
                    <a:pt x="21413690" y="0"/>
                  </a:lnTo>
                  <a:lnTo>
                    <a:pt x="21413690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9957" r="0" b="-32995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413686" cy="1098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5043"/>
                </a:lnSpc>
              </a:pPr>
              <a:r xmlns:a="http://schemas.openxmlformats.org/drawingml/2006/main">
                <a:rPr lang="en" sz="4203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Typical mistake: too big a lock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872" y="1482490"/>
            <a:ext cx="960872" cy="61770"/>
            <a:chOff x="0" y="0"/>
            <a:chExt cx="1281163" cy="82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1176" cy="82423"/>
            </a:xfrm>
            <a:custGeom>
              <a:avLst/>
              <a:gdLst/>
              <a:ahLst/>
              <a:cxnLst/>
              <a:rect r="r" b="b" t="t" l="l"/>
              <a:pathLst>
                <a:path h="82423" w="1281176">
                  <a:moveTo>
                    <a:pt x="0" y="0"/>
                  </a:moveTo>
                  <a:lnTo>
                    <a:pt x="1281176" y="0"/>
                  </a:lnTo>
                  <a:lnTo>
                    <a:pt x="1281176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34D3E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0872" y="1592304"/>
            <a:ext cx="16334804" cy="617706"/>
            <a:chOff x="0" y="0"/>
            <a:chExt cx="21779738" cy="8236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79736" cy="823603"/>
            </a:xfrm>
            <a:custGeom>
              <a:avLst/>
              <a:gdLst/>
              <a:ahLst/>
              <a:cxnLst/>
              <a:rect r="r" b="b" t="t" l="l"/>
              <a:pathLst>
                <a:path h="823603" w="21779736">
                  <a:moveTo>
                    <a:pt x="0" y="0"/>
                  </a:moveTo>
                  <a:lnTo>
                    <a:pt x="21779736" y="0"/>
                  </a:lnTo>
                  <a:lnTo>
                    <a:pt x="2177973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5270" r="0" b="-46527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177973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2161"/>
                </a:lnSpc>
              </a:pPr>
              <a:r xmlns:a="http://schemas.openxmlformats.org/drawingml/2006/main">
                <a:rPr lang="en" sz="1801">
                  <a:solidFill>
                    <a:srgbClr val="AAB7CA"/>
                  </a:solidFill>
                  <a:latin typeface="Aptos"/>
                  <a:ea typeface="Aptos"/>
                  <a:cs typeface="Aptos"/>
                  <a:sym typeface="Aptos"/>
                </a:rPr>
                <a:t>Synchronization can make a parallel program sequential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815235" y="617706"/>
            <a:ext cx="617706" cy="480431"/>
            <a:chOff x="0" y="0"/>
            <a:chExt cx="823608" cy="6405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3603" cy="640580"/>
            </a:xfrm>
            <a:custGeom>
              <a:avLst/>
              <a:gdLst/>
              <a:ahLst/>
              <a:cxnLst/>
              <a:rect r="r" b="b" t="t" l="l"/>
              <a:pathLst>
                <a:path h="640580" w="823603">
                  <a:moveTo>
                    <a:pt x="0" y="0"/>
                  </a:moveTo>
                  <a:lnTo>
                    <a:pt x="823603" y="0"/>
                  </a:lnTo>
                  <a:lnTo>
                    <a:pt x="82360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790" t="0" r="-49791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823608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r">
                <a:lnSpc>
                  <a:spcPts val="1981"/>
                </a:lnSpc>
              </a:pPr>
              <a:r xmlns:a="http://schemas.openxmlformats.org/drawingml/2006/main">
                <a:rPr lang="en" sz="1651" b="true">
                  <a:solidFill>
                    <a:srgbClr val="AAB7C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13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66774" y="2333539"/>
            <a:ext cx="15923000" cy="549069"/>
            <a:chOff x="0" y="0"/>
            <a:chExt cx="21230666" cy="7320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230667" cy="732092"/>
            </a:xfrm>
            <a:custGeom>
              <a:avLst/>
              <a:gdLst/>
              <a:ahLst/>
              <a:cxnLst/>
              <a:rect r="r" b="b" t="t" l="l"/>
              <a:pathLst>
                <a:path h="732092" w="21230667">
                  <a:moveTo>
                    <a:pt x="0" y="0"/>
                  </a:moveTo>
                  <a:lnTo>
                    <a:pt x="21230667" y="0"/>
                  </a:lnTo>
                  <a:lnTo>
                    <a:pt x="2123066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5066" r="0" b="-51506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1230666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3242"/>
                </a:lnSpc>
              </a:pPr>
              <a:r xmlns:a="http://schemas.openxmlformats.org/drawingml/2006/main">
                <a:rPr lang="en" sz="2702" b="true">
                  <a:solidFill>
                    <a:srgbClr val="F8717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Badly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55335" y="2939806"/>
            <a:ext cx="7641212" cy="4758595"/>
            <a:chOff x="0" y="0"/>
            <a:chExt cx="10188283" cy="63447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188322" cy="6344793"/>
            </a:xfrm>
            <a:custGeom>
              <a:avLst/>
              <a:gdLst/>
              <a:ahLst/>
              <a:cxnLst/>
              <a:rect r="r" b="b" t="t" l="l"/>
              <a:pathLst>
                <a:path h="6344793" w="10188322">
                  <a:moveTo>
                    <a:pt x="0" y="1057529"/>
                  </a:moveTo>
                  <a:cubicBezTo>
                    <a:pt x="0" y="473456"/>
                    <a:pt x="473456" y="0"/>
                    <a:pt x="1057529" y="0"/>
                  </a:cubicBezTo>
                  <a:lnTo>
                    <a:pt x="9130792" y="0"/>
                  </a:lnTo>
                  <a:cubicBezTo>
                    <a:pt x="9714865" y="0"/>
                    <a:pt x="10188322" y="473456"/>
                    <a:pt x="10188322" y="1057529"/>
                  </a:cubicBezTo>
                  <a:lnTo>
                    <a:pt x="10188322" y="5287264"/>
                  </a:lnTo>
                  <a:cubicBezTo>
                    <a:pt x="10188322" y="5871337"/>
                    <a:pt x="9714865" y="6344793"/>
                    <a:pt x="9130792" y="6344793"/>
                  </a:cubicBezTo>
                  <a:lnTo>
                    <a:pt x="1057529" y="6344793"/>
                  </a:lnTo>
                  <a:cubicBezTo>
                    <a:pt x="473456" y="6344793"/>
                    <a:pt x="0" y="5871337"/>
                    <a:pt x="0" y="5287264"/>
                  </a:cubicBezTo>
                  <a:close/>
                </a:path>
              </a:pathLst>
            </a:custGeom>
            <a:solidFill>
              <a:srgbClr val="101725"/>
            </a:solidFill>
            <a:ln w="22878" cap="sq">
              <a:solidFill>
                <a:srgbClr val="F87171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560195" y="3114065"/>
            <a:ext cx="6831473" cy="436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l">
              <a:lnSpc>
                <a:spcPts val="2521"/>
              </a:lnSpc>
            </a:pPr>
            <a:r xmlns:a="http://schemas.openxmlformats.org/drawingml/2006/main">
              <a:rPr lang="en" sz="210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EnterCriticalSection(&amp;cs);</a:t>
            </a:r>
          </a:p>
          <a:p>
            <a:pPr xmlns:a="http://schemas.openxmlformats.org/drawingml/2006/main" algn="l">
              <a:lnSpc>
                <a:spcPts val="3242"/>
              </a:lnSpc>
            </a:pPr>
            <a:r xmlns:a="http://schemas.openxmlformats.org/drawingml/2006/main">
              <a:rPr lang="en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ReadFile(...); // long</a:t>
            </a:r>
          </a:p>
          <a:p>
            <a:pPr xmlns:a="http://schemas.openxmlformats.org/drawingml/2006/main" algn="l">
              <a:lnSpc>
                <a:spcPts val="3242"/>
              </a:lnSpc>
            </a:pPr>
            <a:r xmlns:a="http://schemas.openxmlformats.org/drawingml/2006/main">
              <a:rPr lang="en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Compute(...); // long</a:t>
            </a:r>
          </a:p>
          <a:p>
            <a:pPr xmlns:a="http://schemas.openxmlformats.org/drawingml/2006/main" algn="l">
              <a:lnSpc>
                <a:spcPts val="3242"/>
              </a:lnSpc>
            </a:pPr>
            <a:r xmlns:a="http://schemas.openxmlformats.org/drawingml/2006/main">
              <a:rPr lang="en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SendToNetwork(...); // even longer</a:t>
            </a:r>
          </a:p>
          <a:p>
            <a:pPr xmlns:a="http://schemas.openxmlformats.org/drawingml/2006/main" algn="l">
              <a:lnSpc>
                <a:spcPts val="3242"/>
              </a:lnSpc>
            </a:pPr>
            <a:r xmlns:a="http://schemas.openxmlformats.org/drawingml/2006/main">
              <a:rPr lang="en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sharedValue++;</a:t>
            </a:r>
          </a:p>
          <a:p>
            <a:pPr xmlns:a="http://schemas.openxmlformats.org/drawingml/2006/main" algn="l">
              <a:lnSpc>
                <a:spcPts val="3242"/>
              </a:lnSpc>
            </a:pPr>
            <a:r xmlns:a="http://schemas.openxmlformats.org/drawingml/2006/main">
              <a:rPr lang="en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LeaveCriticalSection(&amp;cs);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402804" y="2333539"/>
            <a:ext cx="7549696" cy="549069"/>
            <a:chOff x="0" y="0"/>
            <a:chExt cx="10066261" cy="7320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66265" cy="732092"/>
            </a:xfrm>
            <a:custGeom>
              <a:avLst/>
              <a:gdLst/>
              <a:ahLst/>
              <a:cxnLst/>
              <a:rect r="r" b="b" t="t" l="l"/>
              <a:pathLst>
                <a:path h="732092" w="10066265">
                  <a:moveTo>
                    <a:pt x="0" y="0"/>
                  </a:moveTo>
                  <a:lnTo>
                    <a:pt x="10066265" y="0"/>
                  </a:lnTo>
                  <a:lnTo>
                    <a:pt x="1006626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0066261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3242"/>
                </a:lnSpc>
              </a:pPr>
              <a:r xmlns:a="http://schemas.openxmlformats.org/drawingml/2006/main">
                <a:rPr lang="en" sz="2702" b="true">
                  <a:solidFill>
                    <a:srgbClr val="4ADE8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Better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391364" y="2939806"/>
            <a:ext cx="7641212" cy="4758595"/>
            <a:chOff x="0" y="0"/>
            <a:chExt cx="10188283" cy="634479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88322" cy="6344793"/>
            </a:xfrm>
            <a:custGeom>
              <a:avLst/>
              <a:gdLst/>
              <a:ahLst/>
              <a:cxnLst/>
              <a:rect r="r" b="b" t="t" l="l"/>
              <a:pathLst>
                <a:path h="6344793" w="10188322">
                  <a:moveTo>
                    <a:pt x="0" y="1057529"/>
                  </a:moveTo>
                  <a:cubicBezTo>
                    <a:pt x="0" y="473456"/>
                    <a:pt x="473456" y="0"/>
                    <a:pt x="1057529" y="0"/>
                  </a:cubicBezTo>
                  <a:lnTo>
                    <a:pt x="9130792" y="0"/>
                  </a:lnTo>
                  <a:cubicBezTo>
                    <a:pt x="9714865" y="0"/>
                    <a:pt x="10188322" y="473456"/>
                    <a:pt x="10188322" y="1057529"/>
                  </a:cubicBezTo>
                  <a:lnTo>
                    <a:pt x="10188322" y="5287264"/>
                  </a:lnTo>
                  <a:cubicBezTo>
                    <a:pt x="10188322" y="5871337"/>
                    <a:pt x="9714865" y="6344793"/>
                    <a:pt x="9130792" y="6344793"/>
                  </a:cubicBezTo>
                  <a:lnTo>
                    <a:pt x="1057529" y="6344793"/>
                  </a:lnTo>
                  <a:cubicBezTo>
                    <a:pt x="473456" y="6344793"/>
                    <a:pt x="0" y="5871337"/>
                    <a:pt x="0" y="5287264"/>
                  </a:cubicBezTo>
                  <a:close/>
                </a:path>
              </a:pathLst>
            </a:custGeom>
            <a:solidFill>
              <a:srgbClr val="101725"/>
            </a:solidFill>
            <a:ln w="22878" cap="sq">
              <a:solidFill>
                <a:srgbClr val="4ADE80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9796234" y="3114065"/>
            <a:ext cx="6831473" cy="436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xmlns:a="http://schemas.openxmlformats.org/drawingml/2006/main" algn="l">
              <a:lnSpc>
                <a:spcPts val="2521"/>
              </a:lnSpc>
            </a:pPr>
            <a:r xmlns:a="http://schemas.openxmlformats.org/drawingml/2006/main">
              <a:rPr lang="en" sz="210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ReadFile(...);</a:t>
            </a:r>
          </a:p>
          <a:p>
            <a:pPr xmlns:a="http://schemas.openxmlformats.org/drawingml/2006/main" algn="l">
              <a:lnSpc>
                <a:spcPts val="3242"/>
              </a:lnSpc>
            </a:pPr>
            <a:r xmlns:a="http://schemas.openxmlformats.org/drawingml/2006/main">
              <a:rPr lang="en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Compute(...);</a:t>
            </a:r>
          </a:p>
          <a:p>
            <a:pPr xmlns:a="http://schemas.openxmlformats.org/drawingml/2006/main" algn="l">
              <a:lnSpc>
                <a:spcPts val="3242"/>
              </a:lnSpc>
            </a:pPr>
            <a:r xmlns:a="http://schemas.openxmlformats.org/drawingml/2006/main">
              <a:rPr lang="en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SendToNetwork(...);</a:t>
            </a:r>
          </a:p>
          <a:p>
            <a:pPr algn="l">
              <a:lnSpc>
                <a:spcPts val="3242"/>
              </a:lnSpc>
            </a:pPr>
          </a:p>
          <a:p>
            <a:pPr xmlns:a="http://schemas.openxmlformats.org/drawingml/2006/main" algn="l">
              <a:lnSpc>
                <a:spcPts val="3242"/>
              </a:lnSpc>
            </a:pPr>
            <a:r xmlns:a="http://schemas.openxmlformats.org/drawingml/2006/main">
              <a:rPr lang="en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EnterCriticalSection(&amp;cs);</a:t>
            </a:r>
          </a:p>
          <a:p>
            <a:pPr xmlns:a="http://schemas.openxmlformats.org/drawingml/2006/main" algn="l">
              <a:lnSpc>
                <a:spcPts val="3242"/>
              </a:lnSpc>
            </a:pPr>
            <a:r xmlns:a="http://schemas.openxmlformats.org/drawingml/2006/main">
              <a:rPr lang="en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sharedValue++;</a:t>
            </a:r>
          </a:p>
          <a:p>
            <a:pPr xmlns:a="http://schemas.openxmlformats.org/drawingml/2006/main" algn="l">
              <a:lnSpc>
                <a:spcPts val="3242"/>
              </a:lnSpc>
            </a:pPr>
            <a:r xmlns:a="http://schemas.openxmlformats.org/drawingml/2006/main">
              <a:rPr lang="en" sz="2702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LeaveCriticalSection(&amp;cs);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35402" y="8167402"/>
            <a:ext cx="15785735" cy="617706"/>
            <a:chOff x="0" y="0"/>
            <a:chExt cx="21047646" cy="8236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047644" cy="823603"/>
            </a:xfrm>
            <a:custGeom>
              <a:avLst/>
              <a:gdLst/>
              <a:ahLst/>
              <a:cxnLst/>
              <a:rect r="r" b="b" t="t" l="l"/>
              <a:pathLst>
                <a:path h="823603" w="21047644">
                  <a:moveTo>
                    <a:pt x="0" y="0"/>
                  </a:moveTo>
                  <a:lnTo>
                    <a:pt x="21047644" y="0"/>
                  </a:lnTo>
                  <a:lnTo>
                    <a:pt x="21047644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7950" r="0" b="-44795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21047646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3062"/>
                </a:lnSpc>
              </a:pPr>
              <a:r xmlns:a="http://schemas.openxmlformats.org/drawingml/2006/main">
                <a:rPr lang="en" sz="2551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Lock should protect the general invariant, not the entire world around it.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60872" y="9773431"/>
            <a:ext cx="10981382" cy="301990"/>
            <a:chOff x="0" y="0"/>
            <a:chExt cx="14641843" cy="40265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641840" cy="402651"/>
            </a:xfrm>
            <a:custGeom>
              <a:avLst/>
              <a:gdLst/>
              <a:ahLst/>
              <a:cxnLst/>
              <a:rect r="r" b="b" t="t" l="l"/>
              <a:pathLst>
                <a:path h="402651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8546" r="0" b="-65854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4641843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1441"/>
                </a:lnSpc>
              </a:pPr>
              <a:r xmlns:a="http://schemas.openxmlformats.org/drawingml/2006/main">
                <a:rPr lang="en" sz="1200">
                  <a:solidFill>
                    <a:srgbClr val="5F6E84"/>
                  </a:solidFill>
                  <a:latin typeface="Aptos"/>
                  <a:ea typeface="Aptos"/>
                  <a:cs typeface="Aptos"/>
                  <a:sym typeface="Aptos"/>
                </a:rPr>
                <a:t>System programming • Windows synchronization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B10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872" y="576520"/>
            <a:ext cx="16060264" cy="823608"/>
            <a:chOff x="0" y="0"/>
            <a:chExt cx="21413686" cy="1098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13690" cy="1098138"/>
            </a:xfrm>
            <a:custGeom>
              <a:avLst/>
              <a:gdLst/>
              <a:ahLst/>
              <a:cxnLst/>
              <a:rect r="r" b="b" t="t" l="l"/>
              <a:pathLst>
                <a:path h="1098138" w="21413690">
                  <a:moveTo>
                    <a:pt x="0" y="0"/>
                  </a:moveTo>
                  <a:lnTo>
                    <a:pt x="21413690" y="0"/>
                  </a:lnTo>
                  <a:lnTo>
                    <a:pt x="21413690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9957" r="0" b="-329958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413686" cy="1098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5043"/>
                </a:lnSpc>
              </a:pPr>
              <a:r xmlns:a="http://schemas.openxmlformats.org/drawingml/2006/main">
                <a:rPr lang="en" sz="4203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How to choose a primitive?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872" y="1482490"/>
            <a:ext cx="960872" cy="61770"/>
            <a:chOff x="0" y="0"/>
            <a:chExt cx="1281163" cy="823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1176" cy="82423"/>
            </a:xfrm>
            <a:custGeom>
              <a:avLst/>
              <a:gdLst/>
              <a:ahLst/>
              <a:cxnLst/>
              <a:rect r="r" b="b" t="t" l="l"/>
              <a:pathLst>
                <a:path h="82423" w="1281176">
                  <a:moveTo>
                    <a:pt x="0" y="0"/>
                  </a:moveTo>
                  <a:lnTo>
                    <a:pt x="1281176" y="0"/>
                  </a:lnTo>
                  <a:lnTo>
                    <a:pt x="1281176" y="82423"/>
                  </a:lnTo>
                  <a:lnTo>
                    <a:pt x="0" y="82423"/>
                  </a:lnTo>
                  <a:close/>
                </a:path>
              </a:pathLst>
            </a:custGeom>
            <a:solidFill>
              <a:srgbClr val="34D3E1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60872" y="1592304"/>
            <a:ext cx="16334804" cy="617706"/>
            <a:chOff x="0" y="0"/>
            <a:chExt cx="21779738" cy="8236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79736" cy="823603"/>
            </a:xfrm>
            <a:custGeom>
              <a:avLst/>
              <a:gdLst/>
              <a:ahLst/>
              <a:cxnLst/>
              <a:rect r="r" b="b" t="t" l="l"/>
              <a:pathLst>
                <a:path h="823603" w="21779736">
                  <a:moveTo>
                    <a:pt x="0" y="0"/>
                  </a:moveTo>
                  <a:lnTo>
                    <a:pt x="21779736" y="0"/>
                  </a:lnTo>
                  <a:lnTo>
                    <a:pt x="2177973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5270" r="0" b="-46527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177973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2161"/>
                </a:lnSpc>
              </a:pPr>
              <a:r xmlns:a="http://schemas.openxmlformats.org/drawingml/2006/main">
                <a:rPr lang="en" sz="1801">
                  <a:solidFill>
                    <a:srgbClr val="AAB7CA"/>
                  </a:solidFill>
                  <a:latin typeface="Aptos"/>
                  <a:ea typeface="Aptos"/>
                  <a:cs typeface="Aptos"/>
                  <a:sym typeface="Aptos"/>
                </a:rPr>
                <a:t>Quick decision tree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815235" y="617706"/>
            <a:ext cx="617706" cy="480431"/>
            <a:chOff x="0" y="0"/>
            <a:chExt cx="823608" cy="6405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3603" cy="640580"/>
            </a:xfrm>
            <a:custGeom>
              <a:avLst/>
              <a:gdLst/>
              <a:ahLst/>
              <a:cxnLst/>
              <a:rect r="r" b="b" t="t" l="l"/>
              <a:pathLst>
                <a:path h="640580" w="823603">
                  <a:moveTo>
                    <a:pt x="0" y="0"/>
                  </a:moveTo>
                  <a:lnTo>
                    <a:pt x="823603" y="0"/>
                  </a:lnTo>
                  <a:lnTo>
                    <a:pt x="82360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9790" t="0" r="-49791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823608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r">
                <a:lnSpc>
                  <a:spcPts val="1981"/>
                </a:lnSpc>
              </a:pPr>
              <a:r xmlns:a="http://schemas.openxmlformats.org/drawingml/2006/main">
                <a:rPr lang="en" sz="1651" b="true">
                  <a:solidFill>
                    <a:srgbClr val="AAB7C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234217" y="2116207"/>
            <a:ext cx="5788104" cy="983752"/>
            <a:chOff x="0" y="0"/>
            <a:chExt cx="7717472" cy="131166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717410" cy="1311656"/>
            </a:xfrm>
            <a:custGeom>
              <a:avLst/>
              <a:gdLst/>
              <a:ahLst/>
              <a:cxnLst/>
              <a:rect r="r" b="b" t="t" l="l"/>
              <a:pathLst>
                <a:path h="1311656" w="7717410">
                  <a:moveTo>
                    <a:pt x="0" y="218567"/>
                  </a:moveTo>
                  <a:cubicBezTo>
                    <a:pt x="0" y="97917"/>
                    <a:pt x="97917" y="0"/>
                    <a:pt x="218567" y="0"/>
                  </a:cubicBezTo>
                  <a:lnTo>
                    <a:pt x="7498842" y="0"/>
                  </a:lnTo>
                  <a:cubicBezTo>
                    <a:pt x="7619619" y="0"/>
                    <a:pt x="7717410" y="97917"/>
                    <a:pt x="7717410" y="218567"/>
                  </a:cubicBezTo>
                  <a:lnTo>
                    <a:pt x="7717410" y="1093089"/>
                  </a:lnTo>
                  <a:cubicBezTo>
                    <a:pt x="7717410" y="1213866"/>
                    <a:pt x="7619492" y="1311656"/>
                    <a:pt x="7498842" y="1311656"/>
                  </a:cubicBezTo>
                  <a:lnTo>
                    <a:pt x="218567" y="1311656"/>
                  </a:lnTo>
                  <a:cubicBezTo>
                    <a:pt x="97917" y="1311656"/>
                    <a:pt x="0" y="1213739"/>
                    <a:pt x="0" y="1093089"/>
                  </a:cubicBezTo>
                  <a:close/>
                </a:path>
              </a:pathLst>
            </a:custGeom>
            <a:solidFill>
              <a:srgbClr val="182030"/>
            </a:solidFill>
            <a:ln w="22878" cap="sq">
              <a:solidFill>
                <a:srgbClr val="34D3E1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245657" y="2127647"/>
            <a:ext cx="5765225" cy="960872"/>
            <a:chOff x="0" y="0"/>
            <a:chExt cx="7686967" cy="128116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86966" cy="1281161"/>
            </a:xfrm>
            <a:custGeom>
              <a:avLst/>
              <a:gdLst/>
              <a:ahLst/>
              <a:cxnLst/>
              <a:rect r="r" b="b" t="t" l="l"/>
              <a:pathLst>
                <a:path h="1281161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7686967" cy="12811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3422"/>
                </a:lnSpc>
              </a:pPr>
              <a:r xmlns:a="http://schemas.openxmlformats.org/drawingml/2006/main">
                <a:rPr lang="en" sz="2852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What needs to be synchronized?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rot="5154180">
            <a:off x="8794737" y="3451708"/>
            <a:ext cx="667074" cy="0"/>
          </a:xfrm>
          <a:prstGeom prst="line">
            <a:avLst/>
          </a:prstGeom>
          <a:ln cap="rnd" w="28575">
            <a:solidFill>
              <a:srgbClr val="34D3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361237" y="3969315"/>
            <a:ext cx="4415428" cy="1121016"/>
            <a:chOff x="0" y="0"/>
            <a:chExt cx="5887237" cy="14946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87339" cy="1494790"/>
            </a:xfrm>
            <a:custGeom>
              <a:avLst/>
              <a:gdLst/>
              <a:ahLst/>
              <a:cxnLst/>
              <a:rect r="r" b="b" t="t" l="l"/>
              <a:pathLst>
                <a:path h="1494790" w="5887339">
                  <a:moveTo>
                    <a:pt x="0" y="249174"/>
                  </a:moveTo>
                  <a:cubicBezTo>
                    <a:pt x="0" y="111506"/>
                    <a:pt x="111506" y="0"/>
                    <a:pt x="249174" y="0"/>
                  </a:cubicBezTo>
                  <a:lnTo>
                    <a:pt x="5638165" y="0"/>
                  </a:lnTo>
                  <a:cubicBezTo>
                    <a:pt x="5775706" y="0"/>
                    <a:pt x="5887339" y="111506"/>
                    <a:pt x="5887339" y="249174"/>
                  </a:cubicBezTo>
                  <a:lnTo>
                    <a:pt x="5887339" y="1245616"/>
                  </a:lnTo>
                  <a:cubicBezTo>
                    <a:pt x="5887339" y="1383157"/>
                    <a:pt x="5775833" y="1494790"/>
                    <a:pt x="5638165" y="1494790"/>
                  </a:cubicBezTo>
                  <a:lnTo>
                    <a:pt x="249174" y="1494790"/>
                  </a:lnTo>
                  <a:cubicBezTo>
                    <a:pt x="111506" y="1494663"/>
                    <a:pt x="0" y="1383157"/>
                    <a:pt x="0" y="1245616"/>
                  </a:cubicBezTo>
                  <a:close/>
                </a:path>
              </a:pathLst>
            </a:custGeom>
            <a:solidFill>
              <a:srgbClr val="1F2A3E"/>
            </a:solidFill>
            <a:ln w="22878" cap="sq">
              <a:solidFill>
                <a:srgbClr val="34D3E1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72676" y="3980755"/>
            <a:ext cx="4392549" cy="1098137"/>
            <a:chOff x="0" y="0"/>
            <a:chExt cx="5856732" cy="14641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856736" cy="1464184"/>
            </a:xfrm>
            <a:custGeom>
              <a:avLst/>
              <a:gdLst/>
              <a:ahLst/>
              <a:cxnLst/>
              <a:rect r="r" b="b" t="t" l="l"/>
              <a:pathLst>
                <a:path h="1464184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5856732" cy="1464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2882"/>
                </a:lnSpc>
              </a:pPr>
              <a:r xmlns:a="http://schemas.openxmlformats.org/drawingml/2006/main">
                <a:rPr lang="en" sz="24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Common code/data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920560" y="3969315"/>
            <a:ext cx="4415428" cy="1121016"/>
            <a:chOff x="0" y="0"/>
            <a:chExt cx="5887237" cy="14946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887339" cy="1494790"/>
            </a:xfrm>
            <a:custGeom>
              <a:avLst/>
              <a:gdLst/>
              <a:ahLst/>
              <a:cxnLst/>
              <a:rect r="r" b="b" t="t" l="l"/>
              <a:pathLst>
                <a:path h="1494790" w="5887339">
                  <a:moveTo>
                    <a:pt x="0" y="249174"/>
                  </a:moveTo>
                  <a:cubicBezTo>
                    <a:pt x="0" y="111506"/>
                    <a:pt x="111506" y="0"/>
                    <a:pt x="249174" y="0"/>
                  </a:cubicBezTo>
                  <a:lnTo>
                    <a:pt x="5638165" y="0"/>
                  </a:lnTo>
                  <a:cubicBezTo>
                    <a:pt x="5775706" y="0"/>
                    <a:pt x="5887339" y="111506"/>
                    <a:pt x="5887339" y="249174"/>
                  </a:cubicBezTo>
                  <a:lnTo>
                    <a:pt x="5887339" y="1245616"/>
                  </a:lnTo>
                  <a:cubicBezTo>
                    <a:pt x="5887339" y="1383157"/>
                    <a:pt x="5775833" y="1494790"/>
                    <a:pt x="5638165" y="1494790"/>
                  </a:cubicBezTo>
                  <a:lnTo>
                    <a:pt x="249174" y="1494790"/>
                  </a:lnTo>
                  <a:cubicBezTo>
                    <a:pt x="111506" y="1494663"/>
                    <a:pt x="0" y="1383157"/>
                    <a:pt x="0" y="1245616"/>
                  </a:cubicBezTo>
                  <a:close/>
                </a:path>
              </a:pathLst>
            </a:custGeom>
            <a:solidFill>
              <a:srgbClr val="1F2A3E"/>
            </a:solidFill>
            <a:ln w="22878" cap="sq">
              <a:solidFill>
                <a:srgbClr val="4ADE8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932000" y="3980755"/>
            <a:ext cx="4392549" cy="1098137"/>
            <a:chOff x="0" y="0"/>
            <a:chExt cx="5856732" cy="146418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856736" cy="1464184"/>
            </a:xfrm>
            <a:custGeom>
              <a:avLst/>
              <a:gdLst/>
              <a:ahLst/>
              <a:cxnLst/>
              <a:rect r="r" b="b" t="t" l="l"/>
              <a:pathLst>
                <a:path h="1464184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5856732" cy="1464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2882"/>
                </a:lnSpc>
              </a:pPr>
              <a:r xmlns:a="http://schemas.openxmlformats.org/drawingml/2006/main">
                <a:rPr lang="en" sz="24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Fact of the event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479884" y="3969315"/>
            <a:ext cx="4415428" cy="1121016"/>
            <a:chOff x="0" y="0"/>
            <a:chExt cx="5887237" cy="14946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887339" cy="1494790"/>
            </a:xfrm>
            <a:custGeom>
              <a:avLst/>
              <a:gdLst/>
              <a:ahLst/>
              <a:cxnLst/>
              <a:rect r="r" b="b" t="t" l="l"/>
              <a:pathLst>
                <a:path h="1494790" w="5887339">
                  <a:moveTo>
                    <a:pt x="0" y="249174"/>
                  </a:moveTo>
                  <a:cubicBezTo>
                    <a:pt x="0" y="111506"/>
                    <a:pt x="111506" y="0"/>
                    <a:pt x="249174" y="0"/>
                  </a:cubicBezTo>
                  <a:lnTo>
                    <a:pt x="5638165" y="0"/>
                  </a:lnTo>
                  <a:cubicBezTo>
                    <a:pt x="5775706" y="0"/>
                    <a:pt x="5887339" y="111506"/>
                    <a:pt x="5887339" y="249174"/>
                  </a:cubicBezTo>
                  <a:lnTo>
                    <a:pt x="5887339" y="1245616"/>
                  </a:lnTo>
                  <a:cubicBezTo>
                    <a:pt x="5887339" y="1383157"/>
                    <a:pt x="5775833" y="1494790"/>
                    <a:pt x="5638165" y="1494790"/>
                  </a:cubicBezTo>
                  <a:lnTo>
                    <a:pt x="249174" y="1494790"/>
                  </a:lnTo>
                  <a:cubicBezTo>
                    <a:pt x="111506" y="1494663"/>
                    <a:pt x="0" y="1383157"/>
                    <a:pt x="0" y="1245616"/>
                  </a:cubicBezTo>
                  <a:close/>
                </a:path>
              </a:pathLst>
            </a:custGeom>
            <a:solidFill>
              <a:srgbClr val="1F2A3E"/>
            </a:solidFill>
            <a:ln w="22878" cap="sq">
              <a:solidFill>
                <a:srgbClr val="FACC15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491323" y="3980755"/>
            <a:ext cx="4392549" cy="1098137"/>
            <a:chOff x="0" y="0"/>
            <a:chExt cx="5856732" cy="146418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856736" cy="1464184"/>
            </a:xfrm>
            <a:custGeom>
              <a:avLst/>
              <a:gdLst/>
              <a:ahLst/>
              <a:cxnLst/>
              <a:rect r="r" b="b" t="t" l="l"/>
              <a:pathLst>
                <a:path h="1464184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856732" cy="14641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2882"/>
                </a:lnSpc>
              </a:pPr>
              <a:r xmlns:a="http://schemas.openxmlformats.org/drawingml/2006/main">
                <a:rPr lang="en" sz="2401" b="true">
                  <a:solidFill>
                    <a:srgbClr val="F4F7F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 permissions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 rot="10686660">
            <a:off x="3543595" y="3829193"/>
            <a:ext cx="5610034" cy="0"/>
          </a:xfrm>
          <a:prstGeom prst="line">
            <a:avLst/>
          </a:prstGeom>
          <a:ln cap="rnd" w="28575">
            <a:solidFill>
              <a:srgbClr val="34D3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 rot="4532880">
            <a:off x="9032786" y="3829193"/>
            <a:ext cx="190976" cy="0"/>
          </a:xfrm>
          <a:prstGeom prst="line">
            <a:avLst/>
          </a:prstGeom>
          <a:ln cap="rnd" w="28575">
            <a:solidFill>
              <a:srgbClr val="34D3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 rot="113340">
            <a:off x="9102919" y="3829193"/>
            <a:ext cx="5610034" cy="0"/>
          </a:xfrm>
          <a:prstGeom prst="line">
            <a:avLst/>
          </a:prstGeom>
          <a:ln cap="rnd" w="28575">
            <a:solidFill>
              <a:srgbClr val="34D3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1223962" y="6096953"/>
            <a:ext cx="3248654" cy="1395546"/>
            <a:chOff x="0" y="0"/>
            <a:chExt cx="4331538" cy="186072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331589" cy="1860804"/>
            </a:xfrm>
            <a:custGeom>
              <a:avLst/>
              <a:gdLst/>
              <a:ahLst/>
              <a:cxnLst/>
              <a:rect r="r" b="b" t="t" l="l"/>
              <a:pathLst>
                <a:path h="1860804" w="4331589">
                  <a:moveTo>
                    <a:pt x="0" y="310134"/>
                  </a:moveTo>
                  <a:cubicBezTo>
                    <a:pt x="0" y="138811"/>
                    <a:pt x="138811" y="0"/>
                    <a:pt x="310134" y="0"/>
                  </a:cubicBezTo>
                  <a:lnTo>
                    <a:pt x="4021455" y="0"/>
                  </a:lnTo>
                  <a:cubicBezTo>
                    <a:pt x="4192778" y="0"/>
                    <a:pt x="4331589" y="138811"/>
                    <a:pt x="4331589" y="310134"/>
                  </a:cubicBezTo>
                  <a:lnTo>
                    <a:pt x="4331589" y="1550670"/>
                  </a:lnTo>
                  <a:cubicBezTo>
                    <a:pt x="4331589" y="1721993"/>
                    <a:pt x="4192778" y="1860804"/>
                    <a:pt x="4021455" y="1860804"/>
                  </a:cubicBezTo>
                  <a:lnTo>
                    <a:pt x="310134" y="1860804"/>
                  </a:lnTo>
                  <a:cubicBezTo>
                    <a:pt x="138811" y="1860677"/>
                    <a:pt x="0" y="1721866"/>
                    <a:pt x="0" y="1550543"/>
                  </a:cubicBezTo>
                  <a:close/>
                </a:path>
              </a:pathLst>
            </a:custGeom>
            <a:solidFill>
              <a:srgbClr val="123740"/>
            </a:solidFill>
            <a:ln w="22878" cap="sq">
              <a:solidFill>
                <a:srgbClr val="34D3E1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35402" y="6108392"/>
            <a:ext cx="3225784" cy="1372676"/>
            <a:chOff x="0" y="0"/>
            <a:chExt cx="4301046" cy="183023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301040" cy="1830230"/>
            </a:xfrm>
            <a:custGeom>
              <a:avLst/>
              <a:gdLst/>
              <a:ahLst/>
              <a:cxnLst/>
              <a:rect r="r" b="b" t="t" l="l"/>
              <a:pathLst>
                <a:path h="1830230" w="4301040">
                  <a:moveTo>
                    <a:pt x="0" y="0"/>
                  </a:moveTo>
                  <a:lnTo>
                    <a:pt x="4301040" y="0"/>
                  </a:lnTo>
                  <a:lnTo>
                    <a:pt x="4301040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597" t="0" r="-4597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4301046" cy="1830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3062"/>
                </a:lnSpc>
              </a:pPr>
              <a:r xmlns:a="http://schemas.openxmlformats.org/drawingml/2006/main">
                <a:rPr lang="en" sz="2551" b="true">
                  <a:solidFill>
                    <a:srgbClr val="34D3E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Critical</a:t>
              </a:r>
            </a:p>
            <a:p>
              <a:pPr xmlns:a="http://schemas.openxmlformats.org/drawingml/2006/main" algn="ctr">
                <a:lnSpc>
                  <a:spcPts val="3242"/>
                </a:lnSpc>
              </a:pPr>
              <a:r xmlns:a="http://schemas.openxmlformats.org/drawingml/2006/main">
                <a:rPr lang="en" sz="2702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Section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724276" y="6096953"/>
            <a:ext cx="3248654" cy="1395546"/>
            <a:chOff x="0" y="0"/>
            <a:chExt cx="4331538" cy="18607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331589" cy="1860804"/>
            </a:xfrm>
            <a:custGeom>
              <a:avLst/>
              <a:gdLst/>
              <a:ahLst/>
              <a:cxnLst/>
              <a:rect r="r" b="b" t="t" l="l"/>
              <a:pathLst>
                <a:path h="1860804" w="4331589">
                  <a:moveTo>
                    <a:pt x="0" y="310134"/>
                  </a:moveTo>
                  <a:cubicBezTo>
                    <a:pt x="0" y="138811"/>
                    <a:pt x="138811" y="0"/>
                    <a:pt x="310134" y="0"/>
                  </a:cubicBezTo>
                  <a:lnTo>
                    <a:pt x="4021455" y="0"/>
                  </a:lnTo>
                  <a:cubicBezTo>
                    <a:pt x="4192778" y="0"/>
                    <a:pt x="4331589" y="138811"/>
                    <a:pt x="4331589" y="310134"/>
                  </a:cubicBezTo>
                  <a:lnTo>
                    <a:pt x="4331589" y="1550670"/>
                  </a:lnTo>
                  <a:cubicBezTo>
                    <a:pt x="4331589" y="1721993"/>
                    <a:pt x="4192778" y="1860804"/>
                    <a:pt x="4021455" y="1860804"/>
                  </a:cubicBezTo>
                  <a:lnTo>
                    <a:pt x="310134" y="1860804"/>
                  </a:lnTo>
                  <a:cubicBezTo>
                    <a:pt x="138811" y="1860677"/>
                    <a:pt x="0" y="1721866"/>
                    <a:pt x="0" y="1550543"/>
                  </a:cubicBezTo>
                  <a:close/>
                </a:path>
              </a:pathLst>
            </a:custGeom>
            <a:solidFill>
              <a:srgbClr val="3C2F14"/>
            </a:solidFill>
            <a:ln w="22878" cap="sq">
              <a:solidFill>
                <a:srgbClr val="FACC15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4735716" y="6108392"/>
            <a:ext cx="3225784" cy="1372676"/>
            <a:chOff x="0" y="0"/>
            <a:chExt cx="4301046" cy="183023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301040" cy="1830230"/>
            </a:xfrm>
            <a:custGeom>
              <a:avLst/>
              <a:gdLst/>
              <a:ahLst/>
              <a:cxnLst/>
              <a:rect r="r" b="b" t="t" l="l"/>
              <a:pathLst>
                <a:path h="1830230" w="4301040">
                  <a:moveTo>
                    <a:pt x="0" y="0"/>
                  </a:moveTo>
                  <a:lnTo>
                    <a:pt x="4301040" y="0"/>
                  </a:lnTo>
                  <a:lnTo>
                    <a:pt x="4301040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597" t="0" r="-4597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4301046" cy="1830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3242"/>
                </a:lnSpc>
              </a:pPr>
              <a:r xmlns:a="http://schemas.openxmlformats.org/drawingml/2006/main">
                <a:rPr lang="en" sz="2702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Mutex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224599" y="6096953"/>
            <a:ext cx="3248654" cy="1395546"/>
            <a:chOff x="0" y="0"/>
            <a:chExt cx="4331538" cy="186072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331589" cy="1860804"/>
            </a:xfrm>
            <a:custGeom>
              <a:avLst/>
              <a:gdLst/>
              <a:ahLst/>
              <a:cxnLst/>
              <a:rect r="r" b="b" t="t" l="l"/>
              <a:pathLst>
                <a:path h="1860804" w="4331589">
                  <a:moveTo>
                    <a:pt x="0" y="310134"/>
                  </a:moveTo>
                  <a:cubicBezTo>
                    <a:pt x="0" y="138811"/>
                    <a:pt x="138811" y="0"/>
                    <a:pt x="310134" y="0"/>
                  </a:cubicBezTo>
                  <a:lnTo>
                    <a:pt x="4021455" y="0"/>
                  </a:lnTo>
                  <a:cubicBezTo>
                    <a:pt x="4192778" y="0"/>
                    <a:pt x="4331589" y="138811"/>
                    <a:pt x="4331589" y="310134"/>
                  </a:cubicBezTo>
                  <a:lnTo>
                    <a:pt x="4331589" y="1550670"/>
                  </a:lnTo>
                  <a:cubicBezTo>
                    <a:pt x="4331589" y="1721993"/>
                    <a:pt x="4192778" y="1860804"/>
                    <a:pt x="4021455" y="1860804"/>
                  </a:cubicBezTo>
                  <a:lnTo>
                    <a:pt x="310134" y="1860804"/>
                  </a:lnTo>
                  <a:cubicBezTo>
                    <a:pt x="138811" y="1860677"/>
                    <a:pt x="0" y="1721866"/>
                    <a:pt x="0" y="1550543"/>
                  </a:cubicBezTo>
                  <a:close/>
                </a:path>
              </a:pathLst>
            </a:custGeom>
            <a:solidFill>
              <a:srgbClr val="11402B"/>
            </a:solidFill>
            <a:ln w="22878" cap="sq">
              <a:solidFill>
                <a:srgbClr val="4ADE80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8236039" y="6108392"/>
            <a:ext cx="3225784" cy="1372676"/>
            <a:chOff x="0" y="0"/>
            <a:chExt cx="4301046" cy="183023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301040" cy="1830230"/>
            </a:xfrm>
            <a:custGeom>
              <a:avLst/>
              <a:gdLst/>
              <a:ahLst/>
              <a:cxnLst/>
              <a:rect r="r" b="b" t="t" l="l"/>
              <a:pathLst>
                <a:path h="1830230" w="4301040">
                  <a:moveTo>
                    <a:pt x="0" y="0"/>
                  </a:moveTo>
                  <a:lnTo>
                    <a:pt x="4301040" y="0"/>
                  </a:lnTo>
                  <a:lnTo>
                    <a:pt x="4301040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597" t="0" r="-4597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4301046" cy="1830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3242"/>
                </a:lnSpc>
              </a:pPr>
              <a:r xmlns:a="http://schemas.openxmlformats.org/drawingml/2006/main">
                <a:rPr lang="en" sz="2702" b="true">
                  <a:solidFill>
                    <a:srgbClr val="4ADE8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Event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234854" y="6096953"/>
            <a:ext cx="3248654" cy="1395546"/>
            <a:chOff x="0" y="0"/>
            <a:chExt cx="4331538" cy="186072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331589" cy="1860804"/>
            </a:xfrm>
            <a:custGeom>
              <a:avLst/>
              <a:gdLst/>
              <a:ahLst/>
              <a:cxnLst/>
              <a:rect r="r" b="b" t="t" l="l"/>
              <a:pathLst>
                <a:path h="1860804" w="4331589">
                  <a:moveTo>
                    <a:pt x="0" y="310134"/>
                  </a:moveTo>
                  <a:cubicBezTo>
                    <a:pt x="0" y="138811"/>
                    <a:pt x="138811" y="0"/>
                    <a:pt x="310134" y="0"/>
                  </a:cubicBezTo>
                  <a:lnTo>
                    <a:pt x="4021455" y="0"/>
                  </a:lnTo>
                  <a:cubicBezTo>
                    <a:pt x="4192778" y="0"/>
                    <a:pt x="4331589" y="138811"/>
                    <a:pt x="4331589" y="310134"/>
                  </a:cubicBezTo>
                  <a:lnTo>
                    <a:pt x="4331589" y="1550670"/>
                  </a:lnTo>
                  <a:cubicBezTo>
                    <a:pt x="4331589" y="1721993"/>
                    <a:pt x="4192778" y="1860804"/>
                    <a:pt x="4021455" y="1860804"/>
                  </a:cubicBezTo>
                  <a:lnTo>
                    <a:pt x="310134" y="1860804"/>
                  </a:lnTo>
                  <a:cubicBezTo>
                    <a:pt x="138811" y="1860677"/>
                    <a:pt x="0" y="1721866"/>
                    <a:pt x="0" y="1550543"/>
                  </a:cubicBezTo>
                  <a:close/>
                </a:path>
              </a:pathLst>
            </a:custGeom>
            <a:solidFill>
              <a:srgbClr val="3C2F14"/>
            </a:solidFill>
            <a:ln w="22878" cap="sq">
              <a:solidFill>
                <a:srgbClr val="FACC15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3246284" y="6108392"/>
            <a:ext cx="3225784" cy="1372676"/>
            <a:chOff x="0" y="0"/>
            <a:chExt cx="4301046" cy="183023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301040" cy="1830230"/>
            </a:xfrm>
            <a:custGeom>
              <a:avLst/>
              <a:gdLst/>
              <a:ahLst/>
              <a:cxnLst/>
              <a:rect r="r" b="b" t="t" l="l"/>
              <a:pathLst>
                <a:path h="1830230" w="4301040">
                  <a:moveTo>
                    <a:pt x="0" y="0"/>
                  </a:moveTo>
                  <a:lnTo>
                    <a:pt x="4301040" y="0"/>
                  </a:lnTo>
                  <a:lnTo>
                    <a:pt x="4301040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597" t="0" r="-4597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4301046" cy="1830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3062"/>
                </a:lnSpc>
              </a:pPr>
              <a:r xmlns:a="http://schemas.openxmlformats.org/drawingml/2006/main">
                <a:rPr lang="en" sz="2551" b="true">
                  <a:solidFill>
                    <a:srgbClr val="FACC1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Semaphore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04039" y="8001148"/>
            <a:ext cx="6588824" cy="440784"/>
            <a:chOff x="0" y="0"/>
            <a:chExt cx="8785098" cy="58771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785103" cy="587712"/>
            </a:xfrm>
            <a:custGeom>
              <a:avLst/>
              <a:gdLst/>
              <a:ahLst/>
              <a:cxnLst/>
              <a:rect r="r" b="b" t="t" l="l"/>
              <a:pathLst>
                <a:path h="587712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587712"/>
                  </a:lnTo>
                  <a:lnTo>
                    <a:pt x="0" y="5877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8978" r="0" b="-25354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8785098" cy="5877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2341"/>
                </a:lnSpc>
              </a:pPr>
              <a:r xmlns:a="http://schemas.openxmlformats.org/drawingml/2006/main">
                <a:rPr lang="en" sz="1951">
                  <a:solidFill>
                    <a:srgbClr val="AAB7CA"/>
                  </a:solidFill>
                  <a:latin typeface="Aptos"/>
                  <a:ea typeface="Aptos"/>
                  <a:cs typeface="Aptos"/>
                  <a:sym typeface="Aptos"/>
                </a:rPr>
                <a:t>1 process cross-process signal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304667" y="7892863"/>
            <a:ext cx="3088510" cy="549069"/>
            <a:chOff x="0" y="0"/>
            <a:chExt cx="4118013" cy="7320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118017" cy="732092"/>
            </a:xfrm>
            <a:custGeom>
              <a:avLst/>
              <a:gdLst/>
              <a:ahLst/>
              <a:cxnLst/>
              <a:rect r="r" b="b" t="t" l="l"/>
              <a:pathLst>
                <a:path h="732092" w="4118017">
                  <a:moveTo>
                    <a:pt x="0" y="0"/>
                  </a:moveTo>
                  <a:lnTo>
                    <a:pt x="4118017" y="0"/>
                  </a:lnTo>
                  <a:lnTo>
                    <a:pt x="411801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4118013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2341"/>
                </a:lnSpc>
              </a:pPr>
              <a:r xmlns:a="http://schemas.openxmlformats.org/drawingml/2006/main">
                <a:rPr lang="en" sz="1951">
                  <a:solidFill>
                    <a:srgbClr val="AAB7CA"/>
                  </a:solidFill>
                  <a:latin typeface="Aptos"/>
                  <a:ea typeface="Aptos"/>
                  <a:cs typeface="Aptos"/>
                  <a:sym typeface="Aptos"/>
                </a:rPr>
                <a:t>signal cross-process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314921" y="7892863"/>
            <a:ext cx="3088510" cy="549069"/>
            <a:chOff x="0" y="0"/>
            <a:chExt cx="4118013" cy="7320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118017" cy="732092"/>
            </a:xfrm>
            <a:custGeom>
              <a:avLst/>
              <a:gdLst/>
              <a:ahLst/>
              <a:cxnLst/>
              <a:rect r="r" b="b" t="t" l="l"/>
              <a:pathLst>
                <a:path h="732092" w="4118017">
                  <a:moveTo>
                    <a:pt x="0" y="0"/>
                  </a:moveTo>
                  <a:lnTo>
                    <a:pt x="4118017" y="0"/>
                  </a:lnTo>
                  <a:lnTo>
                    <a:pt x="4118017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603" r="0" b="-5960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4118013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ctr">
                <a:lnSpc>
                  <a:spcPts val="2341"/>
                </a:lnSpc>
              </a:pPr>
              <a:r xmlns:a="http://schemas.openxmlformats.org/drawingml/2006/main">
                <a:rPr lang="en" sz="1951">
                  <a:solidFill>
                    <a:srgbClr val="AAB7CA"/>
                  </a:solidFill>
                  <a:latin typeface="Aptos"/>
                  <a:ea typeface="Aptos"/>
                  <a:cs typeface="Aptos"/>
                  <a:sym typeface="Aptos"/>
                </a:rPr>
                <a:t>counter cross-process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60872" y="9773431"/>
            <a:ext cx="10981382" cy="301990"/>
            <a:chOff x="0" y="0"/>
            <a:chExt cx="14641843" cy="40265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641840" cy="402651"/>
            </a:xfrm>
            <a:custGeom>
              <a:avLst/>
              <a:gdLst/>
              <a:ahLst/>
              <a:cxnLst/>
              <a:rect r="r" b="b" t="t" l="l"/>
              <a:pathLst>
                <a:path h="402651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8546" r="0" b="-65854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14641843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xmlns:a="http://schemas.openxmlformats.org/drawingml/2006/main" algn="l">
                <a:lnSpc>
                  <a:spcPts val="1441"/>
                </a:lnSpc>
              </a:pPr>
              <a:r xmlns:a="http://schemas.openxmlformats.org/drawingml/2006/main">
                <a:rPr lang="en" sz="1200">
                  <a:solidFill>
                    <a:srgbClr val="5F6E84"/>
                  </a:solidFill>
                  <a:latin typeface="Aptos"/>
                  <a:ea typeface="Aptos"/>
                  <a:cs typeface="Aptos"/>
                  <a:sym typeface="Aptos"/>
                </a:rPr>
                <a:t>System programming • Windows synchronization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DAGz3gzRIlE</dc:identifier>
  <dcterms:modified xsi:type="dcterms:W3CDTF">2011-08-01T06:04:30Z</dcterms:modified>
  <cp:revision>1</cp:revision>
  <dc:title>Sync eng</dc:title>
</cp:coreProperties>
</file>