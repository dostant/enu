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018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provocative question before showing this slide. Let 2-3 students answer: information depends on the recipient. Then connect to everyday technologies (ZIP, codecs, QR, satellites).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try to define "information" themselves first — it almost always ends in circularity. Draw the parallel with undefinable concepts in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asymmetry: the same information can be conveyed by different messages (different languages), and the same message can carry different information for different recipients.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for an example where the interpretation rule is known only to a limited circle — jargon, cipher. Connect to cryptography: the key is the interpretation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interactive block. Work through each example out loud with the class, especially the Caesar cipher — invite students to encrypt a word on the board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scheme left to right, asking "what has to happen next" before revealing each block. Give examples: the brain as source+encoder, a modem as converter, a telephone line as a bandwidth-limited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fighting noise through coding — not just physical shielding — is the subject of upcoming lectures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Oral rapid-fire review: name the term, wait for the class to answer, then reveal the definition line by line. About 5 minutes for the whole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takeaways out loud, connect to the next lecture (the Shannon formula), assign the homework, and leave time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· INFORMATION THEORY AND CODING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40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and Message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Science and Subject of the Discipline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25196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915400" y="2240280"/>
            <a:ext cx="2377440" cy="2377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534" y="2858414"/>
            <a:ext cx="1141171" cy="11411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Theory All Around 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66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— alongside matter and energy — is one of the fundamental essences of the world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formalization: R. Hartley and C. Shannon, first half of the 20th century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greatest achievements of 20th-century science — on par with the theory of relativity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Underpins technologies you use every single day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EEF4F7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031736" y="19568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799" y="2092879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8076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Compression (ZIP)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823960" y="169164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E7F0EF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9866376" y="19568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439" y="209287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91540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Video Codecs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89320" y="34747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BF3E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7031736" y="37398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7799" y="3875959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8076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Codes, Barcodes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823960" y="34747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EEF4F7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3"/>
          <p:cNvSpPr/>
          <p:nvPr/>
        </p:nvSpPr>
        <p:spPr>
          <a:xfrm>
            <a:off x="9866376" y="37398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2439" y="3875959"/>
            <a:ext cx="294803" cy="29480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1540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Communication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question for the class: "How much information is in the sentence ‘The Volga flows into the Caspian Sea’?"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Is an Undefinable Concept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0"/>
              </a:spcAft>
              <a:buSzPct val="100000"/>
              <a:buChar char="–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definition through simpler concepts is impossible without circularity</a:t>
            </a:r>
            <a:endParaRPr lang="en-US" sz="1600" dirty="0"/>
          </a:p>
          <a:p>
            <a:pPr marL="177800" indent="-177800">
              <a:spcAft>
                <a:spcPts val="2000"/>
              </a:spcAft>
              <a:buSzPct val="100000"/>
              <a:buChar char="–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analogy: "point" and "line" are also undefinable primitive concepts</a:t>
            </a:r>
            <a:endParaRPr lang="en-US" sz="1600" dirty="0"/>
          </a:p>
          <a:p>
            <a:pPr marL="177800" indent="-177800">
              <a:spcAft>
                <a:spcPts val="2000"/>
              </a:spcAft>
              <a:buSzPct val="100000"/>
              <a:buChar char="–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such concepts we formulate properties and axioms, not further reductions</a:t>
            </a:r>
            <a:endParaRPr lang="en-US" sz="1600" dirty="0"/>
          </a:p>
          <a:p>
            <a:pPr marL="177800" indent="-177800">
              <a:spcAft>
                <a:spcPts val="2000"/>
              </a:spcAft>
              <a:buSzPct val="100000"/>
              <a:buChar char="–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introduce information as a primitive concept and study it via its properties and relations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78040" y="1691640"/>
            <a:ext cx="4434840" cy="3566160"/>
          </a:xfrm>
          <a:prstGeom prst="roundRect">
            <a:avLst>
              <a:gd name="adj" fmla="val 1538"/>
            </a:avLst>
          </a:prstGeom>
          <a:solidFill>
            <a:srgbClr val="EEF4F7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7178040" y="1920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of the Same Type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07808" y="26334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7955280" y="24871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(geometry)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7808" y="325526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7955280" y="31089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(geometry)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07808" y="38770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7955280" y="37307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(information theory)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07808" y="449884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7955280" y="435254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(set theory)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DISTINCTION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and Information Are Not Synonyms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message gives me no information" — the message exists, the information does not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a concrete, material carrier — a sequence of signals, letters, or sounds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Information: what the recipient extracts from a message through understanding it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correspondence between message and information is not one-to-one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89320" y="1737360"/>
            <a:ext cx="5623560" cy="1554480"/>
          </a:xfrm>
          <a:prstGeom prst="roundRect">
            <a:avLst>
              <a:gd name="adj" fmla="val 411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263640" y="173736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(abstract) information is transmitted</a:t>
            </a:r>
            <a:endParaRPr lang="en-US" sz="18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a specific message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374904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information → different messages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17636" y="42428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699" y="4378879"/>
            <a:ext cx="294803" cy="29480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063740" y="4800600"/>
            <a:ext cx="1737360" cy="457200"/>
          </a:xfrm>
          <a:prstGeom prst="line">
            <a:avLst/>
          </a:prstGeom>
          <a:noFill/>
          <a:ln w="13970">
            <a:solidFill>
              <a:srgbClr val="C9D6DD"/>
            </a:solidFill>
            <a:prstDash val="sysDot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6835140" y="5257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868" y="536752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801100" y="4800600"/>
            <a:ext cx="0" cy="457200"/>
          </a:xfrm>
          <a:prstGeom prst="line">
            <a:avLst/>
          </a:prstGeom>
          <a:noFill/>
          <a:ln w="13970">
            <a:solidFill>
              <a:srgbClr val="C9D6DD"/>
            </a:solidFill>
            <a:prstDash val="sysDot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8572500" y="5257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228" y="5367528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801100" y="4800600"/>
            <a:ext cx="1737360" cy="457200"/>
          </a:xfrm>
          <a:prstGeom prst="line">
            <a:avLst/>
          </a:prstGeom>
          <a:noFill/>
          <a:ln w="13970">
            <a:solidFill>
              <a:srgbClr val="C9D6DD"/>
            </a:solidFill>
            <a:prstDash val="sysDot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2"/>
          <p:cNvSpPr/>
          <p:nvPr/>
        </p:nvSpPr>
        <p:spPr>
          <a:xfrm>
            <a:off x="10309860" y="5257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9588" y="536752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CONNECTING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of Interpretation 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5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between message N and information I is given by a mapping φ: N → I</a:t>
            </a:r>
            <a:endParaRPr lang="en-US" sz="1450" dirty="0"/>
          </a:p>
          <a:p>
            <a:pPr marL="177800" indent="-177800">
              <a:spcAft>
                <a:spcPts val="15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is the result of an agreement between the sender and the recipient of the message</a:t>
            </a:r>
            <a:endParaRPr lang="en-US" sz="1450" dirty="0"/>
          </a:p>
          <a:p>
            <a:pPr marL="177800" indent="-177800">
              <a:spcAft>
                <a:spcPts val="15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 understands the language" = X knows the interpretation rule for messages in that language</a:t>
            </a:r>
            <a:endParaRPr lang="en-US" sz="1450" dirty="0"/>
          </a:p>
          <a:p>
            <a:pPr marL="177800" indent="-177800">
              <a:spcAft>
                <a:spcPts val="15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may be known only to a limited circle: jargon, professional language, a cipher</a:t>
            </a:r>
            <a:endParaRPr lang="en-US" sz="1450" dirty="0"/>
          </a:p>
          <a:p>
            <a:pPr marL="177800" indent="-177800">
              <a:spcAft>
                <a:spcPts val="15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cryptography, φ is the "key": an outsider must not be able to recover it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75120" y="25603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675120" y="25603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547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0" y="3017520"/>
            <a:ext cx="1005840" cy="0"/>
          </a:xfrm>
          <a:prstGeom prst="line">
            <a:avLst/>
          </a:prstGeom>
          <a:noFill/>
          <a:ln w="19050">
            <a:solidFill>
              <a:srgbClr val="5B657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8618220" y="267462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2839212"/>
            <a:ext cx="356616" cy="35661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41248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rule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26880" y="3017520"/>
            <a:ext cx="548640" cy="0"/>
          </a:xfrm>
          <a:prstGeom prst="line">
            <a:avLst/>
          </a:prstGeom>
          <a:noFill/>
          <a:ln w="19050">
            <a:solidFill>
              <a:srgbClr val="5B657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10561320" y="25603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7F0E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10561320" y="25603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10195560" y="3547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42062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φ(N) = I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WORK THROUGH THESE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Examples: Message ≠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EEF4F7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32104" y="17282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67" y="1864279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099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404872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"ylerpa" → read backwards → "april"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E7F0EF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501384" y="17282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447" y="186427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7099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Caesar Cipher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10528" y="2404872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letter shifted by 3 positions in the alphabet (Julius Caesar)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BF3E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832104" y="37856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67" y="392167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7673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462272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word hidden inside an "ordinary-looking" telegram text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56616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EEF4F7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6501384" y="37856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7447" y="392167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37673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Specialized Language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462272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"e2-e4" — meaningful only to those who know chess notation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one rule φ — many possible messages; one piece of information — many ways to "package" it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TO RECIPIENT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Scheme of Information Transmission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6092" y="265176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248156" y="2834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830" y="29663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1812" y="350215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08860" y="3360420"/>
            <a:ext cx="256032" cy="0"/>
          </a:xfrm>
          <a:prstGeom prst="line">
            <a:avLst/>
          </a:prstGeom>
          <a:noFill/>
          <a:ln w="19050">
            <a:solidFill>
              <a:srgbClr val="5B657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2564892" y="265176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3076956" y="2834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630" y="29663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10612" y="350215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37660" y="3360420"/>
            <a:ext cx="256032" cy="0"/>
          </a:xfrm>
          <a:prstGeom prst="line">
            <a:avLst/>
          </a:prstGeom>
          <a:noFill/>
          <a:ln w="19050">
            <a:solidFill>
              <a:srgbClr val="5B657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4393692" y="265176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4905756" y="283464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430" y="29663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39412" y="350215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66460" y="3360420"/>
            <a:ext cx="256032" cy="0"/>
          </a:xfrm>
          <a:prstGeom prst="line">
            <a:avLst/>
          </a:prstGeom>
          <a:noFill/>
          <a:ln w="19050">
            <a:solidFill>
              <a:srgbClr val="5B657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6222492" y="265176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6734556" y="2834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230" y="29663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68212" y="350215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795260" y="3360420"/>
            <a:ext cx="256032" cy="0"/>
          </a:xfrm>
          <a:prstGeom prst="line">
            <a:avLst/>
          </a:prstGeom>
          <a:noFill/>
          <a:ln w="19050">
            <a:solidFill>
              <a:srgbClr val="5B657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18"/>
          <p:cNvSpPr/>
          <p:nvPr/>
        </p:nvSpPr>
        <p:spPr>
          <a:xfrm>
            <a:off x="8051292" y="265176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19"/>
          <p:cNvSpPr/>
          <p:nvPr/>
        </p:nvSpPr>
        <p:spPr>
          <a:xfrm>
            <a:off x="8563356" y="2834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030" y="29663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097012" y="350215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624060" y="3360420"/>
            <a:ext cx="256032" cy="0"/>
          </a:xfrm>
          <a:prstGeom prst="line">
            <a:avLst/>
          </a:prstGeom>
          <a:noFill/>
          <a:ln w="19050">
            <a:solidFill>
              <a:srgbClr val="5B657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2"/>
          <p:cNvSpPr/>
          <p:nvPr/>
        </p:nvSpPr>
        <p:spPr>
          <a:xfrm>
            <a:off x="9880092" y="265176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Shape 23"/>
          <p:cNvSpPr/>
          <p:nvPr/>
        </p:nvSpPr>
        <p:spPr>
          <a:xfrm>
            <a:off x="10392156" y="283464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3830" y="296631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925812" y="350215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734556" y="169164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6230" y="1823314"/>
            <a:ext cx="285293" cy="285293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582412" y="141732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/ Interference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7008876" y="2240280"/>
            <a:ext cx="0" cy="411480"/>
          </a:xfrm>
          <a:prstGeom prst="line">
            <a:avLst/>
          </a:prstGeom>
          <a:noFill/>
          <a:ln w="19050">
            <a:solidFill>
              <a:srgbClr val="F2A65A"/>
            </a:solidFill>
            <a:prstDash val="sysDot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28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communication line spans the entire path: from encoding the message to its reverse decoding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548640" y="52120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generates information and encodes it into a message (e.g., brain → language → speech)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converter places the code onto a physical carrier (e.g., a modem)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communication channel does not always faithfully reproduce every feature of the signal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COMMUNICATION CHANNELS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(Interference) and Protection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communication channel is subject to external and internal influences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noise level is comparable to the signal intensity, transmission becomes impossible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relatively low noise levels can distort the transmitted signal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–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of coding theory is to develop methods of protection against interference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1691640"/>
          </a:xfrm>
          <a:prstGeom prst="roundRect">
            <a:avLst>
              <a:gd name="adj" fmla="val 3243"/>
            </a:avLst>
          </a:prstGeom>
          <a:solidFill>
            <a:srgbClr val="EEF4F7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309360" y="1938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4" y="2070202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9516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Interference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5146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Crosstalk from powerful electricity consumers, atmospheric phenomena, simultaneous action of several identical sources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3520440"/>
            <a:ext cx="5623560" cy="1691640"/>
          </a:xfrm>
          <a:prstGeom prst="roundRect">
            <a:avLst>
              <a:gd name="adj" fmla="val 3243"/>
            </a:avLst>
          </a:prstGeom>
          <a:solidFill>
            <a:srgbClr val="FBF3EA"/>
          </a:solidFill>
          <a:ln w="9525">
            <a:solidFill>
              <a:srgbClr val="DCE7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6309360" y="3767328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4" y="38990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95160" y="3703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Interference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43434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inhomogeneity of the carrier, signal attenuation over long distances, parasitic effects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914400" y="594360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60533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58521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 shielding communication lines, improving receiver selectivity, noise-resilient coding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IN THE TERMS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Review: 5 Key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6824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19" y="1818559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645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material carrier of information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11064240" cy="0"/>
          </a:xfrm>
          <a:prstGeom prst="line">
            <a:avLst/>
          </a:prstGeom>
          <a:noFill/>
          <a:ln w="9525">
            <a:solidFill>
              <a:srgbClr val="E4E9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676656" y="252374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19" y="2659807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4871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48716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extracted from a message through interpretation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218688"/>
            <a:ext cx="11064240" cy="0"/>
          </a:xfrm>
          <a:prstGeom prst="line">
            <a:avLst/>
          </a:prstGeom>
          <a:noFill/>
          <a:ln w="9525">
            <a:solidFill>
              <a:srgbClr val="E4E9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676656" y="3364992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19" y="3501055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3284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Rule φ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332841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correspondence between message N and information I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4059936"/>
            <a:ext cx="11064240" cy="0"/>
          </a:xfrm>
          <a:prstGeom prst="line">
            <a:avLst/>
          </a:prstGeom>
          <a:noFill/>
          <a:ln w="9525">
            <a:solidFill>
              <a:srgbClr val="E4E9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676656" y="4206240"/>
            <a:ext cx="566928" cy="5669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19" y="434230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1696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(Interference)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416966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distorting influence on the signal in a communication channel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4901184"/>
            <a:ext cx="11064240" cy="0"/>
          </a:xfrm>
          <a:prstGeom prst="line">
            <a:avLst/>
          </a:prstGeom>
          <a:noFill/>
          <a:ln w="9525">
            <a:solidFill>
              <a:srgbClr val="E4E9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18"/>
          <p:cNvSpPr/>
          <p:nvPr/>
        </p:nvSpPr>
        <p:spPr>
          <a:xfrm>
            <a:off x="676656" y="50474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19" y="5183551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50109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4846320" y="50109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information as a sequence of symbols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an undefinable primitive concept, like a point or a line in geometry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6771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and information are linked through the interpretation rule φ: N → 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54864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809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information — many messages; one message — many possible pieces of information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9417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system: source → encoder → converter → channel → decoder → receiver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5486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40740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channels are always subject to noise — hence the need for noise-resilient coding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1463040"/>
            <a:ext cx="45720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736092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594" y="1869034"/>
            <a:ext cx="285293" cy="285293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001000" y="17556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Up &amp; Homework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251460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lecture: the quantitative measure of information — the Hartley and Shannon formulas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logarithm specifically underlies the measurement of information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prepare 2–3 of your own examples where the information is not obvious from the message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 — questions?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1146</Words>
  <Application>Microsoft Office PowerPoint</Application>
  <PresentationFormat>Широкоэкранный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— Information and Message</dc:title>
  <dc:subject>PptxGenJS Presentation</dc:subject>
  <dc:creator>Information Theory and Coding</dc:creator>
  <cp:lastModifiedBy>Alua Turginbayeva</cp:lastModifiedBy>
  <cp:revision>2</cp:revision>
  <dcterms:created xsi:type="dcterms:W3CDTF">2026-09-09T02:22:11Z</dcterms:created>
  <dcterms:modified xsi:type="dcterms:W3CDTF">2026-09-09T05:11:53Z</dcterms:modified>
</cp:coreProperties>
</file>