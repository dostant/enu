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5B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2600" b="0">
                <a:solidFill>
                  <a:srgbClr val="2EC4B6"/>
                </a:solidFill>
              </a:rPr>
              <a:t>LECTURE 2</a:t>
            </a:r>
          </a:p>
          <a:p>
            <a:r>
              <a:rPr sz="4400" b="1">
                <a:solidFill>
                  <a:srgbClr val="FFFFFF"/>
                </a:solidFill>
              </a:rPr>
              <a:t>Quantitative Assessment of Information</a:t>
            </a:r>
          </a:p>
          <a:p>
            <a:r>
              <a:rPr sz="2400" b="0">
                <a:solidFill>
                  <a:srgbClr val="F5B041"/>
                </a:solidFill>
              </a:rPr>
              <a:t>Units of information • Hartley • Shannon • Entropy</a:t>
            </a:r>
          </a:p>
        </p:txBody>
      </p:sp>
      <p:pic>
        <p:nvPicPr>
          <p:cNvPr id="5" name="Picture 4" descr="1_Binary_Code_Zeros_Ones_On_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0" y="4206240"/>
            <a:ext cx="3108960" cy="174879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5B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Plan of the lecture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69494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2EC4B6"/>
                </a:solidFill>
              </a:rPr>
              <a:t>• Warm-up game: how many questions?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FFFFFF"/>
                </a:solidFill>
              </a:rPr>
              <a:t>• Messages and notifications — what is information?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FFFFFF"/>
                </a:solidFill>
              </a:rPr>
              <a:t>• R. Hartley, 1928: information can be measured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FFFFFF"/>
                </a:solidFill>
              </a:rPr>
              <a:t>• Derivation of Hartley's formula I = log₂N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FFFFFF"/>
                </a:solidFill>
              </a:rPr>
              <a:t>• C. Shannon, 1948: alternative choice and selective cascade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FFFFFF"/>
                </a:solidFill>
              </a:rPr>
              <a:t>• Shannon's entropy H = −Σ pᵢ·log₂ pᵢ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FFFFFF"/>
                </a:solidFill>
              </a:rPr>
              <a:t>• Coding messages: why rare symbols get long codes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FFFFFF"/>
                </a:solidFill>
              </a:rPr>
              <a:t>• Practice tasks + final quiz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5B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Two types of messages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i="1">
                <a:solidFill>
                  <a:srgbClr val="2EC4B6"/>
                </a:solidFill>
              </a:rPr>
              <a:t>Does time matter?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69494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2EC4B6"/>
                </a:solidFill>
              </a:rPr>
              <a:t>• Time-dependent message — its value changes with delay:</a:t>
            </a:r>
          </a:p>
          <a:p>
            <a:pPr lvl="1">
              <a:spcAft>
                <a:spcPts val="800"/>
              </a:spcAft>
            </a:pPr>
            <a:r>
              <a:rPr sz="1800" b="0">
                <a:solidFill>
                  <a:srgbClr val="D6EAF8"/>
                </a:solidFill>
              </a:rPr>
              <a:t>– lottery ticket, weather forecast, storm warning</a:t>
            </a:r>
          </a:p>
          <a:p>
            <a:pPr lvl="1">
              <a:spcAft>
                <a:spcPts val="800"/>
              </a:spcAft>
            </a:pPr>
            <a:r>
              <a:rPr sz="1800" b="0">
                <a:solidFill>
                  <a:srgbClr val="D6EAF8"/>
                </a:solidFill>
              </a:rPr>
              <a:t>– limiting case — notification: bell, clock, siren</a:t>
            </a:r>
          </a:p>
          <a:p>
            <a:pPr lvl="1">
              <a:spcAft>
                <a:spcPts val="800"/>
              </a:spcAft>
            </a:pPr>
            <a:r>
              <a:rPr sz="1800" b="0">
                <a:solidFill>
                  <a:srgbClr val="D6EAF8"/>
                </a:solidFill>
              </a:rPr>
              <a:t>– ALL information is in the moment the signal arrives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F5B041"/>
                </a:solidFill>
              </a:rPr>
              <a:t>• Shannon message — sequence of signs chosen with constant probabilities:</a:t>
            </a:r>
          </a:p>
          <a:p>
            <a:pPr lvl="1">
              <a:spcAft>
                <a:spcPts val="800"/>
              </a:spcAft>
            </a:pPr>
            <a:r>
              <a:rPr sz="1800" b="0">
                <a:solidFill>
                  <a:srgbClr val="D6EAF8"/>
                </a:solidFill>
              </a:rPr>
              <a:t>– probability pᵢ of sign Zᵢ does not change over time</a:t>
            </a:r>
          </a:p>
          <a:p>
            <a:pPr lvl="1">
              <a:spcAft>
                <a:spcPts val="800"/>
              </a:spcAft>
            </a:pPr>
            <a:r>
              <a:rPr sz="1800" b="0">
                <a:solidFill>
                  <a:srgbClr val="D6EAF8"/>
                </a:solidFill>
              </a:rPr>
              <a:t>– sender = random stationary process (source of messages)</a:t>
            </a:r>
          </a:p>
          <a:p>
            <a:pPr lvl="1">
              <a:spcAft>
                <a:spcPts val="800"/>
              </a:spcAft>
            </a:pPr>
            <a:r>
              <a:rPr sz="1800" b="0">
                <a:solidFill>
                  <a:srgbClr val="D6EAF8"/>
                </a:solidFill>
              </a:rPr>
              <a:t>– the sign itself is known — the news is WHICH sign was chosen</a:t>
            </a:r>
          </a:p>
        </p:txBody>
      </p:sp>
      <p:pic>
        <p:nvPicPr>
          <p:cNvPr id="7" name="Picture 6" descr="6_45_100_Casino_Dice_Stock_Photos_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2103120"/>
            <a:ext cx="384048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5B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Ralph Hartley, 1928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i="1">
                <a:solidFill>
                  <a:srgbClr val="2EC4B6"/>
                </a:solidFill>
              </a:rPr>
              <a:t>"Information allows quantitative assessment"</a:t>
            </a:r>
          </a:p>
        </p:txBody>
      </p:sp>
      <p:pic>
        <p:nvPicPr>
          <p:cNvPr id="6" name="Picture 5" descr="2_Ralph_Hartley_Wikiped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2865286" cy="4206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0" y="1371600"/>
            <a:ext cx="7863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FFFFFF"/>
                </a:solidFill>
              </a:rPr>
              <a:t>• Electrical engineer, Bell Labs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F5B041"/>
                </a:solidFill>
              </a:rPr>
              <a:t>• Paper "Transmission of Information" (1928)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FFFFFF"/>
                </a:solidFill>
              </a:rPr>
              <a:t>• Combinatorial, set-theoretic approach:</a:t>
            </a:r>
          </a:p>
          <a:p>
            <a:pPr lvl="1">
              <a:spcAft>
                <a:spcPts val="800"/>
              </a:spcAft>
            </a:pPr>
            <a:r>
              <a:rPr sz="1800" b="0">
                <a:solidFill>
                  <a:srgbClr val="D6EAF8"/>
                </a:solidFill>
              </a:rPr>
              <a:t>– a set of N elements, one is selected</a:t>
            </a:r>
          </a:p>
          <a:p>
            <a:pPr lvl="1">
              <a:spcAft>
                <a:spcPts val="800"/>
              </a:spcAft>
            </a:pPr>
            <a:r>
              <a:rPr sz="1800" b="0">
                <a:solidFill>
                  <a:srgbClr val="D6EAF8"/>
                </a:solidFill>
              </a:rPr>
              <a:t>– before selection — uncertainty</a:t>
            </a:r>
          </a:p>
          <a:p>
            <a:pPr lvl="1">
              <a:spcAft>
                <a:spcPts val="800"/>
              </a:spcAft>
            </a:pPr>
            <a:r>
              <a:rPr sz="1800" b="0">
                <a:solidFill>
                  <a:srgbClr val="D6EAF8"/>
                </a:solidFill>
              </a:rPr>
              <a:t>– after selection — uncertainty is removed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FFFFFF"/>
                </a:solidFill>
              </a:rPr>
              <a:t>• Soviet contribution: Kolmogorov, Kharkevich, Stratonovich</a:t>
            </a:r>
          </a:p>
          <a:p>
            <a:pPr lvl="1">
              <a:spcAft>
                <a:spcPts val="800"/>
              </a:spcAft>
            </a:pPr>
            <a:r>
              <a:rPr sz="1800" b="0">
                <a:solidFill>
                  <a:srgbClr val="D6EAF8"/>
                </a:solidFill>
              </a:rPr>
              <a:t>– (archive finds: Kolmogorov, 1938 — classified work!)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5B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Hartley's two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69494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2EC4B6"/>
                </a:solidFill>
              </a:rPr>
              <a:t>• 1. Monotonicity</a:t>
            </a:r>
          </a:p>
          <a:p>
            <a:pPr lvl="1">
              <a:spcAft>
                <a:spcPts val="800"/>
              </a:spcAft>
            </a:pPr>
            <a:r>
              <a:rPr sz="2000" b="0">
                <a:solidFill>
                  <a:srgbClr val="D6EAF8"/>
                </a:solidFill>
              </a:rPr>
              <a:t>– 1 element → choice is predetermined → I = 0</a:t>
            </a:r>
          </a:p>
          <a:p>
            <a:pPr lvl="1">
              <a:spcAft>
                <a:spcPts val="800"/>
              </a:spcAft>
            </a:pPr>
            <a:r>
              <a:rPr sz="2000" b="0">
                <a:solidFill>
                  <a:srgbClr val="D6EAF8"/>
                </a:solidFill>
              </a:rPr>
              <a:t>– 2 elements → minimal uncertainty → minimal I</a:t>
            </a:r>
          </a:p>
          <a:p>
            <a:pPr lvl="1">
              <a:spcAft>
                <a:spcPts val="800"/>
              </a:spcAft>
            </a:pPr>
            <a:r>
              <a:rPr sz="2000" b="0">
                <a:solidFill>
                  <a:srgbClr val="D6EAF8"/>
                </a:solidFill>
              </a:rPr>
              <a:t>– the more elements, the more information received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F5B041"/>
                </a:solidFill>
              </a:rPr>
              <a:t>• 2. Additivity</a:t>
            </a:r>
          </a:p>
          <a:p>
            <a:pPr lvl="1">
              <a:spcAft>
                <a:spcPts val="800"/>
              </a:spcAft>
            </a:pPr>
            <a:r>
              <a:rPr sz="2000" b="0">
                <a:solidFill>
                  <a:srgbClr val="D6EAF8"/>
                </a:solidFill>
              </a:rPr>
              <a:t>– two independent sources with N₁ and N₂ messages</a:t>
            </a:r>
          </a:p>
          <a:p>
            <a:pPr lvl="1">
              <a:spcAft>
                <a:spcPts val="800"/>
              </a:spcAft>
            </a:pPr>
            <a:r>
              <a:rPr sz="2000" b="0">
                <a:solidFill>
                  <a:srgbClr val="D6EAF8"/>
                </a:solidFill>
              </a:rPr>
              <a:t>– combined source: N = N₁ · N₂</a:t>
            </a:r>
          </a:p>
          <a:p>
            <a:pPr lvl="1">
              <a:spcAft>
                <a:spcPts val="800"/>
              </a:spcAft>
            </a:pPr>
            <a:r>
              <a:rPr sz="2000" b="0">
                <a:solidFill>
                  <a:srgbClr val="D6EAF8"/>
                </a:solidFill>
              </a:rPr>
              <a:t>– but information must add up: I = I₁ + I₂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</a:rPr>
              <a:t>• Which function turns multiplication into addition?</a:t>
            </a:r>
          </a:p>
          <a:p>
            <a:pPr lvl="1">
              <a:spcAft>
                <a:spcPts val="800"/>
              </a:spcAft>
            </a:pPr>
            <a:r>
              <a:rPr sz="2000" b="1">
                <a:solidFill>
                  <a:srgbClr val="F5B041"/>
                </a:solidFill>
              </a:rPr>
              <a:t>– → THE LOGARITHM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5B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Why exactly log₂?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i="1">
                <a:solidFill>
                  <a:srgbClr val="2EC4B6"/>
                </a:solidFill>
              </a:rPr>
              <a:t>i binary digits → N = 2ⁱ numbers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737360"/>
          <a:ext cx="67665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6651"/>
                <a:gridCol w="966651"/>
                <a:gridCol w="966651"/>
                <a:gridCol w="966651"/>
                <a:gridCol w="966651"/>
                <a:gridCol w="966651"/>
                <a:gridCol w="966654"/>
              </a:tblGrid>
              <a:tr h="731520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</a:rPr>
                        <a:t>i digits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FFFFFF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FFFFFF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FFFFFF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FFFFFF"/>
                          </a:solidFill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</a:rPr>
                        <a:t>N = 2ⁱ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FFFFFF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FFFFFF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FFFFFF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FFFFFF"/>
                          </a:solidFill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FFFFFF"/>
                          </a:solidFill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FFFFFF"/>
                          </a:solidFill>
                        </a:rPr>
                        <a:t>2ⁱ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</a:rPr>
                        <a:t>I, 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FFFFFF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FFFFFF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FFFFFF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FFFFFF"/>
                          </a:solidFill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FFFFFF"/>
                          </a:solidFill>
                        </a:rPr>
                        <a:t>i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4206240"/>
            <a:ext cx="69494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2EC4B6"/>
                </a:solidFill>
              </a:rPr>
              <a:t>• The amount of information in a binary number = number of its digits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FFFFFF"/>
                </a:solidFill>
              </a:rPr>
              <a:t>• Doubling the length doubles I, although N grows as N₁²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FFFFFF"/>
                </a:solidFill>
              </a:rPr>
              <a:t>• Bit = answer to one alternative choice (yes/no)</a:t>
            </a:r>
          </a:p>
        </p:txBody>
      </p:sp>
      <p:pic>
        <p:nvPicPr>
          <p:cNvPr id="8" name="Picture 7" descr="hartley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554480"/>
            <a:ext cx="4206240" cy="252374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5B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Hartley's formula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i="1">
                <a:solidFill>
                  <a:srgbClr val="2EC4B6"/>
                </a:solidFill>
              </a:rPr>
              <a:t>N equally probable messages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400" b="1">
                <a:solidFill>
                  <a:srgbClr val="F5B041"/>
                </a:solidFill>
              </a:rPr>
              <a:t>I = log₂ N   [bit]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657600"/>
            <a:ext cx="69494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FFFFFF"/>
                </a:solidFill>
              </a:rPr>
              <a:t>• N = 1 → I = 0  ✔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FFFFFF"/>
                </a:solidFill>
              </a:rPr>
              <a:t>• N = N₁·N₂ → I = I₁ + I₂  ✔  (log of a product)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F5B041"/>
                </a:solidFill>
              </a:rPr>
              <a:t>• Special case: N = 2ᵏ → I = k bits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2EC4B6"/>
                </a:solidFill>
              </a:rPr>
              <a:t>• Task: a card is drawn from a 32-card deck. How much information is needed to know the card?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5B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Solution: 32-card deck</a:t>
            </a:r>
          </a:p>
        </p:txBody>
      </p:sp>
      <p:pic>
        <p:nvPicPr>
          <p:cNvPr id="5" name="Picture 4" descr="7_340_Playing_Cards_Fanned_Out_St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4206240" cy="279041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0" y="1371600"/>
            <a:ext cx="6035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</a:rPr>
              <a:t>• N = 32 = 2⁵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F5B041"/>
                </a:solidFill>
              </a:rPr>
              <a:t>• I = log₂ 32 = 5 bits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FFFFFF"/>
                </a:solidFill>
              </a:rPr>
              <a:t>• = 5 binary questions are enough:</a:t>
            </a:r>
          </a:p>
          <a:p>
            <a:pPr lvl="1">
              <a:spcAft>
                <a:spcPts val="800"/>
              </a:spcAft>
            </a:pPr>
            <a:r>
              <a:rPr sz="2000" b="0">
                <a:solidFill>
                  <a:srgbClr val="D6EAF8"/>
                </a:solidFill>
              </a:rPr>
              <a:t>– "Is it a red suit?" — "Is it a face card?" — ...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FFFFFF"/>
                </a:solidFill>
              </a:rPr>
              <a:t>• Another example: roulette with N outcomes → I = log₂N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2EC4B6"/>
                </a:solidFill>
              </a:rPr>
              <a:t>• Problem for you: how many bits for one dice throw?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5B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Claude Shannon, 1948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i="1">
                <a:solidFill>
                  <a:srgbClr val="2EC4B6"/>
                </a:solidFill>
              </a:rPr>
              <a:t>"A Mathematical Theory of Communication"</a:t>
            </a:r>
          </a:p>
        </p:txBody>
      </p:sp>
      <p:pic>
        <p:nvPicPr>
          <p:cNvPr id="6" name="Picture 5" descr="4_Claude_Shannon_Wikiped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2806075" cy="4206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0" y="1371600"/>
            <a:ext cx="7863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FFFFFF"/>
                </a:solidFill>
              </a:rPr>
              <a:t>• Father of information theory (and juggling robots 🎪)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F5B041"/>
                </a:solidFill>
              </a:rPr>
              <a:t>• Elementary act — alternative choice between 2 signs (0/1)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FFFFFF"/>
                </a:solidFill>
              </a:rPr>
              <a:t>• = 1 bit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FFFFFF"/>
                </a:solidFill>
              </a:rPr>
              <a:t>• Signs have DIFFERENT probabilities pᵢ</a:t>
            </a:r>
          </a:p>
          <a:p>
            <a:pPr lvl="1">
              <a:spcAft>
                <a:spcPts val="800"/>
              </a:spcAft>
            </a:pPr>
            <a:r>
              <a:rPr sz="1800" b="0">
                <a:solidFill>
                  <a:srgbClr val="D6EAF8"/>
                </a:solidFill>
              </a:rPr>
              <a:t>– frequent sign → fewer questions → less information</a:t>
            </a:r>
          </a:p>
          <a:p>
            <a:pPr lvl="1">
              <a:spcAft>
                <a:spcPts val="800"/>
              </a:spcAft>
            </a:pPr>
            <a:r>
              <a:rPr sz="1800" b="0">
                <a:solidFill>
                  <a:srgbClr val="D6EAF8"/>
                </a:solidFill>
              </a:rPr>
              <a:t>– rare sign → more questions → more information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FFFFFF"/>
                </a:solidFill>
              </a:rPr>
              <a:t>• Selection cascade: split the set into equally probable halves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5B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Selective cascade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i="1">
                <a:solidFill>
                  <a:srgbClr val="2EC4B6"/>
                </a:solidFill>
              </a:rPr>
              <a:t>Guessing a number from 0 to 3</a:t>
            </a:r>
          </a:p>
        </p:txBody>
      </p:sp>
      <p:pic>
        <p:nvPicPr>
          <p:cNvPr id="6" name="Picture 5" descr="casca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0"/>
            <a:ext cx="6949440" cy="389168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12480" y="1371600"/>
            <a:ext cx="3474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F5B041"/>
                </a:solidFill>
              </a:rPr>
              <a:t>• Each answer = 1 bit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</a:rPr>
              <a:t>• 2 questions remove all uncertainty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</a:rPr>
              <a:t>• H = 2 bits for 4 equally probable numbers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2EC4B6"/>
                </a:solidFill>
              </a:rPr>
              <a:t>• Game: think of a number 1–100 — how many questions do you need?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5B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Shannon's entropy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i="1">
                <a:solidFill>
                  <a:srgbClr val="2EC4B6"/>
                </a:solidFill>
              </a:rPr>
              <a:t>average information per 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F5B041"/>
                </a:solidFill>
              </a:rPr>
              <a:t>H = − Σᵢ pᵢ · log₂ pᵢ   [bit/sign]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657600"/>
            <a:ext cx="69494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FFFFFF"/>
                </a:solidFill>
              </a:rPr>
              <a:t>• pᵢ — probability of the i-th sign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FFFFFF"/>
                </a:solidFill>
              </a:rPr>
              <a:t>• = average number of binary questions per sign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F5B041"/>
                </a:solidFill>
              </a:rPr>
              <a:t>• = average length of the binary code word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FFFFFF"/>
                </a:solidFill>
              </a:rPr>
              <a:t>• = entropy of the message source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2EC4B6"/>
                </a:solidFill>
              </a:rPr>
              <a:t>• For equally probable signs: H = log₂ N → we return to Hartley!</a:t>
            </a:r>
          </a:p>
        </p:txBody>
      </p:sp>
      <p:pic>
        <p:nvPicPr>
          <p:cNvPr id="8" name="Picture 7" descr="entropy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79" y="1463040"/>
            <a:ext cx="4023360" cy="160934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5B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Task: coin toss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5B041"/>
                </a:solidFill>
              </a:rPr>
              <a:t>p₁ = p₂ = 0.5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2EC4B6"/>
                </a:solidFill>
              </a:rPr>
              <a:t>H = −0.5·log₂0.5 − 0.5·log₂0.5 = 1 bit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572000"/>
            <a:ext cx="69494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FFFFFF"/>
                </a:solidFill>
              </a:rPr>
              <a:t>• One binary question: "Heads?" — enough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F5B041"/>
                </a:solidFill>
              </a:rPr>
              <a:t>• A fair coin gives exactly 1 bit per toss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5B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Optimal binary coding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554480"/>
          <a:ext cx="493776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1234440"/>
                <a:gridCol w="1234440"/>
                <a:gridCol w="1234440"/>
              </a:tblGrid>
              <a:tr h="52578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letter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p(letter)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length</a:t>
                      </a:r>
                    </a:p>
                  </a:txBody>
                  <a:tcPr/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</a:rPr>
                        <a:t>1/4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</a:rPr>
                        <a:t>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</a:rPr>
                        <a:t>2</a:t>
                      </a:r>
                    </a:p>
                  </a:txBody>
                  <a:tcPr/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</a:rPr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</a:rPr>
                        <a:t>1/4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</a:rPr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</a:rPr>
                        <a:t>2</a:t>
                      </a:r>
                    </a:p>
                  </a:txBody>
                  <a:tcPr/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</a:rPr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</a:rPr>
                        <a:t>1/8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</a:rP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</a:rPr>
                        <a:t>3</a:t>
                      </a:r>
                    </a:p>
                  </a:txBody>
                  <a:tcPr/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</a:rPr>
                        <a:t>1/8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</a:rPr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</a:rPr>
                        <a:t>3</a:t>
                      </a:r>
                    </a:p>
                  </a:txBody>
                  <a:tcPr/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</a:rPr>
                        <a:t>1/8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</a:rPr>
                        <a:t>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</a:rPr>
                        <a:t>3</a:t>
                      </a:r>
                    </a:p>
                  </a:txBody>
                  <a:tcPr/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</a:rPr>
                        <a:t>1/16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</a:rPr>
                        <a:t>1110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</a:rPr>
                        <a:t>4</a:t>
                      </a:r>
                    </a:p>
                  </a:txBody>
                  <a:tcPr/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</a:rPr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</a:rPr>
                        <a:t>1/16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</a:rPr>
                        <a:t>1111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</a:rPr>
                        <a:t>4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126480" y="137160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2EC4B6"/>
                </a:solidFill>
              </a:rPr>
              <a:t>• Frequent letters → short codes, rare → long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</a:rPr>
              <a:t>• Fano condition: no code word is a prefix of another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F5B041"/>
                </a:solidFill>
              </a:rPr>
              <a:t>• Average length ≈ H = 2.875 bits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</a:rPr>
              <a:t>• This is how ZIP, JPEG, MP3 work (Huffman, arithmetic coding)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</a:rPr>
              <a:t>• Live demo: we build a code for the phrase "TO BE OR NOT TO BE"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5B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Units of information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554480"/>
          <a:ext cx="65836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</a:tblGrid>
              <a:tr h="658368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</a:rPr>
                        <a:t>unit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</a:rPr>
                        <a:t>definition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/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FFFFFF"/>
                          </a:solidFill>
                        </a:rPr>
                        <a:t>1 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FFFFFF"/>
                          </a:solidFill>
                        </a:rPr>
                        <a:t>one binary choice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FFFFFF"/>
                          </a:solidFill>
                        </a:rPr>
                        <a:t>log₂ 2</a:t>
                      </a:r>
                    </a:p>
                  </a:txBody>
                  <a:tcPr/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FFFFFF"/>
                          </a:solidFill>
                        </a:rPr>
                        <a:t>1 dit (hartley)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FFFFFF"/>
                          </a:solidFill>
                        </a:rPr>
                        <a:t>decimal unit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FFFFFF"/>
                          </a:solidFill>
                        </a:rPr>
                        <a:t>log₁₀ N</a:t>
                      </a:r>
                    </a:p>
                  </a:txBody>
                  <a:tcPr/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FFFFFF"/>
                          </a:solidFill>
                        </a:rPr>
                        <a:t>1 nat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FFFFFF"/>
                          </a:solidFill>
                        </a:rPr>
                        <a:t>natural unit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FFFFFF"/>
                          </a:solidFill>
                        </a:rPr>
                        <a:t>ln N</a:t>
                      </a:r>
                    </a:p>
                  </a:txBody>
                  <a:tcPr/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FFFFFF"/>
                          </a:solidFill>
                        </a:rPr>
                        <a:t>1 byte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FFFFFF"/>
                          </a:solidFill>
                        </a:rPr>
                        <a:t>8 bits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FFFFFF"/>
                          </a:solidFill>
                        </a:rPr>
                        <a:t>256 states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029200"/>
            <a:ext cx="69494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FFFFFF"/>
                </a:solidFill>
              </a:rPr>
              <a:t>• Conversions: 1 bit ≈ 0.301 dit; 1 bit ≈ 0.693 nat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F5B041"/>
                </a:solidFill>
              </a:rPr>
              <a:t>• Message of k signs: I = k · H  [bit]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2EC4B6"/>
                </a:solidFill>
              </a:rPr>
              <a:t>• Example: 1000 equiprobable letters → H = log₂… compute!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5B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Amount of information vs volume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i="1">
                <a:solidFill>
                  <a:srgbClr val="2EC4B6"/>
                </a:solidFill>
              </a:rPr>
              <a:t>primary and secondary alphabet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5B041"/>
                </a:solidFill>
              </a:rPr>
              <a:t>I = k · H        Q = k · l_avg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474720"/>
            <a:ext cx="69494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FFFFFF"/>
                </a:solidFill>
              </a:rPr>
              <a:t>• I — real information (depends on the primary alphabet, probabilities)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FFFFFF"/>
                </a:solidFill>
              </a:rPr>
              <a:t>• Q — volume of information (depends on the code, secondary alphabet)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F5B041"/>
                </a:solidFill>
              </a:rPr>
              <a:t>• Maximum load: l_avg = H → Q = I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FFFFFF"/>
                </a:solidFill>
              </a:rPr>
              <a:t>• In all other cases: I &lt; Q — code is redundant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2EC4B6"/>
                </a:solidFill>
              </a:rPr>
              <a:t>• Redundancy protects against errors (e.g. human language ≈ 50%)!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5B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Practice — solve in pairs (10 min)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69494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2EC4B6"/>
                </a:solidFill>
              </a:rPr>
              <a:t>• 1. How many bits are in one throw of an 8-sided die?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F5B041"/>
                </a:solidFill>
              </a:rPr>
              <a:t>• 2. A source sends letters A,B,C with p = 1/2, 1/4, 1/4. Find H.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2EC4B6"/>
                </a:solidFill>
              </a:rPr>
              <a:t>• 3. The word MAMA has alphabet {M, A}. Find H and I for the word.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F5B041"/>
                </a:solidFill>
              </a:rPr>
              <a:t>• 4. How many bits do you need to transmit one of 1000 equiprobable messages? At least?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2EC4B6"/>
                </a:solidFill>
              </a:rPr>
              <a:t>• 5. Trick question: "Yesterday I learned 1 bit of information and my friend learned 2. Who learned more?"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5B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Final quiz "Who wants to be an informationaire?"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69494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</a:rPr>
              <a:t>• Q1: I = log₂N — what does N mean?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</a:rPr>
              <a:t>• Q2: Why is information additive but the number of messages multiplicative?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</a:rPr>
              <a:t>• Q3: Which message has more information: frequent or rare?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</a:rPr>
              <a:t>• Q4: What is the entropy of a source with one possible sign?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</a:rPr>
              <a:t>• Q5: When does the code length equal H?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</a:rPr>
              <a:t>• Q6: Name three real systems where entropy coding is used.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5B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69494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FFFFFF"/>
                </a:solidFill>
              </a:rPr>
              <a:t>• Information can be measured (Hartley, 1928; Shannon, 1948)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F5B041"/>
                </a:solidFill>
              </a:rPr>
              <a:t>• Hartley: I = log₂ N — equally probable events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2EC4B6"/>
                </a:solidFill>
              </a:rPr>
              <a:t>• Shannon: H = −Σ pᵢ log₂ pᵢ — any probabilities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FFFFFF"/>
                </a:solidFill>
              </a:rPr>
              <a:t>• Entropy = average number of yes/no questions = average code length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FFFFFF"/>
                </a:solidFill>
              </a:rPr>
              <a:t>• Information I = k·H, volume Q = k·l_avg, I ≤ Q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F5B041"/>
                </a:solidFill>
              </a:rPr>
              <a:t>• Homework: problems 1–5 from the practice slide + read about Huffman coding</a:t>
            </a:r>
          </a:p>
        </p:txBody>
      </p:sp>
      <p:pic>
        <p:nvPicPr>
          <p:cNvPr id="6" name="Picture 5" descr="5_Abstract_Binary_Code_Wave_Ones_Zer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4480560"/>
            <a:ext cx="4023360" cy="21664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