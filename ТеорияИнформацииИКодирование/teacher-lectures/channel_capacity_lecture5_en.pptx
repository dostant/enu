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  <a:latin typeface="Georgia"/>
              </a:defRPr>
            </a:pPr>
            <a:r>
              <a:t>Information Characteristics &amp; Capacity of Communication Channels</a:t>
            </a:r>
          </a:p>
          <a:p>
            <a:pPr>
              <a:spcAft>
                <a:spcPts val="24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Lecture 5 • Comprehensive 50-Minute Guide for IT Students (Years 2–3)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Based on fundamental information theory: Bandwidth, Channel Matrices, and Shannon Entropies.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Lecture Outline &amp; Key Learning Modules (50 Minutes)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1. Physical Foundations (10 min)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Channel bandwidth &amp; frequency limits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Maximum frequency fm &amp; speed Vmax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Elementary pulse duration tau0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Pulse vs pause transmission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2. Information Model (10 min)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Statistical channel definition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Input (X) and Output (Y) states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Noise &amp; signal distortion models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Probabilistic graphs X -&gt;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3. Channel Matrices (10 min)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Source matrix P(Y|X) &amp; row normalization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Receiver matrix P(X|Y) &amp; column sum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Joint matrix P(X,Y) &amp; marginals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Interactive exercises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4. Entropies &amp; Theorem (20 min)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Entropies H(X), H(Y), H(Y|X), H(X|Y)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Joint system entropy H(X,Y)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Theorem on complete information set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Review &amp; homework 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Concept of Communication Channel: Physical vs Information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Physical Approach (Hardware)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Focuses on physical transmission medium: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Wires, fiber optics, radio spectrum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Analyzes physical signals: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Voltage, current, electromagnetic waves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Primary constraints: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Attenuation, dispersion, hardware noise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Objective: High-fidelity wave propagation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Information Approach (Mathematical)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Abstracts from hardware &amp; voltage levels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Models channel as a statistical transformer: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Converts input symbols Xi to output Yj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Focuses on probabilistic metrics: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Error rates, mutual information, entropy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Primary constraints: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Shannon capacity limit, information loss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Objective: Reliable symbol reconstruction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Information Transmission Model: Source -&gt; Channel -&gt; Receiver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9260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SOURCE (X)</a:t>
            </a:r>
            <a:br/>
            <a:br/>
          </a:p>
          <a:p>
            <a:pPr>
              <a:defRPr sz="1300"/>
            </a:pPr>
            <a:r>
              <a:t>Generates input symbols Xi</a:t>
            </a:r>
            <a:br/>
            <a:r>
              <a:t>with probabilities P(Xi)</a:t>
            </a:r>
            <a:br/>
            <a:r>
              <a:t>Alphabet size: 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3017520" cy="27432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CHANNEL + NOISE</a:t>
            </a:r>
            <a:br/>
            <a:br/>
          </a:p>
          <a:p>
            <a:pPr>
              <a:defRPr sz="1300"/>
            </a:pPr>
            <a:r>
              <a:t>Probabilistic mapping P(Y|X)</a:t>
            </a:r>
            <a:br/>
            <a:r>
              <a:t>Bandwidth limits</a:t>
            </a:r>
            <a:br/>
            <a:r>
              <a:t>Noise distorts Xi into Yj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2011680"/>
            <a:ext cx="29260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RECEIVER (Y)</a:t>
            </a:r>
            <a:br/>
            <a:br/>
          </a:p>
          <a:p>
            <a:pPr>
              <a:defRPr sz="1300"/>
            </a:pPr>
            <a:r>
              <a:t>Registers output symbols Yj</a:t>
            </a:r>
            <a:br/>
            <a:r>
              <a:t>with probabilities P(Yj)</a:t>
            </a:r>
            <a:br/>
            <a:r>
              <a:t>Alphabet size: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Key Architectural Principle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Transmission is fundamentally statistical: Given input Xi, the output Yj is a random variable described by conditional probability P(Yj|Xi).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Frequency Bandwidth of Communication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Definition &amp; Physical Constraints of Bandwidth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Definition: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Frequency bandwidth Delta_f = f_max - f_min is the frequency range that a channel passes without unacceptable attenuation.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Physical Nature: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Real channels (cables, optical fibers, air) act as frequency filters.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High-frequency components undergo rapid attenuation and phase distortion.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Real-World Bandwidth Examples: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Standard telephone line: Delta_f = 3.1 kHz (300 Hz to 3400 Hz)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High-quality audio channel: Delta_f = 20 kHz (20 Hz to 20 kHz)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Optical cable channel: Delta_f &gt; 1 GHz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Key Takeaway for Information Theory: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The upper cutoff frequency fm determines the maximum switching rate of signals!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Maximum Frequency fm and Signaling Speed Limit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Physical Harmonical Relationship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Harmonic period T = 1 / fm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One full sine cycle T contains: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One positive peak (Pulse)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One negative trough (Pause)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Thus, one period T can carry at most 2 elementary state transitions!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Signaling rate formula: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Vmax = 2 * fm [symbols/sec or Baud]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Engineering Example &amp; Calculation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Example Problem: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 communication channel has maximum frequency fm = 500 kHz.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What is the maximum signaling speed Vmax?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Solution: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Vmax = 2 * fm = 2 * 500,000 = 1,000,000 Baud.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The channel can transmit up to 1 Mbaud (1 million state transitions per second).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Conclusion: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Attempting to transmit faster than 2*fm forces signals to overlap and distort.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Duration of Elementary Signal tau0 = 1 / (2 * fm)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Derivation of Elementary Pulse Duration tau0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Mathematical Derivation: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One full harmonic period T = 1 / fm.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An elementary pulse corresponds to half a period: tau0 = T / 2.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Substituting T gives: tau0 = 1 / (2 * fm).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Physical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tau0 is the minimum time required for a physical signal to rise from zero to maximum amplitude and return.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Numerical Example: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If fm = 1 MHz (10^6 Hz), then tau0 = 1 / (2 * 10^6) = 0.5 microseconds (0.5 us).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Any pulse shorter than 0.5 us will be heavily attenuated and lost in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Transmission of Pulses and Pauses: Duration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Scenario 1: Pulse Duration tau &gt;= tau0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Signal behavior: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Pulse duration equals or exceeds minimum physical threshold tau0.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Signal reaches full amplitude level.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Transmission outcome: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Receiver reliably distinguishes pulse from pause.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Transmission rate is lower or equal to Vmax.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Zero physical distortion error.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Scenario 2: Pulse Duration tau &lt; tau0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Signal behavior: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Pulse is cut off before reaching full amplitude.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Signal stays at intermediate voltage level.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Transmission outcome: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Inter-symbol interference (ISI) occurs.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Receiver cannot distinguish pulse from pause.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Inevitable information loss and high error rates!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Information Model of a Channel as a Statistical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5 Fundamental Probabilistic Parameter Sets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1. Input State Probabilities: P(X) = { P(x1), P(x2), ..., P(xN) }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Unconditional probabilities of transmitter sending symbol Xi.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2. Output State Probabilities: P(Y) = { P(y1), P(y2), ..., P(yM) }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Unconditional probabilities of receiver registering symbol Yj.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3. Source Channel Probabilities: P(Y|X) = [ P(yj|xi)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Conditional probabilities of receiving Yj given that Xi was transmitted.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4. Receiver Channel Probabilities: P(X|Y) = [ P(xi|yj)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Conditional probabilities that Xi was transmitted given that Yj was received.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5. Joint Probabilities: P(X,Y) = [ P(xi, yj)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Absolute probabilities of transmitting Xi and receiving Yj simultaneously.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Input and Output States: Sets X and 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Input Ensemble X = {x1, x2, ..., xN}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Complete group of events at source: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Sum of P(xi) = 1 (i = 1..N)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Alphabet size: N symbols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Example (Binary Source):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X = { x1='0', x2='1' }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P(x1) = 0.6, P(x2) = 0.4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Sum = 0.6 + 0.4 = 1.0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Output Ensemble Y = {y1, y2, ..., yM}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Complete group of events at receiver: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Sum of P(yj) = 1 (j = 1..M)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Alphabet size: M symbols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CRITICAL NOTE: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N and M are NOT necessarily equal (N != M)!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Example: Erasure channel has N=2 (0,1) and M=3 (0, 1, Erasure).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Noise and Signal Distortion: Binary Symmetric Channel (BSC)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Binary Symmetric Channel (BSC) Model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Definition of BSC: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Binary input X={0,1} and binary output Y={0,1}.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Error probability p = P(y=1|x=0) = P(y=0|x=1).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Correct transmission probability 1-p = P(y=0|x=0) = P(y=1|x=1).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Extreme Cases: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Case p = 0: Ideal noiseless channel (100% reliable).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Case p = 0.5: Pure noise channel (output is completely independent of input).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Case p = 1.0: Inverting channel (deterministic inversion, 0 becomes 1).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Probabilistic Mapping: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Input x1='0' -&gt; Output y1='0' (prob 1-p) OR y2='1' (prob p)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Input x2='1' -&gt; Output y1='0' (prob p) OR y2='1' (prob 1-p)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Probabilistic Description: Source vs Receiver Perspective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Source Perspective Graph P(Y|X)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Forward mapping: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Arrows originate at input Xi and point to output Yj.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Weighted by transition probabilities P(yj|xi).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Engineering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Answers: 'If I send Xi, where will it land?'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Describes noise generation process in the channel.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Receiver Perspective Graph P(X|Y)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Backward (A Posteriori) mapping: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Arrows evaluate origin Xi given received Yj.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Weighted by posterior probabilities P(xi|yj).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Engineering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Answers: 'Given received Yj, what was sent?'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Describes decoding and decision making.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Source Channel Matrix P(Y|X)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Matrix Structure &amp; Definition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Definition: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P(Y|X) is an N x M matrix where row i represents transmitted Xi and column j represents received Yj.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General Matrix Form: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P(Y|X) = [ P(y1|x1)  P(y2|x1)  ...  P(yM|x1)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P(y1|x2)  P(y2|x2)  ...  P(yM|x2)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...       ...       ...  ...     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P(y1|xN)  P(y2|xN)  ...  P(yM|xN)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Physical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Diagonal elements P(yj|xi) with i=j represent correct transmission probabilities.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Off-diagonal elements represent distortion/error probabilities.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Properties of Source Channel Matrix P(Y|X)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Fundamental Mathematical Properties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Property 1 (ROW NORMALIZATION RULE - MANDATORY):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The sum of elements across ANY row i equals strictly 1.0: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Sum_j ( P(yj|xi) ) = 1.0  for every i = 1..N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Proof: Transmitting Xi guarantees that SOME output Yj (j=1..M) will be received.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Property 2 (Column Sum Constraint):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The sum of elements down any column j is greater than zero: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Sum_i ( P(yj|xi) ) &gt; 0  for every j = 1..M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Meaning: Every output state Yj is reachable from at least one input state.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Practical Verification Tip: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If any row sum of P(Y|X) != 1.0, the calculation contains a fatal error!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Interactive 1: Source Matrix Analysis (2-3 Minutes)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Exercise Problem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Given Source Channel Matrix P(Y|X):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P(Y|X) = [ 0.85  0.15 ]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 q    0.70 ]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Questions: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1. Find unknown value q.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2. What is the error probability when transmitting x1?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3. What is the correct transmission probability for x2?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Solution for Instructor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Solution Steps: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1. By Row Normalization Rule for Row 2: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q + 0.70 = 1.0  =&gt;  q = 0.30.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2. Error when transmitting x1 is P(y2|x1) = 0.15 (15%).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3. Correct transmission for x2 is P(y2|x2) = 0.70 (70%).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Completed Matrix: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P(Y|X) = [ 0.85  0.15 ]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[ 0.30  0.70 ]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Receiver Channel Matrix P(X|Y)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Matrix Structure &amp; A Posteriori Probabilities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Definition: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P(X|Y) is an N x M matrix of posterior probabilities P(xi|yj).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General Matrix Form: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P(X|Y) = [ P(x1|y1)  P(x1|y2)  ...  P(x1|yM)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P(x2|y1)  P(x2|y2)  ...  P(x2|yM)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...       ...       ...  ...     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P(xN|y1)  P(xN|y2)  ...  P(xN|yM)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Bayes' Rule Relation: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P(xi|yj) = P(xi, yj) / P(yj) = [ P(xi) * P(yj|xi) ] / P(yj)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Physical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Characterizes channel noise from receiver's point of view during decoding.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Properties of Receiver Channel Matrix P(X|Y)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Column Normalization Rule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Property 1 (COLUMN NORMALIZATION RULE - MANDATORY):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The sum of elements down ANY column j equals strictly 1.0: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Sum_i ( P(xi|yj) ) = 1.0  for every j = 1..M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Proof: Registering Yj implies that ONE of the input symbols Xi (i=1..N) was transmitted.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Comparison of Matrix Properties: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Source Matrix P(Y|X): ROW sum = 1.0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Receiver Matrix P(X|Y): COLUMN sum = 1.0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Key Takeaway: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Never confuse row vs column normalization when verifying calculations!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Joint Channel Matrix P(X,Y)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Joint Probabilities Structure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Definition: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P(X,Y) is an N x M matrix where element (i,j) is joint probability P(xi, yj).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Fundamental Relations: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P(xi, yj) = P(xi) * P(yj|xi)   (via Source Matrix)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P(xi, yj) = P(yj) * P(xi|yj)   (via Receiver Matrix)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General Matrix Form: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P(X,Y) = [ P(x1,y1)  P(x1,y2)  ...  P(x1,yM)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P(x2,y1)  P(x2,y2)  ...  P(x2,yM)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...       ...       ...  ...     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P(xN,y1)  P(xN,y2)  ...  P(xN,yM)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Physical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Absolute probability of event pair (transmit Xi AND receive Yj).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Properties of Joint Matrix P(X,Y) &amp; Marginal Probabilities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3 Universal Properties of Joint Matrix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Property 1 (TOTAL MATRIX NORMALIZATION):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Sum of ALL elements in entire matrix equals 1.0: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Sum_i Sum_j ( P(xi, yj) ) = 1.0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Property 2 (ROW SUMS = INPUT MARGINALS P(Xi)):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Summing elements across row i gives input probability P(xi):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P(xi) = Sum_j ( P(xi, yj) 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Property 3 (COLUMN SUMS = OUTPUT MARGINALS P(Yj)):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Summing elements down column j gives output probability P(yj):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P(yj) = Sum_i ( P(xi, yj) 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Interactive 2: Calculating Parameters from Joint Matrix (3-4 Minutes)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Exercise Problem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Given Joint Matrix P(X,Y):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P(X,Y) = [ 0.40  0.10 ]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        [ 0.05  0.45 ]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Tasks: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1. Calculate input probabilities P(x1) and P(x2).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2. Calculate output probabilities P(y1) and P(y2).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3. Calculate error probability P(y2|x1).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Solution for Instructor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Solution Steps: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1. Row sums for P(X):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P(x1) = 0.40 + 0.10 = 0.50; P(x2) = 0.05 + 0.45 = 0.50.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2. Column sums for P(Y):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P(y1) = 0.40 + 0.05 = 0.45; P(y2) = 0.10 + 0.45 = 0.55.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3. Conditional error probability P(y2|x1):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  P(y2|x1) = P(x1, y2) / P(x1) = 0.10 / 0.50 = 0.20 (20%).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Informationally Complete Set of Channel Characteristics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Definition &amp; 5 Core Entropy Measures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Definition of Informationally Complete Set: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 set of parameters from which ANY other information property of the channel can be algebraically derived.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The 5 Core Entropy Measures: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1. Source Entropy H(X): Unconditional transmitter uncertainty.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2. Receiver Entropy H(Y): Unconditional receiver uncertainty.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3. Noise Entropy H(Y|X): Equivocation (noise added by channel).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4. Loss Entropy H(X|Y): Receiver's uncertainty about sent symbol.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5. Joint Entropy H(X,Y): Total uncertainty of system (X,Y).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Unconditional Entropies H(X) and H(Y)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Source Entropy H(X)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Formula: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H(X) = - Sum_i ( P(xi) * log2 P(xi) 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Average information produced per source symbol.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Maximum Value: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Reached when all Xi are equiprobable: H_max = log2 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Receiver Entropy H(Y)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Formula: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H(Y) = - Sum_j ( P(yj) * log2 P(yj) 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Average information received per output symbol.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Note: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Includes both useful information AND channel noise!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Conditional Entropies H(Y|X) and H(X|Y): Noise &amp; Losses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Noise Entropy H(Y|X) (Equivocation)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Formula: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H(Y|X) = - Sum_i Sum_j ( P(xi, yj) * log2 P(yj|xi) 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Physical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Measures NOISE introduced by the channel.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In Noiseless Channel: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H(Y|X) = 0 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Loss Entropy H(X|Y) (Unreliability)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Formula: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H(X|Y) = - Sum_i Sum_j ( P(xi, yj) * log2 P(xi|yj) 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Physical Meaning: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Measures INFORMATION LOSS (receiver doubt).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In Lossless Channel: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H(X|Y) = 0 bits.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Joint System Entropy H(X,Y) &amp; Balance Equations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Joint Entropy &amp; Fundamental Entropy Balance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Joint Entropy Formula: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H(X,Y) = - Sum_i Sum_j ( P(xi, yj) * log2 P(xi, yj) 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Fundamental Entropy Balance Equations: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1. H(X,Y) = H(X) + H(Y|X)   (Total Uncertainty = Source Info + Noise)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2. H(X,Y) = H(Y) + H(X|Y)   (Total Uncertainty = Received Info + Loss)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Transmitted Information (Mutual Information I(X;Y)):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I(X;Y) = H(X) - H(X|Y) = H(Y) - H(Y|X)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Key Insight: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Useful information transmitted equals Source Entropy minus Information Losses!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Theorem on Informationally Complete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Theorem Statement &amp; 3 Complete Variants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Theorem Statement: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An information parameter set containing ANY ONE of the following 3 options is an INFORMATIONALLY COMPLETE SET for the channel: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Variant 1: Input probabilities P(X) AND Source Matrix P(Y|X)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Variant 2: Output probabilities P(Y) AND Receiver Matrix P(X|Y)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Variant 3: Joint Channel Matrix P(X,Y)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Practical Importance: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- Engineers do not need to measure all 5 entropies individually; knowing Option 1, 2, or 3 allows exact algebraic calculation of all channel parameters!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Proof of Theorem for Case 3 (Joint Matrix P(X,Y))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Step-by-Step Proof Demonstration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Given Joint Matrix P(X,Y), we systematically derive all channel parameters: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1. Derive Input Probabilities: P(xi) = Sum_j P(xi, yj)  =&gt; Calculate H(X)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2. Derive Output Probabilities: P(yj) = Sum_i P(xi, yj)  =&gt; Calculate H(Y)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3. Derive Source Matrix: P(yj|xi) = P(xi, yj) / P(xi)   =&gt; Calculate H(Y|X)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4. Derive Receiver Matrix: P(xi|yj) = P(xi, yj) / P(yj) =&gt; Calculate H(X|Y)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5. Calculate Joint Entropy: H(X,Y) = - Sum_i Sum_j P(xi, yj) * log2 P(xi, yj)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Conclusion: Case 3 yields all 5 entropies and all matrices. Q.E.D.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Summary &amp; 5 Review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Core Summary Points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1. Physical speed limit Vmax = 2*fm; tau0 = 1/(2*fm).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2. Source matrix P(Y|X): Row sum = 1.0.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3. Receiver matrix P(X|Y): Column sum = 1.0.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4. Joint matrix P(X,Y): Total sum = 1.0.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5. Joint matrix P(X,Y) is an informationally complete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5 Review Questions for Class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1. Why are pulses shorter than tau0 unacceptable?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2. What is the row sum rule for P(Y|X)?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3. What physical phenomenon does H(Y|X) represent?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4. How do you find P(X) from joint matrix P(X,Y)?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5. State the balance equation for H(X,Y).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LECTURE 5 • IT CHANNEL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Homework Assignment &amp; Final Remarks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Homework Assignment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1. Calculation Task 1 (Physical Limit):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Compute tau0 and Vmax for channels with fm = 5 MHz and fm = 100 MHz.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2. Calculation Task 2 (Channel Matrices &amp; Entropy):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Given Joint Matrix P(X,Y) = [ 0.35  0.15 ] / [ 0.05  0.45 ]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Find P(X), P(Y), Source Matrix P(Y|X), and Source Entropy H(X).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3. Theoretical Proof Task: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   - Prove that for a noiseless channel, H(Y|X) = 0 and H(X,Y) = H(X).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