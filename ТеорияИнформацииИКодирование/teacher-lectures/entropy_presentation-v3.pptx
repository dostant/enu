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324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400"/>
              </a:spcAft>
              <a:defRPr sz="3600" b="1">
                <a:solidFill>
                  <a:srgbClr val="FFFFFF"/>
                </a:solidFill>
                <a:latin typeface="Georgia"/>
              </a:defRPr>
            </a:pPr>
            <a:r>
              <a:t>ENTROPY AS A MEASURE OF UNCERTAINTY</a:t>
            </a:r>
          </a:p>
          <a:p>
            <a:pPr algn="ctr">
              <a:spcAft>
                <a:spcPts val="2400"/>
              </a:spcAft>
              <a:defRPr sz="2000">
                <a:solidFill>
                  <a:srgbClr val="93C5FD"/>
                </a:solidFill>
                <a:latin typeface="Verdana"/>
              </a:defRPr>
            </a:pPr>
            <a:r>
              <a:t>A Comprehensive 2-Lesson Lecture Course (2 × 50 Minutes)</a:t>
            </a:r>
          </a:p>
          <a:p>
            <a:pPr algn="ctr">
              <a:defRPr sz="1400">
                <a:solidFill>
                  <a:srgbClr val="CBD5E1"/>
                </a:solidFill>
                <a:latin typeface="Verdana"/>
              </a:defRPr>
            </a:pPr>
            <a:r>
              <a:t>Information Theory • Hartley Measure • Shannon Entropy • Thermodynamics •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Verdana"/>
              </a:defRPr>
            </a:pPr>
            <a:r>
              <a:t>COURSE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t>Course Architecture &amp; Curriculum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2563EB"/>
                </a:solidFill>
                <a:latin typeface="Georgia"/>
              </a:defRPr>
            </a:pPr>
            <a:r>
              <a:t>LESSON 1: Foundations &amp; Shannon's Formula (50 Min)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• Intuition of Uncertainty: Experiments &amp; Predictability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• Mathematical Axioms: Monotonicity &amp; Additivity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• Hartley Measure (1928): Logarithmic scale &amp; The Bit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• Claude Shannon (1948): Self-information &amp; Surprise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• Shannon Entropy Formula: Weighted average uncertainty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• Case Study: Fair vs. Biased Coin Flip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• Quick Practice: Tetrahedral die &amp; card selection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0F172A"/>
                </a:solidFill>
                <a:latin typeface="Georgia"/>
              </a:defRPr>
            </a:pPr>
            <a:r>
              <a:t>LESSON 2: Properties, Physics &amp; Applications (50 Min)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• 4 Golden Properties of Entropy (Non-negativity, etc.)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• Maximum Entropy Principle &amp; Equiprobability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• Detailed Case Study: Two Boxes with 12 Balls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• The Physics Bridge: Clausius &amp; Boltzmann S = k ln W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• Information Theory in IT: Lossless Data Compression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• Cybersecurity: Password Entropy &amp; PIN Security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• Comprehensive Quiz &amp; Problem Solving Session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Verdana"/>
              </a:defRPr>
            </a:pPr>
            <a:r>
              <a:t>LESSON 1 •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t>Experiment Uncertainty Depends on Outcomes and Probabilities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spcAft>
                <a:spcPts val="1200"/>
              </a:spcAft>
              <a:defRPr sz="2000" b="1">
                <a:solidFill>
                  <a:srgbClr val="0F172A"/>
                </a:solidFill>
                <a:latin typeface="Georgia"/>
              </a:defRPr>
            </a:pPr>
            <a:r>
              <a:t>Scenario A: High Certainty</a:t>
            </a:r>
          </a:p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  <a:latin typeface="Verdana"/>
              </a:defRPr>
            </a:pPr>
            <a:r>
              <a:t>Question: 'Are you under 30 years old?'</a:t>
            </a:r>
          </a:p>
          <a:p>
            <a:pPr>
              <a:defRPr sz="1300">
                <a:solidFill>
                  <a:srgbClr val="64748B"/>
                </a:solidFill>
                <a:latin typeface="Verdana"/>
              </a:defRPr>
            </a:pPr>
            <a:r>
              <a:t>• Target Group: Full-time undergraduate students</a:t>
            </a:r>
            <a:br/>
            <a:r>
              <a:t>• Probability of 'Yes': p ≈ 0.999</a:t>
            </a:r>
            <a:br/>
            <a:r>
              <a:t>• Predictability: Nearly 100% guaranteed</a:t>
            </a:r>
            <a:br/>
            <a:r>
              <a:t>• Uncertainty Level: Zero (No new information gained)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spcAft>
                <a:spcPts val="1200"/>
              </a:spcAft>
              <a:defRPr sz="2000" b="1">
                <a:solidFill>
                  <a:srgbClr val="2563EB"/>
                </a:solidFill>
                <a:latin typeface="Georgia"/>
              </a:defRPr>
            </a:pPr>
            <a:r>
              <a:t>Scenario B: High Uncertainty</a:t>
            </a:r>
          </a:p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  <a:latin typeface="Verdana"/>
              </a:defRPr>
            </a:pPr>
            <a:r>
              <a:t>Question: 'Are you under 20 years old?'</a:t>
            </a:r>
          </a:p>
          <a:p>
            <a:pPr>
              <a:defRPr sz="1300">
                <a:solidFill>
                  <a:srgbClr val="0F172A"/>
                </a:solidFill>
                <a:latin typeface="Verdana"/>
              </a:defRPr>
            </a:pPr>
            <a:r>
              <a:t>• Target Group: Mixed student body across years</a:t>
            </a:r>
            <a:br/>
            <a:r>
              <a:t>• Probability of 'Yes': p ≈ 0.50</a:t>
            </a:r>
            <a:br/>
            <a:r>
              <a:t>• Predictability: Coin toss / Pure chance</a:t>
            </a:r>
            <a:br/>
            <a:r>
              <a:t>• Uncertainty Level: Maximum (High surprise value)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Verdana"/>
              </a:defRPr>
            </a:pPr>
            <a:r>
              <a:t>LESSON 1 • HARTLEY MEASURE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t>The Hartley Measure: Logarithmic Scale of Uncertainty (1928)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Georgia"/>
              </a:defRPr>
            </a:pPr>
            <a:r>
              <a:t>1. Determinism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 b="1">
                <a:solidFill>
                  <a:srgbClr val="2563EB"/>
                </a:solidFill>
                <a:latin typeface="Verdana"/>
              </a:defRPr>
            </a:pPr>
            <a:r>
              <a:t>f(1) = 0</a:t>
            </a:r>
          </a:p>
          <a:p>
            <a:pPr>
              <a:defRPr sz="1100">
                <a:solidFill>
                  <a:srgbClr val="64748B"/>
                </a:solidFill>
                <a:latin typeface="Verdana"/>
              </a:defRPr>
            </a:pPr>
            <a:r>
              <a:t>If there is only 1 possible outcome, there is zero uncertainty.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Georgia"/>
              </a:defRPr>
            </a:pPr>
            <a:r>
              <a:t>2. Monotonicity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 b="1">
                <a:solidFill>
                  <a:srgbClr val="2563EB"/>
                </a:solidFill>
                <a:latin typeface="Verdana"/>
              </a:defRPr>
            </a:pPr>
            <a:r>
              <a:t>f(n) increases with n</a:t>
            </a:r>
          </a:p>
          <a:p>
            <a:pPr>
              <a:defRPr sz="1100">
                <a:solidFill>
                  <a:srgbClr val="64748B"/>
                </a:solidFill>
                <a:latin typeface="Verdana"/>
              </a:defRPr>
            </a:pPr>
            <a:r>
              <a:t>More equiprobable outcomes create higher overall uncertainty.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Georgia"/>
              </a:defRPr>
            </a:pPr>
            <a:r>
              <a:t>3. Additivity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 b="1">
                <a:solidFill>
                  <a:srgbClr val="2563EB"/>
                </a:solidFill>
                <a:latin typeface="Verdana"/>
              </a:defRPr>
            </a:pPr>
            <a:r>
              <a:t>f(n_X · n_Y) = f(n_X) + f(n_Y)</a:t>
            </a:r>
          </a:p>
          <a:p>
            <a:pPr>
              <a:defRPr sz="1100">
                <a:solidFill>
                  <a:srgbClr val="64748B"/>
                </a:solidFill>
                <a:latin typeface="Verdana"/>
              </a:defRPr>
            </a:pPr>
            <a:r>
              <a:t>Uncertainty of independent experiments must sum up mathematically.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10728655" cy="20116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tlCol="0" anchor="ctr"/>
          <a:lstStyle/>
          <a:p>
            <a:pPr algn="ctr">
              <a:spcAft>
                <a:spcPts val="800"/>
              </a:spcAft>
              <a:defRPr sz="2200" b="1">
                <a:solidFill>
                  <a:srgbClr val="2563EB"/>
                </a:solidFill>
                <a:latin typeface="Georgia"/>
              </a:defRPr>
            </a:pPr>
            <a:r>
              <a:t>H = log₂ n   [Hartley Formula for Equiprobable Outcomes]</a:t>
            </a:r>
          </a:p>
          <a:p>
            <a:pPr>
              <a:defRPr sz="1300">
                <a:solidFill>
                  <a:srgbClr val="0F172A"/>
                </a:solidFill>
                <a:latin typeface="Verdana"/>
              </a:defRPr>
            </a:pPr>
            <a:r>
              <a:t>Why Base 2? The simplest random experiment has 2 equally likely outcomes (Yes/No, True/False, 0/1). The uncertainty of a single fair coin toss is defined as 1 BIT (Binary Digit).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Verdana"/>
              </a:defRPr>
            </a:pPr>
            <a:r>
              <a:t>LESSON 1 • SHANNON ENTROPY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t>Shannon Entropy: Weighted Average Uncertainty (1948)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219456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>
              <a:spcAft>
                <a:spcPts val="1000"/>
              </a:spcAft>
              <a:defRPr sz="3200" b="1">
                <a:solidFill>
                  <a:srgbClr val="FFFFFF"/>
                </a:solidFill>
                <a:latin typeface="Georgia"/>
              </a:defRPr>
            </a:pPr>
            <a:r>
              <a:t>H(X) = - ∑ p(xᵢ) log₂ p(xᵢ)</a:t>
            </a:r>
          </a:p>
          <a:p>
            <a:pPr algn="ctr">
              <a:defRPr sz="1600">
                <a:solidFill>
                  <a:srgbClr val="93C5FD"/>
                </a:solidFill>
                <a:latin typeface="Verdana"/>
              </a:defRPr>
            </a:pPr>
            <a:r>
              <a:t>Claude Shannon's Fundamental Equation of Information Theory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Individual Surprise / Self-Information</a:t>
            </a:r>
          </a:p>
          <a:p>
            <a:pPr>
              <a:defRPr sz="1200">
                <a:solidFill>
                  <a:srgbClr val="64748B"/>
                </a:solidFill>
                <a:latin typeface="Verdana"/>
              </a:defRPr>
            </a:pPr>
            <a:r>
              <a:t>I(xᵢ) = -log₂ p(xᵢ)</a:t>
            </a:r>
            <a:br/>
            <a:r>
              <a:t>Rarer events (smaller pᵢ) carry more surprise value and deliver more information when they occur.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411480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2563EB"/>
                </a:solidFill>
                <a:latin typeface="Georgia"/>
              </a:defRPr>
            </a:pPr>
            <a:r>
              <a:t>Why is there a Minus Sign?</a:t>
            </a:r>
          </a:p>
          <a:p>
            <a:pPr>
              <a:defRPr sz="1200">
                <a:solidFill>
                  <a:srgbClr val="0F172A"/>
                </a:solidFill>
                <a:latin typeface="Verdana"/>
              </a:defRPr>
            </a:pPr>
            <a:r>
              <a:t>Since probability pᵢ ≤ 1, its logarithm log₂ pᵢ ≤ 0 is always negative. The minus sign in front guarantees that overall entropy remains positive.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Verdana"/>
              </a:defRPr>
            </a:pPr>
            <a:r>
              <a:t>LESSON 1 •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t>Case Study: Fair Coin vs. Biased Coin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2563EB"/>
                </a:solidFill>
                <a:latin typeface="Georgia"/>
              </a:defRPr>
            </a:pPr>
            <a:r>
              <a:t>Case 1: Fair Coin (Equiprobable)</a:t>
            </a:r>
          </a:p>
          <a:p>
            <a:pPr>
              <a:defRPr sz="1300">
                <a:solidFill>
                  <a:srgbClr val="0F172A"/>
                </a:solidFill>
                <a:latin typeface="Verdana"/>
              </a:defRPr>
            </a:pPr>
            <a:r>
              <a:t>• Probabilities: p(Heads) = 0.5, p(Tails) = 0.5</a:t>
            </a:r>
            <a:br/>
            <a:br/>
            <a:r>
              <a:t>• Shannon Calculation:</a:t>
            </a:r>
            <a:br/>
            <a:r>
              <a:t>H = -(0.5 · log₂ 0.5 + 0.5 · log₂ 0.5)</a:t>
            </a:r>
            <a:br/>
            <a:r>
              <a:t>H = -(0.5(-1) + 0.5(-1))</a:t>
            </a:r>
            <a:br/>
            <a:r>
              <a:t>H = -(-1.0) = 1.000 BIT</a:t>
            </a:r>
            <a:br/>
            <a:br/>
            <a:r>
              <a:t>• Conclusion: Maximum uncertainty for 2 outcomes!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F172A"/>
                </a:solidFill>
                <a:latin typeface="Georgia"/>
              </a:defRPr>
            </a:pPr>
            <a:r>
              <a:t>Case 2: Biased Coin (Asymmetric)</a:t>
            </a:r>
          </a:p>
          <a:p>
            <a:pPr>
              <a:defRPr sz="1300">
                <a:solidFill>
                  <a:srgbClr val="64748B"/>
                </a:solidFill>
                <a:latin typeface="Verdana"/>
              </a:defRPr>
            </a:pPr>
            <a:r>
              <a:t>• Probabilities: p(Heads) = 0.9, p(Tails) = 0.1</a:t>
            </a:r>
            <a:br/>
            <a:br/>
            <a:r>
              <a:t>• Shannon Calculation:</a:t>
            </a:r>
            <a:br/>
            <a:r>
              <a:t>H = -(0.9 · log₂ 0.9 + 0.1 · log₂ 0.1)</a:t>
            </a:r>
            <a:br/>
            <a:r>
              <a:t>H = -(0.9(-0.152) + 0.1(-3.322))</a:t>
            </a:r>
            <a:br/>
            <a:r>
              <a:t>H = -(-0.137 - 0.332) ≈ 0.469 BITS</a:t>
            </a:r>
            <a:br/>
            <a:br/>
            <a:r>
              <a:t>• Conclusion: Uncertainty drops by over 53%!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Verdana"/>
              </a:defRPr>
            </a:pPr>
            <a:r>
              <a:t>LESSON 1 •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t>Lesson 1 Quick Practice: Computing Basic Entropy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F172A"/>
                </a:solidFill>
                <a:latin typeface="Georgia"/>
              </a:defRPr>
            </a:pPr>
            <a:r>
              <a:t>Problem 1: Tetrahedral Die (4 Sides)</a:t>
            </a:r>
          </a:p>
          <a:p>
            <a:pPr>
              <a:defRPr sz="1300">
                <a:solidFill>
                  <a:srgbClr val="0F172A"/>
                </a:solidFill>
                <a:latin typeface="Verdana"/>
              </a:defRPr>
            </a:pPr>
            <a:r>
              <a:t>• Scenario: A fair 4-sided die with numbers {1, 2, 3, 4}.</a:t>
            </a:r>
            <a:br/>
            <a:r>
              <a:t>• Equiprobable: p₁ = p₂ = p₃ = p₄ = 1/4 = 0.25.</a:t>
            </a:r>
            <a:br/>
            <a:br/>
            <a:r>
              <a:t>• Hartley Formula:</a:t>
            </a:r>
            <a:br/>
            <a:r>
              <a:t>H = log₂(4) = 2.000 BITS</a:t>
            </a:r>
            <a:br/>
            <a:br/>
            <a:r>
              <a:t>• Shannon Formula Check:</a:t>
            </a:r>
            <a:br/>
            <a:r>
              <a:t>H = -4 · (0.25 · log₂ 0.25) = -4 · (0.25 · (-2)) = 2.000 BITS.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F172A"/>
                </a:solidFill>
                <a:latin typeface="Georgia"/>
              </a:defRPr>
            </a:pPr>
            <a:r>
              <a:t>Problem 2: Drawing 1 Card out of 8</a:t>
            </a:r>
          </a:p>
          <a:p>
            <a:pPr>
              <a:defRPr sz="1300">
                <a:solidFill>
                  <a:srgbClr val="0F172A"/>
                </a:solidFill>
                <a:latin typeface="Verdana"/>
              </a:defRPr>
            </a:pPr>
            <a:r>
              <a:t>• Scenario: Randomly selecting 1 card from a set of 8 distinct cards.</a:t>
            </a:r>
            <a:br/>
            <a:r>
              <a:t>• Equiprobable: p(xᵢ) = 1/8 = 0.125 for all i ∈ {1..8}.</a:t>
            </a:r>
            <a:br/>
            <a:br/>
            <a:r>
              <a:t>• Hartley Formula:</a:t>
            </a:r>
            <a:br/>
            <a:r>
              <a:t>H = log₂(8) = 3.000 BITS</a:t>
            </a:r>
            <a:br/>
            <a:br/>
            <a:r>
              <a:t>• Interpretation: Resolving this outcome requires exactly 3 binary questions (Yes/No choices).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Verdana"/>
              </a:defRPr>
            </a:pPr>
            <a:r>
              <a:t>LESSON 2 • CORE PROPERTIES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t>The 4 Golden Properties of Mathematical Entropy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Georgia"/>
              </a:defRPr>
            </a:pPr>
            <a:r>
              <a:t>1. Non-Negativity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 b="1">
                <a:solidFill>
                  <a:srgbClr val="2563EB"/>
                </a:solidFill>
                <a:latin typeface="Verdana"/>
              </a:defRPr>
            </a:pPr>
            <a:r>
              <a:t>H(X) ≥ 0</a:t>
            </a:r>
          </a:p>
          <a:p>
            <a:pPr>
              <a:defRPr sz="1100">
                <a:solidFill>
                  <a:srgbClr val="64748B"/>
                </a:solidFill>
                <a:latin typeface="Verdana"/>
              </a:defRPr>
            </a:pPr>
            <a:r>
              <a:t>Uncertainty can never be negative. It is zero only when there is no randomness.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Georgia"/>
              </a:defRPr>
            </a:pPr>
            <a:r>
              <a:t>2. Determinism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 b="1">
                <a:solidFill>
                  <a:srgbClr val="2563EB"/>
                </a:solidFill>
                <a:latin typeface="Verdana"/>
              </a:defRPr>
            </a:pPr>
            <a:r>
              <a:t>H(X) = 0 ⇔ ∃ pᵢ = 1</a:t>
            </a:r>
          </a:p>
          <a:p>
            <a:pPr>
              <a:defRPr sz="1100">
                <a:solidFill>
                  <a:srgbClr val="64748B"/>
                </a:solidFill>
                <a:latin typeface="Verdana"/>
              </a:defRPr>
            </a:pPr>
            <a:r>
              <a:t>If one outcome is 100% guaranteed, entropy drops to exactly 0 Bits.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Georgia"/>
              </a:defRPr>
            </a:pPr>
            <a:r>
              <a:t>3. Maximum Entropy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 b="1">
                <a:solidFill>
                  <a:srgbClr val="2563EB"/>
                </a:solidFill>
                <a:latin typeface="Verdana"/>
              </a:defRPr>
            </a:pPr>
            <a:r>
              <a:t>H_max = log₂ n</a:t>
            </a:r>
          </a:p>
          <a:p>
            <a:pPr>
              <a:defRPr sz="1100">
                <a:solidFill>
                  <a:srgbClr val="64748B"/>
                </a:solidFill>
                <a:latin typeface="Verdana"/>
              </a:defRPr>
            </a:pPr>
            <a:r>
              <a:t>For n outcomes, maximum randomness occurs when all outcomes are equiprobable.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Georgia"/>
              </a:defRPr>
            </a:pPr>
            <a:r>
              <a:t>4. Additivity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 b="1">
                <a:solidFill>
                  <a:srgbClr val="2563EB"/>
                </a:solidFill>
                <a:latin typeface="Verdana"/>
              </a:defRPr>
            </a:pPr>
            <a:r>
              <a:t>H(X, Y) = H(X) + H(Y)</a:t>
            </a:r>
          </a:p>
          <a:p>
            <a:pPr>
              <a:defRPr sz="1100">
                <a:solidFill>
                  <a:srgbClr val="64748B"/>
                </a:solidFill>
                <a:latin typeface="Verdana"/>
              </a:defRPr>
            </a:pPr>
            <a:r>
              <a:t>The total entropy of independent random variables equals the sum of their individual entropies.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Verdana"/>
              </a:defRPr>
            </a:pPr>
            <a:r>
              <a:t>LESSON 2 •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t>Maximum Entropy Principle: Peak Uncertainty at Equiprobability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74320" rtlCol="0" anchor="ctr"/>
          <a:lstStyle/>
          <a:p>
            <a:pPr algn="ctr">
              <a:spcAft>
                <a:spcPts val="1400"/>
              </a:spcAft>
              <a:defRPr sz="2200" b="1">
                <a:solidFill>
                  <a:srgbClr val="2563EB"/>
                </a:solidFill>
                <a:latin typeface="Georgia"/>
              </a:defRPr>
            </a:pPr>
            <a:r>
              <a:t>Why Does Equiprobability Maximize Entropy?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1. Complete Absence of Prior Bias: When p₁ = p₂ = ... = pₙ = 1/n, no outcome is favored over any other. Predictability is at its absolute lowest point.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2. Mathematical Boundary: Mathematically, H(p₁, p₂, ..., pₙ) ≤ log₂ n. Equality holds IF AND ONLY IF all probabilities pᵢ are strictly equal.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3. Impact of Bias: Any deviation from equal probabilities creates a 'favorite' outcome. This additional information reduces overall surprise and lowers entropy below log₂ n.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  <a:latin typeface="Verdana"/>
              </a:defRPr>
            </a:pPr>
            <a:r>
              <a:t>4. Application in Statistics: The Principle of Maximum Entropy states that when estimating probability distributions with limited data, one should choose the distribution with maximum entropy consistent with given constraints.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Verdana"/>
              </a:defRPr>
            </a:pPr>
            <a:r>
              <a:t>LESSON 2 • COMPARATIVE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t>Detailed Case Study: Two Boxes with 12 Colored Balls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F172A"/>
                </a:solidFill>
                <a:latin typeface="Georgia"/>
              </a:defRPr>
            </a:pPr>
            <a:r>
              <a:t>Box 1: Asymmetric Distribution</a:t>
            </a:r>
          </a:p>
          <a:p>
            <a:pPr>
              <a:defRPr sz="1200">
                <a:solidFill>
                  <a:srgbClr val="0F172A"/>
                </a:solidFill>
                <a:latin typeface="Verdana"/>
              </a:defRPr>
            </a:pPr>
            <a:r>
              <a:t>• Contents (12 balls): 3 White, 3 Black, 6 Red</a:t>
            </a:r>
            <a:br/>
            <a:r>
              <a:t>• Probabilities: p(W) = 0.25, p(B) = 0.25, p(R) = 0.50</a:t>
            </a:r>
            <a:br/>
            <a:br/>
            <a:r>
              <a:t>• Shannon Calculation:</a:t>
            </a:r>
            <a:br/>
            <a:r>
              <a:t>H₁ = -(0.25 · log₂ 0.25 + 0.25 · log₂ 0.25 + 0.50 · log₂ 0.50)</a:t>
            </a:r>
            <a:br/>
            <a:r>
              <a:t>H₁ = -(0.25(-2) + 0.25(-2) + 0.50(-1))</a:t>
            </a:r>
            <a:br/>
            <a:r>
              <a:t>H₁ = -(-0.5 - 0.5 - 0.5) = 1.500 BITS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2563EB"/>
                </a:solidFill>
                <a:latin typeface="Georgia"/>
              </a:defRPr>
            </a:pPr>
            <a:r>
              <a:t>Box 2: Uniform Distribution</a:t>
            </a:r>
          </a:p>
          <a:p>
            <a:pPr>
              <a:defRPr sz="1200">
                <a:solidFill>
                  <a:srgbClr val="0F172A"/>
                </a:solidFill>
                <a:latin typeface="Verdana"/>
              </a:defRPr>
            </a:pPr>
            <a:r>
              <a:t>• Contents (12 balls): 4 White, 4 Black, 4 Red</a:t>
            </a:r>
            <a:br/>
            <a:r>
              <a:t>• Probabilities: p(W) = 1/3, p(B) = 1/3, p(R) = 1/3</a:t>
            </a:r>
            <a:br/>
            <a:br/>
            <a:r>
              <a:t>• Hartley/Shannon Calculation:</a:t>
            </a:r>
            <a:br/>
            <a:r>
              <a:t>H₂ = log₂(3) ≈ 1.585 BITS</a:t>
            </a:r>
            <a:br/>
            <a:br/>
            <a:r>
              <a:t>• Comparison &amp; Conclusion:</a:t>
            </a:r>
            <a:br/>
            <a:r>
              <a:t>H₂ &gt; H₁ (1.585 Bits &gt; 1.500 Bits).</a:t>
            </a:r>
            <a:br/>
            <a:r>
              <a:t>Box 2 has higher entropy because no color dominates!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Verdana"/>
              </a:defRPr>
            </a:pPr>
            <a:r>
              <a:t>LESSON 2 • PHYSICS 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t>The Physics Bridge: Thermodynamics and Statistical Mechanics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Rudolf Clausius (1865) — Classical Physics</a:t>
            </a:r>
          </a:p>
          <a:p>
            <a:pPr>
              <a:defRPr sz="1100">
                <a:solidFill>
                  <a:srgbClr val="64748B"/>
                </a:solidFill>
                <a:latin typeface="Verdana"/>
              </a:defRPr>
            </a:pPr>
            <a:r>
              <a:t>Defined thermodynamic entropy: dS = dQ / T</a:t>
            </a:r>
            <a:br/>
            <a:r>
              <a:t>Proved the Second Law of Thermodynamics: in any isolated system, total entropy naturally increases over time toward maximum disorder.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Ludwig Boltzmann (1872) — Statistical Mechanics</a:t>
            </a:r>
          </a:p>
          <a:p>
            <a:pPr>
              <a:defRPr sz="1100">
                <a:solidFill>
                  <a:srgbClr val="64748B"/>
                </a:solidFill>
                <a:latin typeface="Verdana"/>
              </a:defRPr>
            </a:pPr>
            <a:r>
              <a:t>Formula: S = k · ln W</a:t>
            </a:r>
            <a:br/>
            <a:r>
              <a:t>Proved that physical entropy is proportional to the logarithm of the number of microstates (W). Physical disorder = atomic equiprobability!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10728655" cy="20116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82880" rtlCol="0" anchor="ctr"/>
          <a:lstStyle/>
          <a:p>
            <a:pPr algn="ctr">
              <a:spcAft>
                <a:spcPts val="600"/>
              </a:spcAft>
              <a:defRPr sz="1800" b="1">
                <a:solidFill>
                  <a:srgbClr val="2563EB"/>
                </a:solidFill>
                <a:latin typeface="Georgia"/>
              </a:defRPr>
            </a:pPr>
            <a:r>
              <a:t>The Shannon-Von Neumann Connection (1948)</a:t>
            </a:r>
          </a:p>
          <a:p>
            <a:pPr>
              <a:defRPr sz="1200">
                <a:solidFill>
                  <a:srgbClr val="0F172A"/>
                </a:solidFill>
                <a:latin typeface="Verdana"/>
              </a:defRPr>
            </a:pPr>
            <a:r>
              <a:t>When Claude Shannon created information theory, John von Neumann advised him: 'You should call it entropy. First, your uncertainty function has been used in statistical mechanics under that name. Second, nobody knows what entropy really is, so in a debate you will always have the advantage!'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Verdana"/>
              </a:defRPr>
            </a:pPr>
            <a:r>
              <a:t>LESSON 2 •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t>Real-World IT Applications: Compression &amp; Cybersecurity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0F172A"/>
                </a:solidFill>
                <a:latin typeface="Georgia"/>
              </a:defRPr>
            </a:pPr>
            <a:r>
              <a:t>1. Lossless Data Compression</a:t>
            </a:r>
          </a:p>
          <a:p>
            <a:pPr>
              <a:defRPr sz="1200">
                <a:solidFill>
                  <a:srgbClr val="0F172A"/>
                </a:solidFill>
                <a:latin typeface="Verdana"/>
              </a:defRPr>
            </a:pPr>
            <a:r>
              <a:t>• Shannon's Source Coding Theorem: Entropy H(X) establishes the absolute theoretical limit for data compression without information loss.</a:t>
            </a:r>
            <a:br/>
            <a:br/>
            <a:r>
              <a:t>• Real-World Algorithms:</a:t>
            </a:r>
            <a:br/>
            <a:r>
              <a:t>- Huffman Coding</a:t>
            </a:r>
            <a:br/>
            <a:r>
              <a:t>- Lempel-Ziv-Welch (ZIP, PNG, GIF)</a:t>
            </a:r>
            <a:br/>
            <a:r>
              <a:t>- Arithmetic Coding</a:t>
            </a:r>
            <a:br/>
            <a:br/>
            <a:r>
              <a:t>• Impact: Redundant text with low entropy compresses heavily; high-entropy data (encrypted/random) cannot be compressed.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2563EB"/>
                </a:solidFill>
                <a:latin typeface="Georgia"/>
              </a:defRPr>
            </a:pPr>
            <a:r>
              <a:t>2. Cybersecurity &amp; Password Entropy</a:t>
            </a:r>
          </a:p>
          <a:p>
            <a:pPr>
              <a:defRPr sz="1200">
                <a:solidFill>
                  <a:srgbClr val="0F172A"/>
                </a:solidFill>
                <a:latin typeface="Verdana"/>
              </a:defRPr>
            </a:pPr>
            <a:r>
              <a:t>• Password Security = Information Entropy!</a:t>
            </a:r>
            <a:br/>
            <a:br/>
            <a:r>
              <a:t>• Example 1: 4-Digit Numeric PIN</a:t>
            </a:r>
            <a:br/>
            <a:r>
              <a:t>N = 10⁴ = 10,000 combinations</a:t>
            </a:r>
            <a:br/>
            <a:r>
              <a:t>H = log₂(10,000) ≈ 13.29 BITS</a:t>
            </a:r>
            <a:br/>
            <a:br/>
            <a:r>
              <a:t>• Example 2: 8-Char Alphanumeric (A-Z, a-z, 0-9)</a:t>
            </a:r>
            <a:br/>
            <a:r>
              <a:t>N = 62⁸ ≈ 2.18 × 10¹4 combinations</a:t>
            </a:r>
            <a:br/>
            <a:r>
              <a:t>H = log₂(62⁸) = 8 · log₂(62) ≈ 47.60 BITS</a:t>
            </a:r>
            <a:br/>
            <a:br/>
            <a:r>
              <a:t>• Higher entropy = Exponentially harder to crack!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Verdana"/>
              </a:defRPr>
            </a:pPr>
            <a:r>
              <a:t>REVIEW •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t>Interactive Concept Check: 6 Core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74320"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2563EB"/>
                </a:solidFill>
                <a:latin typeface="Georgia"/>
              </a:defRPr>
            </a:pPr>
            <a:r>
              <a:rPr dirty="0"/>
              <a:t>Quick Self-Assessment for Students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Verdana"/>
              </a:defRPr>
            </a:pPr>
            <a:r>
              <a:rPr dirty="0"/>
              <a:t>Q1: What is the unit of entropy when using base-2 logarithms? 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Verdana"/>
              </a:defRPr>
            </a:pPr>
            <a:r>
              <a:rPr dirty="0"/>
              <a:t>Q2: What is the entropy of a completely deterministic event (p = 1)? </a:t>
            </a:r>
            <a:endParaRPr lang="kk-KZ" dirty="0"/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Verdana"/>
              </a:defRPr>
            </a:pPr>
            <a:r>
              <a:rPr dirty="0"/>
              <a:t>Q3: Under what condition is entropy maximized for n outcomes? </a:t>
            </a:r>
            <a:endParaRPr lang="kk-KZ" dirty="0"/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Verdana"/>
              </a:defRPr>
            </a:pPr>
            <a:r>
              <a:rPr dirty="0"/>
              <a:t>Q4: Can Shannon entropy ever take negative values? </a:t>
            </a:r>
            <a:endParaRPr lang="kk-KZ" dirty="0"/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Verdana"/>
              </a:defRPr>
            </a:pPr>
            <a:r>
              <a:rPr dirty="0"/>
              <a:t>Q5: How do you compute the entropy of two independent events? </a:t>
            </a:r>
            <a:endParaRPr lang="kk-KZ" dirty="0"/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  <a:latin typeface="Verdana"/>
              </a:defRPr>
            </a:pPr>
            <a:r>
              <a:rPr dirty="0"/>
              <a:t>Q6: Who unified information theory with statistical physics in 1948?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Verdana"/>
              </a:defRPr>
            </a:pPr>
            <a:r>
              <a:t>PRACTICE • PROBLEM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t>Advanced Practice Problems &amp; Step-by-Step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F172A"/>
                </a:solidFill>
                <a:latin typeface="Georgia"/>
              </a:defRPr>
            </a:pPr>
            <a:r>
              <a:rPr dirty="0"/>
              <a:t>Problem 1: Biased 6-Sided Die</a:t>
            </a:r>
          </a:p>
          <a:p>
            <a:pPr>
              <a:defRPr sz="1200">
                <a:solidFill>
                  <a:srgbClr val="0F172A"/>
                </a:solidFill>
                <a:latin typeface="Verdana"/>
              </a:defRPr>
            </a:pPr>
            <a:r>
              <a:rPr dirty="0"/>
              <a:t>• Condition: Face '6' has p₆ = 0.5; faces '1'..'5' each have pᵢ = 0.1.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>
                <a:solidFill>
                  <a:schemeClr val="bg1"/>
                </a:solidFill>
              </a:rPr>
              <a:t>Solution: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H = -(0.5 · log₂ 0.5 + 5 · (0.1 · log₂ 0.1))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log₂ 0.5 = -1.0; log₂ 0.1 ≈ -3.322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H = -(-0.5 + 5(-0.3322)) = -(-0.5 - 1.661) = 2.161 BITS</a:t>
            </a:r>
            <a:br>
              <a:rPr dirty="0">
                <a:solidFill>
                  <a:schemeClr val="bg1"/>
                </a:solidFill>
              </a:rPr>
            </a:b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Compare: Fair die H = log₂(6) ≈ 2.585 BITS.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Result: Bias reduces entropy by 0.424 Bits.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0F172A"/>
                </a:solidFill>
                <a:latin typeface="Georgia"/>
              </a:defRPr>
            </a:pPr>
            <a:r>
              <a:rPr dirty="0"/>
              <a:t>Problem 2: Student Council Selection</a:t>
            </a:r>
          </a:p>
          <a:p>
            <a:pPr>
              <a:defRPr sz="1200">
                <a:solidFill>
                  <a:srgbClr val="0F172A"/>
                </a:solidFill>
                <a:latin typeface="Verdana"/>
              </a:defRPr>
            </a:pPr>
            <a:r>
              <a:rPr dirty="0"/>
              <a:t>• Condition: Selecting a Leader and Deputy Leader from 16 students at random.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>
                <a:solidFill>
                  <a:schemeClr val="bg1"/>
                </a:solidFill>
              </a:rPr>
              <a:t>Solution: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Total outcomes n = 16 × 15 = 240 equiprobable pairs.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H = log₂(240) = ln(240) / ln(2) ≈ 5.4806 / 0.6931 = 7.907 BITS.</a:t>
            </a:r>
            <a:br>
              <a:rPr dirty="0">
                <a:solidFill>
                  <a:schemeClr val="bg1"/>
                </a:solidFill>
              </a:rPr>
            </a:b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Result: The total uncertainty of choosing the council is 7.907 Bits.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2051</Words>
  <Application>Microsoft Office PowerPoint</Application>
  <PresentationFormat>Широкоэкранный</PresentationFormat>
  <Paragraphs>118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Alua Turginbayeva</cp:lastModifiedBy>
  <cp:revision>2</cp:revision>
  <dcterms:created xsi:type="dcterms:W3CDTF">2013-01-27T09:14:16Z</dcterms:created>
  <dcterms:modified xsi:type="dcterms:W3CDTF">2026-09-22T16:47:50Z</dcterms:modified>
  <cp:category/>
</cp:coreProperties>
</file>